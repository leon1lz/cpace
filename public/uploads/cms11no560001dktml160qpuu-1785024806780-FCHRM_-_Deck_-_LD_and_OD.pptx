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sldIdLst>
    <p:sldId id="279" r:id="rId2"/>
    <p:sldId id="282" r:id="rId3"/>
    <p:sldId id="257" r:id="rId4"/>
    <p:sldId id="280" r:id="rId5"/>
    <p:sldId id="258" r:id="rId6"/>
    <p:sldId id="259" r:id="rId7"/>
    <p:sldId id="260" r:id="rId8"/>
    <p:sldId id="261" r:id="rId9"/>
    <p:sldId id="262" r:id="rId10"/>
    <p:sldId id="263" r:id="rId11"/>
    <p:sldId id="264" r:id="rId12"/>
    <p:sldId id="265" r:id="rId13"/>
    <p:sldId id="266" r:id="rId14"/>
    <p:sldId id="267" r:id="rId15"/>
    <p:sldId id="268" r:id="rId16"/>
    <p:sldId id="269" r:id="rId17"/>
    <p:sldId id="284" r:id="rId18"/>
    <p:sldId id="283" r:id="rId19"/>
    <p:sldId id="271" r:id="rId20"/>
    <p:sldId id="281" r:id="rId21"/>
    <p:sldId id="272" r:id="rId22"/>
    <p:sldId id="273" r:id="rId23"/>
    <p:sldId id="274" r:id="rId24"/>
    <p:sldId id="275" r:id="rId25"/>
    <p:sldId id="276" r:id="rId26"/>
    <p:sldId id="277" r:id="rId27"/>
    <p:sldId id="278" r:id="rId28"/>
  </p:sldIdLst>
  <p:sldSz cx="18288000" cy="10287000"/>
  <p:notesSz cx="6858000" cy="9144000"/>
  <p:embeddedFontLst>
    <p:embeddedFont>
      <p:font typeface="Gotham" pitchFamily="2" charset="0"/>
      <p:regular r:id="rId30"/>
      <p:bold r:id="rId31"/>
      <p:italic r:id="rId32"/>
      <p:boldItalic r:id="rId33"/>
    </p:embeddedFont>
    <p:embeddedFont>
      <p:font typeface="Gotham Bold" pitchFamily="2" charset="0"/>
      <p:regular r:id="rId34"/>
      <p:bold r:id="rId35"/>
      <p:italic r:id="rId36"/>
      <p:boldItalic r:id="rId37"/>
    </p:embeddedFont>
    <p:embeddedFont>
      <p:font typeface="Gotham Bold Italics" pitchFamily="2" charset="0"/>
      <p:regular r:id="rId38"/>
      <p:bold r:id="rId39"/>
      <p:italic r:id="rId40"/>
      <p:boldItalic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269" autoAdjust="0"/>
    <p:restoredTop sz="93807" autoAdjust="0"/>
  </p:normalViewPr>
  <p:slideViewPr>
    <p:cSldViewPr>
      <p:cViewPr varScale="1">
        <p:scale>
          <a:sx n="45" d="100"/>
          <a:sy n="45" d="100"/>
        </p:scale>
        <p:origin x="232"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F399FD-B2D3-D84B-B3D8-124835824F2A}" type="datetimeFigureOut">
              <a:rPr lang="en-US" smtClean="0"/>
              <a:t>4/1/25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26C44F-1E23-604F-8D2B-D3450EFA4CE3}" type="slidenum">
              <a:rPr lang="en-US" smtClean="0"/>
              <a:t>‹#›</a:t>
            </a:fld>
            <a:endParaRPr lang="en-US"/>
          </a:p>
        </p:txBody>
      </p:sp>
    </p:spTree>
    <p:extLst>
      <p:ext uri="{BB962C8B-B14F-4D97-AF65-F5344CB8AC3E}">
        <p14:creationId xmlns:p14="http://schemas.microsoft.com/office/powerpoint/2010/main" val="1825566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1"/>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9"/>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1"/>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1"/>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1"/>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9"/>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1"/>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1"/>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1"/>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9"/>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1"/>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1"/>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CD3A6-08D2-B976-1720-01C36CF6ED0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3002C49-E5CB-0546-FA47-061CD4F68150}"/>
              </a:ext>
            </a:extLst>
          </p:cNvPr>
          <p:cNvSpPr>
            <a:spLocks noGrp="1"/>
          </p:cNvSpPr>
          <p:nvPr>
            <p:ph type="hdr" sz="quarter"/>
          </p:nvPr>
        </p:nvSpPr>
        <p:spPr>
          <a:xfrm>
            <a:off x="0" y="1"/>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9773A0F-39C0-B432-823D-190A45808560}"/>
              </a:ext>
            </a:extLst>
          </p:cNvPr>
          <p:cNvSpPr>
            <a:spLocks noGrp="1"/>
          </p:cNvSpPr>
          <p:nvPr>
            <p:ph type="dt" idx="1"/>
          </p:nvPr>
        </p:nvSpPr>
        <p:spPr>
          <a:xfrm>
            <a:off x="5180013" y="1"/>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04A3CAB-7D03-8A04-F748-B07A5AF86BD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B8F2747-F329-D713-F5FE-DAA52EA8393B}"/>
              </a:ext>
            </a:extLst>
          </p:cNvPr>
          <p:cNvSpPr>
            <a:spLocks noGrp="1"/>
          </p:cNvSpPr>
          <p:nvPr>
            <p:ph type="body" sz="quarter" idx="3"/>
          </p:nvPr>
        </p:nvSpPr>
        <p:spPr>
          <a:xfrm>
            <a:off x="914400" y="3251200"/>
            <a:ext cx="7315200" cy="3081339"/>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2AC635E6-9A02-2292-2C95-CFAE8BD10449}"/>
              </a:ext>
            </a:extLst>
          </p:cNvPr>
          <p:cNvSpPr>
            <a:spLocks noGrp="1"/>
          </p:cNvSpPr>
          <p:nvPr>
            <p:ph type="ftr" sz="quarter" idx="4"/>
          </p:nvPr>
        </p:nvSpPr>
        <p:spPr>
          <a:xfrm>
            <a:off x="0" y="6502401"/>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83A3302-1CD7-ABF3-52DC-966F7F2877CF}"/>
              </a:ext>
            </a:extLst>
          </p:cNvPr>
          <p:cNvSpPr>
            <a:spLocks noGrp="1"/>
          </p:cNvSpPr>
          <p:nvPr>
            <p:ph type="sldNum" sz="quarter" idx="5"/>
          </p:nvPr>
        </p:nvSpPr>
        <p:spPr>
          <a:xfrm>
            <a:off x="5180013" y="6502401"/>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42729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CBA15-8BA8-DEEE-9085-620DF2DD2A7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E38FC2C-B990-6B25-437D-EC2DD00F68FC}"/>
              </a:ext>
            </a:extLst>
          </p:cNvPr>
          <p:cNvSpPr>
            <a:spLocks noGrp="1"/>
          </p:cNvSpPr>
          <p:nvPr>
            <p:ph type="hdr" sz="quarter"/>
          </p:nvPr>
        </p:nvSpPr>
        <p:spPr>
          <a:xfrm>
            <a:off x="0" y="1"/>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94FC61A-8D87-7432-36BB-DEBED51596E5}"/>
              </a:ext>
            </a:extLst>
          </p:cNvPr>
          <p:cNvSpPr>
            <a:spLocks noGrp="1"/>
          </p:cNvSpPr>
          <p:nvPr>
            <p:ph type="dt" idx="1"/>
          </p:nvPr>
        </p:nvSpPr>
        <p:spPr>
          <a:xfrm>
            <a:off x="5180013" y="1"/>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CD0066C-1E36-E5B8-00CF-8BDDF91B979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99BFCA0-9B8F-E1EE-FC8D-5EDA19B75A05}"/>
              </a:ext>
            </a:extLst>
          </p:cNvPr>
          <p:cNvSpPr>
            <a:spLocks noGrp="1"/>
          </p:cNvSpPr>
          <p:nvPr>
            <p:ph type="body" sz="quarter" idx="3"/>
          </p:nvPr>
        </p:nvSpPr>
        <p:spPr>
          <a:xfrm>
            <a:off x="914400" y="3251200"/>
            <a:ext cx="7315200" cy="3081339"/>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F97B9129-D6A1-FE4F-30FC-ED211F30CA47}"/>
              </a:ext>
            </a:extLst>
          </p:cNvPr>
          <p:cNvSpPr>
            <a:spLocks noGrp="1"/>
          </p:cNvSpPr>
          <p:nvPr>
            <p:ph type="ftr" sz="quarter" idx="4"/>
          </p:nvPr>
        </p:nvSpPr>
        <p:spPr>
          <a:xfrm>
            <a:off x="0" y="6502401"/>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FFC6603-935E-F717-A4D1-3781DE4234FF}"/>
              </a:ext>
            </a:extLst>
          </p:cNvPr>
          <p:cNvSpPr>
            <a:spLocks noGrp="1"/>
          </p:cNvSpPr>
          <p:nvPr>
            <p:ph type="sldNum" sz="quarter" idx="5"/>
          </p:nvPr>
        </p:nvSpPr>
        <p:spPr>
          <a:xfrm>
            <a:off x="5180013" y="6502401"/>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74989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E3008-DA41-2A39-9AAC-AD203F79917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09A9939-5480-0330-B47F-C3851A88ACED}"/>
              </a:ext>
            </a:extLst>
          </p:cNvPr>
          <p:cNvSpPr>
            <a:spLocks noGrp="1"/>
          </p:cNvSpPr>
          <p:nvPr>
            <p:ph type="hdr" sz="quarter"/>
          </p:nvPr>
        </p:nvSpPr>
        <p:spPr>
          <a:xfrm>
            <a:off x="0" y="1"/>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773C90C-3941-F642-1ADA-8256DF41DCBB}"/>
              </a:ext>
            </a:extLst>
          </p:cNvPr>
          <p:cNvSpPr>
            <a:spLocks noGrp="1"/>
          </p:cNvSpPr>
          <p:nvPr>
            <p:ph type="dt" idx="1"/>
          </p:nvPr>
        </p:nvSpPr>
        <p:spPr>
          <a:xfrm>
            <a:off x="5180013" y="1"/>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15546C9-E8C9-6DE9-A243-5FBFF26348E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5289F22-F4E0-8E90-F241-AEEDD69914C5}"/>
              </a:ext>
            </a:extLst>
          </p:cNvPr>
          <p:cNvSpPr>
            <a:spLocks noGrp="1"/>
          </p:cNvSpPr>
          <p:nvPr>
            <p:ph type="body" sz="quarter" idx="3"/>
          </p:nvPr>
        </p:nvSpPr>
        <p:spPr>
          <a:xfrm>
            <a:off x="914400" y="3251200"/>
            <a:ext cx="7315200" cy="3081339"/>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35F036F4-8C51-EA50-65B6-0CE19D6B80C9}"/>
              </a:ext>
            </a:extLst>
          </p:cNvPr>
          <p:cNvSpPr>
            <a:spLocks noGrp="1"/>
          </p:cNvSpPr>
          <p:nvPr>
            <p:ph type="ftr" sz="quarter" idx="4"/>
          </p:nvPr>
        </p:nvSpPr>
        <p:spPr>
          <a:xfrm>
            <a:off x="0" y="6502401"/>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7007D15-4589-C580-5459-DDE8B8DA8E56}"/>
              </a:ext>
            </a:extLst>
          </p:cNvPr>
          <p:cNvSpPr>
            <a:spLocks noGrp="1"/>
          </p:cNvSpPr>
          <p:nvPr>
            <p:ph type="sldNum" sz="quarter" idx="5"/>
          </p:nvPr>
        </p:nvSpPr>
        <p:spPr>
          <a:xfrm>
            <a:off x="5180013" y="6502401"/>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978019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7.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svg"/><Relationship Id="rId3" Type="http://schemas.openxmlformats.org/officeDocument/2006/relationships/image" Target="../media/image10.png"/><Relationship Id="rId7" Type="http://schemas.openxmlformats.org/officeDocument/2006/relationships/image" Target="../media/image14.svg"/><Relationship Id="rId12"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2.svg"/></Relationships>
</file>

<file path=ppt/slides/_rels/slide9.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9.svg"/><Relationship Id="rId7" Type="http://schemas.openxmlformats.org/officeDocument/2006/relationships/image" Target="../media/image25.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png"/><Relationship Id="rId9" Type="http://schemas.openxmlformats.org/officeDocument/2006/relationships/image" Target="../media/image27.png"/></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0.svg"/></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svg"/><Relationship Id="rId7" Type="http://schemas.openxmlformats.org/officeDocument/2006/relationships/image" Target="../media/image37.sv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svg"/><Relationship Id="rId10" Type="http://schemas.openxmlformats.org/officeDocument/2006/relationships/image" Target="../media/image2.png"/><Relationship Id="rId4" Type="http://schemas.openxmlformats.org/officeDocument/2006/relationships/image" Target="../media/image34.png"/><Relationship Id="rId9" Type="http://schemas.openxmlformats.org/officeDocument/2006/relationships/image" Target="../media/image39.svg"/></Relationships>
</file>

<file path=ppt/slides/_rels/slide16.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svg"/><Relationship Id="rId7" Type="http://schemas.openxmlformats.org/officeDocument/2006/relationships/image" Target="../media/image45.svg"/><Relationship Id="rId12" Type="http://schemas.openxmlformats.org/officeDocument/2006/relationships/image" Target="../media/image2.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11" Type="http://schemas.openxmlformats.org/officeDocument/2006/relationships/image" Target="../media/image49.svg"/><Relationship Id="rId5" Type="http://schemas.openxmlformats.org/officeDocument/2006/relationships/image" Target="../media/image43.sv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sv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svg"/><Relationship Id="rId3" Type="http://schemas.openxmlformats.org/officeDocument/2006/relationships/image" Target="../media/image51.svg"/><Relationship Id="rId7" Type="http://schemas.openxmlformats.org/officeDocument/2006/relationships/image" Target="../media/image55.svg"/><Relationship Id="rId12" Type="http://schemas.openxmlformats.org/officeDocument/2006/relationships/image" Target="../media/image60.png"/><Relationship Id="rId2"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image" Target="../media/image54.png"/><Relationship Id="rId11" Type="http://schemas.openxmlformats.org/officeDocument/2006/relationships/image" Target="../media/image59.svg"/><Relationship Id="rId5" Type="http://schemas.openxmlformats.org/officeDocument/2006/relationships/image" Target="../media/image53.svg"/><Relationship Id="rId15" Type="http://schemas.openxmlformats.org/officeDocument/2006/relationships/image" Target="../media/image63.sv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svg"/><Relationship Id="rId14" Type="http://schemas.openxmlformats.org/officeDocument/2006/relationships/image" Target="../media/image62.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4.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svg"/><Relationship Id="rId7" Type="http://schemas.openxmlformats.org/officeDocument/2006/relationships/image" Target="../media/image70.svg"/><Relationship Id="rId2" Type="http://schemas.openxmlformats.org/officeDocument/2006/relationships/image" Target="../media/image65.png"/><Relationship Id="rId1" Type="http://schemas.openxmlformats.org/officeDocument/2006/relationships/slideLayout" Target="../slideLayouts/slideLayout7.xml"/><Relationship Id="rId6" Type="http://schemas.openxmlformats.org/officeDocument/2006/relationships/image" Target="../media/image69.png"/><Relationship Id="rId5" Type="http://schemas.openxmlformats.org/officeDocument/2006/relationships/image" Target="../media/image68.svg"/><Relationship Id="rId10" Type="http://schemas.openxmlformats.org/officeDocument/2006/relationships/image" Target="../media/image2.png"/><Relationship Id="rId4" Type="http://schemas.openxmlformats.org/officeDocument/2006/relationships/image" Target="../media/image67.png"/><Relationship Id="rId9" Type="http://schemas.openxmlformats.org/officeDocument/2006/relationships/image" Target="../media/image72.svg"/></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3.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7.svg"/><Relationship Id="rId11" Type="http://schemas.openxmlformats.org/officeDocument/2006/relationships/image" Target="../media/image81.svg"/><Relationship Id="rId5" Type="http://schemas.openxmlformats.org/officeDocument/2006/relationships/image" Target="../media/image76.png"/><Relationship Id="rId10" Type="http://schemas.openxmlformats.org/officeDocument/2006/relationships/image" Target="../media/image80.png"/><Relationship Id="rId4" Type="http://schemas.openxmlformats.org/officeDocument/2006/relationships/image" Target="../media/image75.svg"/><Relationship Id="rId9" Type="http://schemas.openxmlformats.org/officeDocument/2006/relationships/hyperlink" Target="mailto:secretariat@phri.com.p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554724" y="99552"/>
            <a:ext cx="3733276" cy="1265306"/>
            <a:chOff x="0" y="0"/>
            <a:chExt cx="4977701" cy="1687075"/>
          </a:xfrm>
        </p:grpSpPr>
        <p:sp>
          <p:nvSpPr>
            <p:cNvPr id="3" name="Freeform 3"/>
            <p:cNvSpPr/>
            <p:nvPr/>
          </p:nvSpPr>
          <p:spPr>
            <a:xfrm>
              <a:off x="0" y="0"/>
              <a:ext cx="4977638" cy="1687068"/>
            </a:xfrm>
            <a:custGeom>
              <a:avLst/>
              <a:gdLst/>
              <a:ahLst/>
              <a:cxnLst/>
              <a:rect l="l" t="t" r="r" b="b"/>
              <a:pathLst>
                <a:path w="4977638" h="1687068">
                  <a:moveTo>
                    <a:pt x="0" y="0"/>
                  </a:moveTo>
                  <a:lnTo>
                    <a:pt x="4977638" y="0"/>
                  </a:lnTo>
                  <a:lnTo>
                    <a:pt x="4977638" y="1687068"/>
                  </a:lnTo>
                  <a:lnTo>
                    <a:pt x="0" y="1687068"/>
                  </a:lnTo>
                  <a:lnTo>
                    <a:pt x="0" y="0"/>
                  </a:lnTo>
                  <a:close/>
                </a:path>
              </a:pathLst>
            </a:custGeom>
            <a:blipFill>
              <a:blip r:embed="rId3"/>
              <a:stretch>
                <a:fillRect t="-102" r="-1" b="-103"/>
              </a:stretch>
            </a:blipFill>
          </p:spPr>
          <p:txBody>
            <a:bodyPr/>
            <a:lstStyle/>
            <a:p>
              <a:endParaRPr lang="en-US"/>
            </a:p>
          </p:txBody>
        </p:sp>
      </p:grpSp>
      <p:grpSp>
        <p:nvGrpSpPr>
          <p:cNvPr id="4" name="Group 4"/>
          <p:cNvGrpSpPr/>
          <p:nvPr/>
        </p:nvGrpSpPr>
        <p:grpSpPr>
          <a:xfrm>
            <a:off x="398202" y="3830076"/>
            <a:ext cx="12687300" cy="3798124"/>
            <a:chOff x="0" y="0"/>
            <a:chExt cx="16916400" cy="5064165"/>
          </a:xfrm>
        </p:grpSpPr>
        <p:sp>
          <p:nvSpPr>
            <p:cNvPr id="5" name="Freeform 5"/>
            <p:cNvSpPr/>
            <p:nvPr/>
          </p:nvSpPr>
          <p:spPr>
            <a:xfrm>
              <a:off x="0" y="0"/>
              <a:ext cx="16916400" cy="5064165"/>
            </a:xfrm>
            <a:custGeom>
              <a:avLst/>
              <a:gdLst/>
              <a:ahLst/>
              <a:cxnLst/>
              <a:rect l="l" t="t" r="r" b="b"/>
              <a:pathLst>
                <a:path w="16916400" h="5064165">
                  <a:moveTo>
                    <a:pt x="0" y="0"/>
                  </a:moveTo>
                  <a:lnTo>
                    <a:pt x="16916400" y="0"/>
                  </a:lnTo>
                  <a:lnTo>
                    <a:pt x="16916400" y="5064165"/>
                  </a:lnTo>
                  <a:lnTo>
                    <a:pt x="0" y="5064165"/>
                  </a:lnTo>
                  <a:close/>
                </a:path>
              </a:pathLst>
            </a:custGeom>
            <a:solidFill>
              <a:srgbClr val="000000">
                <a:alpha val="0"/>
              </a:srgbClr>
            </a:solidFill>
          </p:spPr>
          <p:txBody>
            <a:bodyPr/>
            <a:lstStyle/>
            <a:p>
              <a:endParaRPr lang="en-US"/>
            </a:p>
          </p:txBody>
        </p:sp>
        <p:sp>
          <p:nvSpPr>
            <p:cNvPr id="6" name="TextBox 6"/>
            <p:cNvSpPr txBox="1"/>
            <p:nvPr/>
          </p:nvSpPr>
          <p:spPr>
            <a:xfrm>
              <a:off x="0" y="-85725"/>
              <a:ext cx="16916400" cy="5149890"/>
            </a:xfrm>
            <a:prstGeom prst="rect">
              <a:avLst/>
            </a:prstGeom>
          </p:spPr>
          <p:txBody>
            <a:bodyPr lIns="0" tIns="0" rIns="0" bIns="0" rtlCol="0" anchor="t"/>
            <a:lstStyle/>
            <a:p>
              <a:pPr algn="l">
                <a:lnSpc>
                  <a:spcPts val="9503"/>
                </a:lnSpc>
              </a:pPr>
              <a:r>
                <a:rPr lang="en-US" sz="7200" b="1" dirty="0">
                  <a:solidFill>
                    <a:srgbClr val="232B43"/>
                  </a:solidFill>
                  <a:latin typeface="Gotham Bold"/>
                  <a:ea typeface="Gotham Bold"/>
                  <a:cs typeface="Gotham Bold"/>
                  <a:sym typeface="Gotham Bold"/>
                </a:rPr>
                <a:t>Learning Session 3: </a:t>
              </a:r>
            </a:p>
            <a:p>
              <a:pPr algn="l">
                <a:lnSpc>
                  <a:spcPts val="9503"/>
                </a:lnSpc>
              </a:pPr>
              <a:r>
                <a:rPr lang="en-US" sz="7200" b="1" dirty="0">
                  <a:solidFill>
                    <a:srgbClr val="232B43"/>
                  </a:solidFill>
                  <a:latin typeface="Gotham Bold"/>
                  <a:ea typeface="Gotham Bold"/>
                  <a:cs typeface="Gotham Bold"/>
                  <a:sym typeface="Gotham Bold"/>
                </a:rPr>
                <a:t>Learning &amp; Development</a:t>
              </a:r>
            </a:p>
          </p:txBody>
        </p:sp>
      </p:grpSp>
      <p:grpSp>
        <p:nvGrpSpPr>
          <p:cNvPr id="7" name="Group 7"/>
          <p:cNvGrpSpPr/>
          <p:nvPr/>
        </p:nvGrpSpPr>
        <p:grpSpPr>
          <a:xfrm>
            <a:off x="14762346" y="9612462"/>
            <a:ext cx="3318034" cy="505485"/>
            <a:chOff x="0" y="0"/>
            <a:chExt cx="4424045" cy="673981"/>
          </a:xfrm>
        </p:grpSpPr>
        <p:sp>
          <p:nvSpPr>
            <p:cNvPr id="8" name="Freeform 8"/>
            <p:cNvSpPr/>
            <p:nvPr/>
          </p:nvSpPr>
          <p:spPr>
            <a:xfrm>
              <a:off x="0" y="0"/>
              <a:ext cx="4424045" cy="673981"/>
            </a:xfrm>
            <a:custGeom>
              <a:avLst/>
              <a:gdLst/>
              <a:ahLst/>
              <a:cxnLst/>
              <a:rect l="l" t="t" r="r" b="b"/>
              <a:pathLst>
                <a:path w="4424045" h="673981">
                  <a:moveTo>
                    <a:pt x="0" y="0"/>
                  </a:moveTo>
                  <a:lnTo>
                    <a:pt x="4424045" y="0"/>
                  </a:lnTo>
                  <a:lnTo>
                    <a:pt x="4424045" y="673981"/>
                  </a:lnTo>
                  <a:lnTo>
                    <a:pt x="0" y="673981"/>
                  </a:lnTo>
                  <a:close/>
                </a:path>
              </a:pathLst>
            </a:custGeom>
            <a:solidFill>
              <a:srgbClr val="000000">
                <a:alpha val="0"/>
              </a:srgbClr>
            </a:solidFill>
          </p:spPr>
          <p:txBody>
            <a:bodyPr/>
            <a:lstStyle/>
            <a:p>
              <a:endParaRPr lang="en-US"/>
            </a:p>
          </p:txBody>
        </p:sp>
        <p:sp>
          <p:nvSpPr>
            <p:cNvPr id="9" name="TextBox 9"/>
            <p:cNvSpPr txBox="1"/>
            <p:nvPr/>
          </p:nvSpPr>
          <p:spPr>
            <a:xfrm>
              <a:off x="0" y="-123825"/>
              <a:ext cx="4424045" cy="797806"/>
            </a:xfrm>
            <a:prstGeom prst="rect">
              <a:avLst/>
            </a:prstGeom>
          </p:spPr>
          <p:txBody>
            <a:bodyPr lIns="0" tIns="0" rIns="0" bIns="0" rtlCol="0" anchor="t"/>
            <a:lstStyle/>
            <a:p>
              <a:pPr algn="ctr">
                <a:lnSpc>
                  <a:spcPts val="4368"/>
                </a:lnSpc>
              </a:pPr>
              <a:r>
                <a:rPr lang="en-US" sz="2600">
                  <a:solidFill>
                    <a:srgbClr val="232B43"/>
                  </a:solidFill>
                  <a:latin typeface="Gotham"/>
                  <a:ea typeface="Gotham"/>
                  <a:cs typeface="Gotham"/>
                  <a:sym typeface="Gotham"/>
                </a:rPr>
                <a:t>www.phri.com.ph</a:t>
              </a:r>
            </a:p>
          </p:txBody>
        </p:sp>
      </p:grpSp>
      <p:grpSp>
        <p:nvGrpSpPr>
          <p:cNvPr id="10" name="Group 10"/>
          <p:cNvGrpSpPr/>
          <p:nvPr/>
        </p:nvGrpSpPr>
        <p:grpSpPr>
          <a:xfrm>
            <a:off x="14563114" y="9683898"/>
            <a:ext cx="360362" cy="360362"/>
            <a:chOff x="0" y="0"/>
            <a:chExt cx="480483" cy="480483"/>
          </a:xfrm>
        </p:grpSpPr>
        <p:sp>
          <p:nvSpPr>
            <p:cNvPr id="11" name="Freeform 11"/>
            <p:cNvSpPr/>
            <p:nvPr/>
          </p:nvSpPr>
          <p:spPr>
            <a:xfrm>
              <a:off x="0" y="0"/>
              <a:ext cx="480441" cy="480441"/>
            </a:xfrm>
            <a:custGeom>
              <a:avLst/>
              <a:gdLst/>
              <a:ahLst/>
              <a:cxnLst/>
              <a:rect l="l" t="t" r="r" b="b"/>
              <a:pathLst>
                <a:path w="480441" h="480441">
                  <a:moveTo>
                    <a:pt x="0" y="0"/>
                  </a:moveTo>
                  <a:lnTo>
                    <a:pt x="480441" y="0"/>
                  </a:lnTo>
                  <a:lnTo>
                    <a:pt x="480441" y="480441"/>
                  </a:lnTo>
                  <a:lnTo>
                    <a:pt x="0" y="480441"/>
                  </a:lnTo>
                  <a:lnTo>
                    <a:pt x="0" y="0"/>
                  </a:lnTo>
                  <a:close/>
                </a:path>
              </a:pathLst>
            </a:custGeom>
            <a:blipFill>
              <a:blip r:embed="rId4"/>
              <a:stretch>
                <a:fillRect r="-8" b="-8"/>
              </a:stretch>
            </a:blipFill>
          </p:spPr>
          <p:txBody>
            <a:bodyPr/>
            <a:lstStyle/>
            <a:p>
              <a:endParaRPr 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32B43"/>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154200"/>
            <a:ext cx="3814101" cy="2692255"/>
            <a:chOff x="0" y="0"/>
            <a:chExt cx="776102" cy="547827"/>
          </a:xfrm>
        </p:grpSpPr>
        <p:sp>
          <p:nvSpPr>
            <p:cNvPr id="3" name="Freeform 3"/>
            <p:cNvSpPr/>
            <p:nvPr/>
          </p:nvSpPr>
          <p:spPr>
            <a:xfrm>
              <a:off x="0" y="0"/>
              <a:ext cx="776102" cy="547827"/>
            </a:xfrm>
            <a:custGeom>
              <a:avLst/>
              <a:gdLst/>
              <a:ahLst/>
              <a:cxnLst/>
              <a:rect l="l" t="t" r="r" b="b"/>
              <a:pathLst>
                <a:path w="776102" h="547827">
                  <a:moveTo>
                    <a:pt x="72258" y="0"/>
                  </a:moveTo>
                  <a:lnTo>
                    <a:pt x="703844" y="0"/>
                  </a:lnTo>
                  <a:cubicBezTo>
                    <a:pt x="743751" y="0"/>
                    <a:pt x="776102" y="32351"/>
                    <a:pt x="776102" y="72258"/>
                  </a:cubicBezTo>
                  <a:lnTo>
                    <a:pt x="776102" y="475568"/>
                  </a:lnTo>
                  <a:cubicBezTo>
                    <a:pt x="776102" y="494732"/>
                    <a:pt x="768490" y="513112"/>
                    <a:pt x="754939" y="526663"/>
                  </a:cubicBezTo>
                  <a:cubicBezTo>
                    <a:pt x="741387" y="540214"/>
                    <a:pt x="723008" y="547827"/>
                    <a:pt x="703844" y="547827"/>
                  </a:cubicBezTo>
                  <a:lnTo>
                    <a:pt x="72258" y="547827"/>
                  </a:lnTo>
                  <a:cubicBezTo>
                    <a:pt x="32351" y="547827"/>
                    <a:pt x="0" y="515475"/>
                    <a:pt x="0" y="475568"/>
                  </a:cubicBezTo>
                  <a:lnTo>
                    <a:pt x="0" y="72258"/>
                  </a:lnTo>
                  <a:cubicBezTo>
                    <a:pt x="0" y="32351"/>
                    <a:pt x="32351" y="0"/>
                    <a:pt x="72258" y="0"/>
                  </a:cubicBezTo>
                  <a:close/>
                </a:path>
              </a:pathLst>
            </a:custGeom>
            <a:solidFill>
              <a:srgbClr val="FFFFFF"/>
            </a:solidFill>
          </p:spPr>
          <p:txBody>
            <a:bodyPr/>
            <a:lstStyle/>
            <a:p>
              <a:endParaRPr lang="en-US"/>
            </a:p>
          </p:txBody>
        </p:sp>
        <p:sp>
          <p:nvSpPr>
            <p:cNvPr id="4" name="TextBox 4"/>
            <p:cNvSpPr txBox="1"/>
            <p:nvPr/>
          </p:nvSpPr>
          <p:spPr>
            <a:xfrm>
              <a:off x="0" y="-28575"/>
              <a:ext cx="776102" cy="576402"/>
            </a:xfrm>
            <a:prstGeom prst="rect">
              <a:avLst/>
            </a:prstGeom>
          </p:spPr>
          <p:txBody>
            <a:bodyPr lIns="48876" tIns="48876" rIns="48876" bIns="48876" rtlCol="0" anchor="ctr"/>
            <a:lstStyle/>
            <a:p>
              <a:pPr algn="ctr">
                <a:lnSpc>
                  <a:spcPts val="1885"/>
                </a:lnSpc>
              </a:pPr>
              <a:endParaRPr/>
            </a:p>
          </p:txBody>
        </p:sp>
      </p:grpSp>
      <p:sp>
        <p:nvSpPr>
          <p:cNvPr id="5" name="Freeform 5"/>
          <p:cNvSpPr/>
          <p:nvPr/>
        </p:nvSpPr>
        <p:spPr>
          <a:xfrm>
            <a:off x="1167794" y="138945"/>
            <a:ext cx="3489972" cy="1182843"/>
          </a:xfrm>
          <a:custGeom>
            <a:avLst/>
            <a:gdLst/>
            <a:ahLst/>
            <a:cxnLst/>
            <a:rect l="l" t="t" r="r" b="b"/>
            <a:pathLst>
              <a:path w="3489972" h="1182843">
                <a:moveTo>
                  <a:pt x="0" y="0"/>
                </a:moveTo>
                <a:lnTo>
                  <a:pt x="3489972" y="0"/>
                </a:lnTo>
                <a:lnTo>
                  <a:pt x="3489972" y="1182843"/>
                </a:lnTo>
                <a:lnTo>
                  <a:pt x="0" y="1182843"/>
                </a:lnTo>
                <a:lnTo>
                  <a:pt x="0" y="0"/>
                </a:lnTo>
                <a:close/>
              </a:path>
            </a:pathLst>
          </a:custGeom>
          <a:blipFill>
            <a:blip r:embed="rId2"/>
            <a:stretch>
              <a:fillRect/>
            </a:stretch>
          </a:blipFill>
        </p:spPr>
        <p:txBody>
          <a:bodyPr/>
          <a:lstStyle/>
          <a:p>
            <a:endParaRPr lang="en-US"/>
          </a:p>
        </p:txBody>
      </p:sp>
      <p:sp>
        <p:nvSpPr>
          <p:cNvPr id="6" name="TextBox 6"/>
          <p:cNvSpPr txBox="1"/>
          <p:nvPr/>
        </p:nvSpPr>
        <p:spPr>
          <a:xfrm>
            <a:off x="1565915" y="2203909"/>
            <a:ext cx="6553771" cy="2094675"/>
          </a:xfrm>
          <a:prstGeom prst="rect">
            <a:avLst/>
          </a:prstGeom>
        </p:spPr>
        <p:txBody>
          <a:bodyPr lIns="0" tIns="0" rIns="0" bIns="0" rtlCol="0" anchor="t">
            <a:spAutoFit/>
          </a:bodyPr>
          <a:lstStyle/>
          <a:p>
            <a:pPr algn="l">
              <a:lnSpc>
                <a:spcPts val="8484"/>
              </a:lnSpc>
            </a:pPr>
            <a:r>
              <a:rPr lang="en-US" sz="6060" b="1" dirty="0">
                <a:solidFill>
                  <a:srgbClr val="FFFFFF"/>
                </a:solidFill>
                <a:latin typeface="Gotham Bold"/>
                <a:ea typeface="Gotham Bold"/>
                <a:cs typeface="Gotham Bold"/>
                <a:sym typeface="Gotham Bold"/>
              </a:rPr>
              <a:t>Learning Objectives</a:t>
            </a:r>
          </a:p>
        </p:txBody>
      </p:sp>
      <p:sp>
        <p:nvSpPr>
          <p:cNvPr id="8" name="TextBox 8"/>
          <p:cNvSpPr txBox="1"/>
          <p:nvPr/>
        </p:nvSpPr>
        <p:spPr>
          <a:xfrm>
            <a:off x="1565914" y="4514851"/>
            <a:ext cx="15350485" cy="3939540"/>
          </a:xfrm>
          <a:prstGeom prst="rect">
            <a:avLst/>
          </a:prstGeom>
        </p:spPr>
        <p:txBody>
          <a:bodyPr wrap="square" lIns="0" tIns="0" rIns="0" bIns="0" rtlCol="0" anchor="t">
            <a:spAutoFit/>
          </a:bodyPr>
          <a:lstStyle/>
          <a:p>
            <a:pPr marL="436117" lvl="1" indent="-218059" algn="just">
              <a:buFont typeface="Arial"/>
              <a:buChar char="•"/>
            </a:pPr>
            <a:r>
              <a:rPr lang="en-US" sz="3200" dirty="0">
                <a:solidFill>
                  <a:srgbClr val="FFFFFF"/>
                </a:solidFill>
                <a:latin typeface="Gotham"/>
                <a:ea typeface="Gotham"/>
                <a:cs typeface="Gotham"/>
                <a:sym typeface="Gotham"/>
              </a:rPr>
              <a:t>Explain the strategic role of Learning &amp; Development (L&amp;D) within modern organizations</a:t>
            </a:r>
          </a:p>
          <a:p>
            <a:pPr marL="436117" lvl="1" indent="-218059" algn="just">
              <a:buFont typeface="Arial"/>
              <a:buChar char="•"/>
            </a:pPr>
            <a:r>
              <a:rPr lang="en-US" sz="3200" dirty="0">
                <a:solidFill>
                  <a:srgbClr val="FFFFFF"/>
                </a:solidFill>
                <a:latin typeface="Gotham"/>
                <a:ea typeface="Gotham"/>
                <a:cs typeface="Gotham"/>
                <a:sym typeface="Gotham"/>
              </a:rPr>
              <a:t>Identify key L&amp;D theories and frameworks to organizational contexts</a:t>
            </a:r>
          </a:p>
          <a:p>
            <a:pPr marL="436117" lvl="1" indent="-218059" algn="just">
              <a:buFont typeface="Arial"/>
              <a:buChar char="•"/>
            </a:pPr>
            <a:r>
              <a:rPr lang="en-US" sz="3200" dirty="0">
                <a:solidFill>
                  <a:srgbClr val="FFFFFF"/>
                </a:solidFill>
                <a:latin typeface="Gotham"/>
                <a:ea typeface="Gotham"/>
                <a:cs typeface="Gotham"/>
                <a:sym typeface="Gotham"/>
              </a:rPr>
              <a:t>Learn basic L&amp;D concepts that organizations follow to create learning ecosystems, effective Individual and Organizational development plans, and effective context-wise frameworks.</a:t>
            </a:r>
          </a:p>
          <a:p>
            <a:pPr marL="436117" lvl="1" indent="-218059" algn="just">
              <a:buFont typeface="Arial"/>
              <a:buChar char="•"/>
            </a:pPr>
            <a:r>
              <a:rPr lang="en-US" sz="3200" dirty="0">
                <a:solidFill>
                  <a:srgbClr val="FFFFFF"/>
                </a:solidFill>
                <a:latin typeface="Gotham"/>
                <a:ea typeface="Gotham"/>
                <a:cs typeface="Gotham"/>
                <a:sym typeface="Gotham"/>
              </a:rPr>
              <a:t>Articulate how L&amp;D integrates with other HR functions</a:t>
            </a:r>
          </a:p>
          <a:p>
            <a:pPr marL="436117" lvl="1" indent="-218059" algn="just">
              <a:buFont typeface="Arial"/>
              <a:buChar char="•"/>
            </a:pPr>
            <a:r>
              <a:rPr lang="en-US" sz="3200" dirty="0">
                <a:solidFill>
                  <a:srgbClr val="FFFFFF"/>
                </a:solidFill>
                <a:latin typeface="Gotham"/>
                <a:ea typeface="Gotham"/>
                <a:cs typeface="Gotham"/>
                <a:sym typeface="Gotham"/>
              </a:rPr>
              <a:t>Know basic L&amp;D principles within the Philippine context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alphaModFix amt="20999"/>
              </a:blip>
              <a:stretch>
                <a:fillRect/>
              </a:stretch>
            </a:blipFill>
          </p:spPr>
          <p:txBody>
            <a:bodyPr/>
            <a:lstStyle/>
            <a:p>
              <a:endParaRPr lang="en-US"/>
            </a:p>
          </p:txBody>
        </p:sp>
      </p:grpSp>
      <p:grpSp>
        <p:nvGrpSpPr>
          <p:cNvPr id="4" name="Group 4"/>
          <p:cNvGrpSpPr/>
          <p:nvPr/>
        </p:nvGrpSpPr>
        <p:grpSpPr>
          <a:xfrm>
            <a:off x="476680" y="1061110"/>
            <a:ext cx="7410019" cy="3693338"/>
            <a:chOff x="0" y="0"/>
            <a:chExt cx="9880026" cy="4924451"/>
          </a:xfrm>
        </p:grpSpPr>
        <p:sp>
          <p:nvSpPr>
            <p:cNvPr id="5" name="Freeform 5"/>
            <p:cNvSpPr/>
            <p:nvPr/>
          </p:nvSpPr>
          <p:spPr>
            <a:xfrm>
              <a:off x="0" y="0"/>
              <a:ext cx="9880026" cy="1005147"/>
            </a:xfrm>
            <a:custGeom>
              <a:avLst/>
              <a:gdLst/>
              <a:ahLst/>
              <a:cxnLst/>
              <a:rect l="l" t="t" r="r" b="b"/>
              <a:pathLst>
                <a:path w="9880026" h="1005147">
                  <a:moveTo>
                    <a:pt x="0" y="0"/>
                  </a:moveTo>
                  <a:lnTo>
                    <a:pt x="9880026" y="0"/>
                  </a:lnTo>
                  <a:lnTo>
                    <a:pt x="9880026" y="1005147"/>
                  </a:lnTo>
                  <a:lnTo>
                    <a:pt x="0" y="1005147"/>
                  </a:lnTo>
                  <a:close/>
                </a:path>
              </a:pathLst>
            </a:custGeom>
            <a:solidFill>
              <a:srgbClr val="000000">
                <a:alpha val="0"/>
              </a:srgbClr>
            </a:solidFill>
          </p:spPr>
          <p:txBody>
            <a:bodyPr/>
            <a:lstStyle/>
            <a:p>
              <a:endParaRPr lang="en-US"/>
            </a:p>
          </p:txBody>
        </p:sp>
        <p:sp>
          <p:nvSpPr>
            <p:cNvPr id="6" name="TextBox 6"/>
            <p:cNvSpPr txBox="1"/>
            <p:nvPr/>
          </p:nvSpPr>
          <p:spPr>
            <a:xfrm>
              <a:off x="329384" y="3757379"/>
              <a:ext cx="6578027" cy="1167072"/>
            </a:xfrm>
            <a:prstGeom prst="rect">
              <a:avLst/>
            </a:prstGeom>
          </p:spPr>
          <p:txBody>
            <a:bodyPr lIns="0" tIns="0" rIns="0" bIns="0" rtlCol="0" anchor="t"/>
            <a:lstStyle/>
            <a:p>
              <a:pPr algn="l">
                <a:lnSpc>
                  <a:spcPts val="5712"/>
                </a:lnSpc>
              </a:pPr>
              <a:r>
                <a:rPr lang="en-US" sz="4800" b="1" dirty="0">
                  <a:solidFill>
                    <a:srgbClr val="232B43"/>
                  </a:solidFill>
                  <a:latin typeface="Gotham Bold"/>
                  <a:ea typeface="Gotham Bold"/>
                  <a:cs typeface="Gotham Bold"/>
                  <a:sym typeface="Gotham Bold"/>
                </a:rPr>
                <a:t>SESSION OVERVIEW</a:t>
              </a:r>
            </a:p>
          </p:txBody>
        </p:sp>
      </p:grpSp>
      <p:sp>
        <p:nvSpPr>
          <p:cNvPr id="7" name="AutoShape 7"/>
          <p:cNvSpPr/>
          <p:nvPr/>
        </p:nvSpPr>
        <p:spPr>
          <a:xfrm rot="113351">
            <a:off x="1009336" y="2498725"/>
            <a:ext cx="1155714" cy="0"/>
          </a:xfrm>
          <a:prstGeom prst="line">
            <a:avLst/>
          </a:prstGeom>
          <a:ln w="19050" cap="rnd">
            <a:solidFill>
              <a:srgbClr val="FFFFFF"/>
            </a:solidFill>
            <a:prstDash val="solid"/>
            <a:headEnd type="none" w="sm" len="sm"/>
            <a:tailEnd type="none" w="sm" len="sm"/>
          </a:ln>
        </p:spPr>
        <p:txBody>
          <a:bodyPr/>
          <a:lstStyle/>
          <a:p>
            <a:endParaRPr lang="en-US"/>
          </a:p>
        </p:txBody>
      </p:sp>
      <p:grpSp>
        <p:nvGrpSpPr>
          <p:cNvPr id="11" name="Group 11"/>
          <p:cNvGrpSpPr/>
          <p:nvPr/>
        </p:nvGrpSpPr>
        <p:grpSpPr>
          <a:xfrm>
            <a:off x="15913298" y="9391890"/>
            <a:ext cx="2209422" cy="713814"/>
            <a:chOff x="0" y="0"/>
            <a:chExt cx="2945896" cy="951752"/>
          </a:xfrm>
        </p:grpSpPr>
        <p:sp>
          <p:nvSpPr>
            <p:cNvPr id="12" name="Freeform 12"/>
            <p:cNvSpPr/>
            <p:nvPr/>
          </p:nvSpPr>
          <p:spPr>
            <a:xfrm>
              <a:off x="0" y="0"/>
              <a:ext cx="2945892" cy="951738"/>
            </a:xfrm>
            <a:custGeom>
              <a:avLst/>
              <a:gdLst/>
              <a:ahLst/>
              <a:cxnLst/>
              <a:rect l="l" t="t" r="r" b="b"/>
              <a:pathLst>
                <a:path w="2945892" h="951738">
                  <a:moveTo>
                    <a:pt x="0" y="0"/>
                  </a:moveTo>
                  <a:lnTo>
                    <a:pt x="2945892" y="0"/>
                  </a:lnTo>
                  <a:lnTo>
                    <a:pt x="2945892" y="951738"/>
                  </a:lnTo>
                  <a:lnTo>
                    <a:pt x="0" y="951738"/>
                  </a:lnTo>
                  <a:lnTo>
                    <a:pt x="0" y="0"/>
                  </a:lnTo>
                  <a:close/>
                </a:path>
              </a:pathLst>
            </a:custGeom>
            <a:blipFill>
              <a:blip r:embed="rId4"/>
              <a:stretch>
                <a:fillRect t="-223" b="-224"/>
              </a:stretch>
            </a:blipFill>
          </p:spPr>
          <p:txBody>
            <a:bodyPr/>
            <a:lstStyle/>
            <a:p>
              <a:endParaRPr lang="en-US"/>
            </a:p>
          </p:txBody>
        </p:sp>
      </p:grpSp>
      <p:grpSp>
        <p:nvGrpSpPr>
          <p:cNvPr id="13" name="Group 13"/>
          <p:cNvGrpSpPr/>
          <p:nvPr/>
        </p:nvGrpSpPr>
        <p:grpSpPr>
          <a:xfrm>
            <a:off x="14554724" y="99552"/>
            <a:ext cx="3733276" cy="1265306"/>
            <a:chOff x="0" y="0"/>
            <a:chExt cx="4977701" cy="1687075"/>
          </a:xfrm>
        </p:grpSpPr>
        <p:sp>
          <p:nvSpPr>
            <p:cNvPr id="14" name="Freeform 14"/>
            <p:cNvSpPr/>
            <p:nvPr/>
          </p:nvSpPr>
          <p:spPr>
            <a:xfrm>
              <a:off x="0" y="0"/>
              <a:ext cx="4977638" cy="1687068"/>
            </a:xfrm>
            <a:custGeom>
              <a:avLst/>
              <a:gdLst/>
              <a:ahLst/>
              <a:cxnLst/>
              <a:rect l="l" t="t" r="r" b="b"/>
              <a:pathLst>
                <a:path w="4977638" h="1687068">
                  <a:moveTo>
                    <a:pt x="0" y="0"/>
                  </a:moveTo>
                  <a:lnTo>
                    <a:pt x="4977638" y="0"/>
                  </a:lnTo>
                  <a:lnTo>
                    <a:pt x="4977638" y="1687068"/>
                  </a:lnTo>
                  <a:lnTo>
                    <a:pt x="0" y="1687068"/>
                  </a:lnTo>
                  <a:lnTo>
                    <a:pt x="0" y="0"/>
                  </a:lnTo>
                  <a:close/>
                </a:path>
              </a:pathLst>
            </a:custGeom>
            <a:blipFill>
              <a:blip r:embed="rId5"/>
              <a:stretch>
                <a:fillRect t="-102" r="-1" b="-103"/>
              </a:stretch>
            </a:blipFill>
          </p:spPr>
          <p:txBody>
            <a:bodyPr/>
            <a:lstStyle/>
            <a:p>
              <a:endParaRPr lang="en-US"/>
            </a:p>
          </p:txBody>
        </p:sp>
      </p:grpSp>
      <p:grpSp>
        <p:nvGrpSpPr>
          <p:cNvPr id="8" name="Group 8"/>
          <p:cNvGrpSpPr/>
          <p:nvPr/>
        </p:nvGrpSpPr>
        <p:grpSpPr>
          <a:xfrm>
            <a:off x="6704028" y="2425968"/>
            <a:ext cx="10499082" cy="4321184"/>
            <a:chOff x="0" y="0"/>
            <a:chExt cx="20813691" cy="5761579"/>
          </a:xfrm>
        </p:grpSpPr>
        <p:sp>
          <p:nvSpPr>
            <p:cNvPr id="9" name="Freeform 9"/>
            <p:cNvSpPr/>
            <p:nvPr/>
          </p:nvSpPr>
          <p:spPr>
            <a:xfrm>
              <a:off x="0" y="0"/>
              <a:ext cx="20813691" cy="5761579"/>
            </a:xfrm>
            <a:custGeom>
              <a:avLst/>
              <a:gdLst/>
              <a:ahLst/>
              <a:cxnLst/>
              <a:rect l="l" t="t" r="r" b="b"/>
              <a:pathLst>
                <a:path w="20813691" h="5761579">
                  <a:moveTo>
                    <a:pt x="0" y="0"/>
                  </a:moveTo>
                  <a:lnTo>
                    <a:pt x="20813691" y="0"/>
                  </a:lnTo>
                  <a:lnTo>
                    <a:pt x="20813691" y="5761579"/>
                  </a:lnTo>
                  <a:lnTo>
                    <a:pt x="0" y="5761579"/>
                  </a:lnTo>
                  <a:close/>
                </a:path>
              </a:pathLst>
            </a:custGeom>
            <a:solidFill>
              <a:srgbClr val="000000">
                <a:alpha val="0"/>
              </a:srgbClr>
            </a:solidFill>
          </p:spPr>
          <p:txBody>
            <a:bodyPr/>
            <a:lstStyle/>
            <a:p>
              <a:endParaRPr lang="en-US" sz="1400"/>
            </a:p>
          </p:txBody>
        </p:sp>
        <p:sp>
          <p:nvSpPr>
            <p:cNvPr id="10" name="TextBox 10"/>
            <p:cNvSpPr txBox="1"/>
            <p:nvPr/>
          </p:nvSpPr>
          <p:spPr>
            <a:xfrm>
              <a:off x="0" y="-133350"/>
              <a:ext cx="20813691" cy="5894929"/>
            </a:xfrm>
            <a:prstGeom prst="rect">
              <a:avLst/>
            </a:prstGeom>
          </p:spPr>
          <p:txBody>
            <a:bodyPr lIns="0" tIns="0" rIns="0" bIns="0" rtlCol="0" anchor="t"/>
            <a:lstStyle/>
            <a:p>
              <a:pPr algn="l">
                <a:lnSpc>
                  <a:spcPts val="5616"/>
                </a:lnSpc>
              </a:pPr>
              <a:r>
                <a:rPr lang="en-US" sz="2800" dirty="0">
                  <a:solidFill>
                    <a:srgbClr val="232B43"/>
                  </a:solidFill>
                  <a:latin typeface="Gotham"/>
                  <a:ea typeface="Gotham"/>
                  <a:cs typeface="Gotham"/>
                  <a:sym typeface="Gotham"/>
                </a:rPr>
                <a:t>Strategic role of L&amp;D in Organizations </a:t>
              </a:r>
            </a:p>
            <a:p>
              <a:pPr algn="l">
                <a:lnSpc>
                  <a:spcPts val="5616"/>
                </a:lnSpc>
              </a:pPr>
              <a:r>
                <a:rPr lang="en-US" sz="2800" dirty="0">
                  <a:solidFill>
                    <a:srgbClr val="232B43"/>
                  </a:solidFill>
                  <a:latin typeface="Gotham"/>
                  <a:ea typeface="Gotham"/>
                  <a:cs typeface="Gotham"/>
                  <a:sym typeface="Gotham"/>
                </a:rPr>
                <a:t>The business case for L&amp;D </a:t>
              </a:r>
            </a:p>
            <a:p>
              <a:pPr algn="l">
                <a:lnSpc>
                  <a:spcPts val="5616"/>
                </a:lnSpc>
              </a:pPr>
              <a:r>
                <a:rPr lang="en-US" sz="2800" dirty="0">
                  <a:solidFill>
                    <a:srgbClr val="232B43"/>
                  </a:solidFill>
                  <a:latin typeface="Gotham"/>
                  <a:ea typeface="Gotham"/>
                  <a:cs typeface="Gotham"/>
                  <a:sym typeface="Gotham"/>
                </a:rPr>
                <a:t>Foundational Principles</a:t>
              </a:r>
            </a:p>
            <a:p>
              <a:pPr algn="l">
                <a:lnSpc>
                  <a:spcPts val="5616"/>
                </a:lnSpc>
              </a:pPr>
              <a:r>
                <a:rPr lang="en-US" sz="2800" dirty="0">
                  <a:solidFill>
                    <a:srgbClr val="232B43"/>
                  </a:solidFill>
                  <a:latin typeface="Gotham"/>
                  <a:ea typeface="Gotham"/>
                  <a:cs typeface="Gotham"/>
                  <a:sym typeface="Gotham"/>
                </a:rPr>
                <a:t>Learning Design</a:t>
              </a:r>
            </a:p>
            <a:p>
              <a:pPr algn="l">
                <a:lnSpc>
                  <a:spcPts val="5616"/>
                </a:lnSpc>
              </a:pPr>
              <a:r>
                <a:rPr lang="en-US" sz="2800" dirty="0">
                  <a:solidFill>
                    <a:srgbClr val="232B43"/>
                  </a:solidFill>
                  <a:latin typeface="Gotham"/>
                  <a:ea typeface="Gotham"/>
                  <a:cs typeface="Gotham"/>
                  <a:sym typeface="Gotham"/>
                </a:rPr>
                <a:t>Learning Interventions</a:t>
              </a:r>
            </a:p>
            <a:p>
              <a:pPr algn="l">
                <a:lnSpc>
                  <a:spcPts val="5616"/>
                </a:lnSpc>
              </a:pPr>
              <a:r>
                <a:rPr lang="en-US" sz="2800" dirty="0">
                  <a:solidFill>
                    <a:srgbClr val="232B43"/>
                  </a:solidFill>
                  <a:latin typeface="Gotham"/>
                  <a:ea typeface="Gotham"/>
                  <a:cs typeface="Gotham"/>
                  <a:sym typeface="Gotham"/>
                </a:rPr>
                <a:t>L&amp;D in the Philippines</a:t>
              </a:r>
            </a:p>
          </p:txBody>
        </p:sp>
      </p:grpSp>
      <p:sp>
        <p:nvSpPr>
          <p:cNvPr id="15" name="Freeform 15"/>
          <p:cNvSpPr/>
          <p:nvPr/>
        </p:nvSpPr>
        <p:spPr>
          <a:xfrm>
            <a:off x="6172200" y="2618404"/>
            <a:ext cx="429952" cy="412670"/>
          </a:xfrm>
          <a:custGeom>
            <a:avLst/>
            <a:gdLst/>
            <a:ahLst/>
            <a:cxnLst/>
            <a:rect l="l" t="t" r="r" b="b"/>
            <a:pathLst>
              <a:path w="412670" h="412670">
                <a:moveTo>
                  <a:pt x="0" y="0"/>
                </a:moveTo>
                <a:lnTo>
                  <a:pt x="412670" y="0"/>
                </a:lnTo>
                <a:lnTo>
                  <a:pt x="412670" y="412670"/>
                </a:lnTo>
                <a:lnTo>
                  <a:pt x="0" y="4126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sz="1400"/>
          </a:p>
        </p:txBody>
      </p:sp>
      <p:sp>
        <p:nvSpPr>
          <p:cNvPr id="16" name="Freeform 16"/>
          <p:cNvSpPr/>
          <p:nvPr/>
        </p:nvSpPr>
        <p:spPr>
          <a:xfrm>
            <a:off x="6172200" y="3311686"/>
            <a:ext cx="429952" cy="412670"/>
          </a:xfrm>
          <a:custGeom>
            <a:avLst/>
            <a:gdLst/>
            <a:ahLst/>
            <a:cxnLst/>
            <a:rect l="l" t="t" r="r" b="b"/>
            <a:pathLst>
              <a:path w="412670" h="412670">
                <a:moveTo>
                  <a:pt x="0" y="0"/>
                </a:moveTo>
                <a:lnTo>
                  <a:pt x="412670" y="0"/>
                </a:lnTo>
                <a:lnTo>
                  <a:pt x="412670" y="412670"/>
                </a:lnTo>
                <a:lnTo>
                  <a:pt x="0" y="4126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sz="1400"/>
          </a:p>
        </p:txBody>
      </p:sp>
      <p:sp>
        <p:nvSpPr>
          <p:cNvPr id="17" name="Freeform 17"/>
          <p:cNvSpPr/>
          <p:nvPr/>
        </p:nvSpPr>
        <p:spPr>
          <a:xfrm>
            <a:off x="6172675" y="3986734"/>
            <a:ext cx="429952" cy="412670"/>
          </a:xfrm>
          <a:custGeom>
            <a:avLst/>
            <a:gdLst/>
            <a:ahLst/>
            <a:cxnLst/>
            <a:rect l="l" t="t" r="r" b="b"/>
            <a:pathLst>
              <a:path w="412670" h="412670">
                <a:moveTo>
                  <a:pt x="0" y="0"/>
                </a:moveTo>
                <a:lnTo>
                  <a:pt x="412670" y="0"/>
                </a:lnTo>
                <a:lnTo>
                  <a:pt x="412670" y="412670"/>
                </a:lnTo>
                <a:lnTo>
                  <a:pt x="0" y="4126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sz="1400"/>
          </a:p>
        </p:txBody>
      </p:sp>
      <p:sp>
        <p:nvSpPr>
          <p:cNvPr id="18" name="Freeform 18"/>
          <p:cNvSpPr/>
          <p:nvPr/>
        </p:nvSpPr>
        <p:spPr>
          <a:xfrm>
            <a:off x="6172200" y="4754448"/>
            <a:ext cx="429952" cy="412670"/>
          </a:xfrm>
          <a:custGeom>
            <a:avLst/>
            <a:gdLst/>
            <a:ahLst/>
            <a:cxnLst/>
            <a:rect l="l" t="t" r="r" b="b"/>
            <a:pathLst>
              <a:path w="412670" h="412670">
                <a:moveTo>
                  <a:pt x="0" y="0"/>
                </a:moveTo>
                <a:lnTo>
                  <a:pt x="412670" y="0"/>
                </a:lnTo>
                <a:lnTo>
                  <a:pt x="412670" y="412670"/>
                </a:lnTo>
                <a:lnTo>
                  <a:pt x="0" y="4126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sz="1400"/>
          </a:p>
        </p:txBody>
      </p:sp>
      <p:sp>
        <p:nvSpPr>
          <p:cNvPr id="19" name="Freeform 19"/>
          <p:cNvSpPr/>
          <p:nvPr/>
        </p:nvSpPr>
        <p:spPr>
          <a:xfrm>
            <a:off x="6172200" y="5429496"/>
            <a:ext cx="429952" cy="412670"/>
          </a:xfrm>
          <a:custGeom>
            <a:avLst/>
            <a:gdLst/>
            <a:ahLst/>
            <a:cxnLst/>
            <a:rect l="l" t="t" r="r" b="b"/>
            <a:pathLst>
              <a:path w="412670" h="412670">
                <a:moveTo>
                  <a:pt x="0" y="0"/>
                </a:moveTo>
                <a:lnTo>
                  <a:pt x="412670" y="0"/>
                </a:lnTo>
                <a:lnTo>
                  <a:pt x="412670" y="412670"/>
                </a:lnTo>
                <a:lnTo>
                  <a:pt x="0" y="4126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sz="1400"/>
          </a:p>
        </p:txBody>
      </p:sp>
      <p:sp>
        <p:nvSpPr>
          <p:cNvPr id="20" name="Freeform 20"/>
          <p:cNvSpPr/>
          <p:nvPr/>
        </p:nvSpPr>
        <p:spPr>
          <a:xfrm>
            <a:off x="6172200" y="6104544"/>
            <a:ext cx="429952" cy="412670"/>
          </a:xfrm>
          <a:custGeom>
            <a:avLst/>
            <a:gdLst/>
            <a:ahLst/>
            <a:cxnLst/>
            <a:rect l="l" t="t" r="r" b="b"/>
            <a:pathLst>
              <a:path w="412670" h="412670">
                <a:moveTo>
                  <a:pt x="0" y="0"/>
                </a:moveTo>
                <a:lnTo>
                  <a:pt x="412670" y="0"/>
                </a:lnTo>
                <a:lnTo>
                  <a:pt x="412670" y="412670"/>
                </a:lnTo>
                <a:lnTo>
                  <a:pt x="0" y="4126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5507182" y="0"/>
            <a:ext cx="7273636" cy="7273636"/>
          </a:xfrm>
          <a:custGeom>
            <a:avLst/>
            <a:gdLst/>
            <a:ahLst/>
            <a:cxnLst/>
            <a:rect l="l" t="t" r="r" b="b"/>
            <a:pathLst>
              <a:path w="7273636" h="7273636">
                <a:moveTo>
                  <a:pt x="7273636" y="0"/>
                </a:moveTo>
                <a:lnTo>
                  <a:pt x="0" y="0"/>
                </a:lnTo>
                <a:lnTo>
                  <a:pt x="0" y="7273636"/>
                </a:lnTo>
                <a:lnTo>
                  <a:pt x="7273636" y="7273636"/>
                </a:lnTo>
                <a:lnTo>
                  <a:pt x="7273636" y="0"/>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028700" y="962025"/>
            <a:ext cx="7610825" cy="1238568"/>
          </a:xfrm>
          <a:prstGeom prst="rect">
            <a:avLst/>
          </a:prstGeom>
        </p:spPr>
        <p:txBody>
          <a:bodyPr lIns="0" tIns="0" rIns="0" bIns="0" rtlCol="0" anchor="t">
            <a:spAutoFit/>
          </a:bodyPr>
          <a:lstStyle/>
          <a:p>
            <a:pPr algn="l">
              <a:lnSpc>
                <a:spcPts val="4991"/>
              </a:lnSpc>
            </a:pPr>
            <a:r>
              <a:rPr lang="en-US" sz="3565" b="1">
                <a:solidFill>
                  <a:srgbClr val="232B43"/>
                </a:solidFill>
                <a:latin typeface="Gotham Bold"/>
                <a:ea typeface="Gotham Bold"/>
                <a:cs typeface="Gotham Bold"/>
                <a:sym typeface="Gotham Bold"/>
              </a:rPr>
              <a:t>The Strategic Role of Learning &amp; Development in Organizations</a:t>
            </a:r>
          </a:p>
        </p:txBody>
      </p:sp>
      <p:sp>
        <p:nvSpPr>
          <p:cNvPr id="4" name="TextBox 4"/>
          <p:cNvSpPr txBox="1"/>
          <p:nvPr/>
        </p:nvSpPr>
        <p:spPr>
          <a:xfrm>
            <a:off x="1028700" y="2339736"/>
            <a:ext cx="16230600" cy="6996127"/>
          </a:xfrm>
          <a:prstGeom prst="rect">
            <a:avLst/>
          </a:prstGeom>
        </p:spPr>
        <p:txBody>
          <a:bodyPr lIns="0" tIns="0" rIns="0" bIns="0" rtlCol="0" anchor="t">
            <a:spAutoFit/>
          </a:bodyPr>
          <a:lstStyle/>
          <a:p>
            <a:pPr algn="just">
              <a:lnSpc>
                <a:spcPts val="3343"/>
              </a:lnSpc>
            </a:pPr>
            <a:endParaRPr/>
          </a:p>
          <a:p>
            <a:pPr algn="just">
              <a:lnSpc>
                <a:spcPts val="3343"/>
              </a:lnSpc>
            </a:pPr>
            <a:r>
              <a:rPr lang="en-US" sz="2388" b="1">
                <a:solidFill>
                  <a:srgbClr val="232B43"/>
                </a:solidFill>
                <a:latin typeface="Gotham Bold"/>
                <a:ea typeface="Gotham Bold"/>
                <a:cs typeface="Gotham Bold"/>
                <a:sym typeface="Gotham Bold"/>
              </a:rPr>
              <a:t>Definition and Scope of L&amp;D</a:t>
            </a:r>
          </a:p>
          <a:p>
            <a:pPr algn="just">
              <a:lnSpc>
                <a:spcPts val="3343"/>
              </a:lnSpc>
            </a:pPr>
            <a:endParaRPr lang="en-US" sz="2388" b="1">
              <a:solidFill>
                <a:srgbClr val="232B43"/>
              </a:solidFill>
              <a:latin typeface="Gotham Bold"/>
              <a:ea typeface="Gotham Bold"/>
              <a:cs typeface="Gotham Bold"/>
              <a:sym typeface="Gotham Bold"/>
            </a:endParaRPr>
          </a:p>
          <a:p>
            <a:pPr algn="just">
              <a:lnSpc>
                <a:spcPts val="3343"/>
              </a:lnSpc>
            </a:pPr>
            <a:r>
              <a:rPr lang="en-US" sz="2388">
                <a:solidFill>
                  <a:srgbClr val="232B43"/>
                </a:solidFill>
                <a:latin typeface="Gotham"/>
                <a:ea typeface="Gotham"/>
                <a:cs typeface="Gotham"/>
                <a:sym typeface="Gotham"/>
              </a:rPr>
              <a:t>Learning and Development (L&amp;D) encompasses all formal and informal activities designed to improve the knowledge, skills, and abilities of individuals and groups within an organization. It includes:</a:t>
            </a:r>
          </a:p>
          <a:p>
            <a:pPr algn="just">
              <a:lnSpc>
                <a:spcPts val="3343"/>
              </a:lnSpc>
            </a:pPr>
            <a:endParaRPr lang="en-US" sz="2388">
              <a:solidFill>
                <a:srgbClr val="232B43"/>
              </a:solidFill>
              <a:latin typeface="Gotham"/>
              <a:ea typeface="Gotham"/>
              <a:cs typeface="Gotham"/>
              <a:sym typeface="Gotham"/>
            </a:endParaRPr>
          </a:p>
          <a:p>
            <a:pPr marL="515664" lvl="1" indent="-257832" algn="just">
              <a:lnSpc>
                <a:spcPts val="3343"/>
              </a:lnSpc>
              <a:buFont typeface="Arial"/>
              <a:buChar char="•"/>
            </a:pPr>
            <a:r>
              <a:rPr lang="en-US" sz="2388">
                <a:solidFill>
                  <a:srgbClr val="232B43"/>
                </a:solidFill>
                <a:latin typeface="Gotham"/>
                <a:ea typeface="Gotham"/>
                <a:cs typeface="Gotham"/>
                <a:sym typeface="Gotham"/>
              </a:rPr>
              <a:t>Training programs (instructor-led, online, blended)</a:t>
            </a:r>
          </a:p>
          <a:p>
            <a:pPr marL="515664" lvl="1" indent="-257832" algn="just">
              <a:lnSpc>
                <a:spcPts val="3343"/>
              </a:lnSpc>
              <a:buFont typeface="Arial"/>
              <a:buChar char="•"/>
            </a:pPr>
            <a:r>
              <a:rPr lang="en-US" sz="2388">
                <a:solidFill>
                  <a:srgbClr val="232B43"/>
                </a:solidFill>
                <a:latin typeface="Gotham"/>
                <a:ea typeface="Gotham"/>
                <a:cs typeface="Gotham"/>
                <a:sym typeface="Gotham"/>
              </a:rPr>
              <a:t>Coaching and mentoring</a:t>
            </a:r>
          </a:p>
          <a:p>
            <a:pPr marL="515664" lvl="1" indent="-257832" algn="just">
              <a:lnSpc>
                <a:spcPts val="3343"/>
              </a:lnSpc>
              <a:buFont typeface="Arial"/>
              <a:buChar char="•"/>
            </a:pPr>
            <a:r>
              <a:rPr lang="en-US" sz="2388">
                <a:solidFill>
                  <a:srgbClr val="232B43"/>
                </a:solidFill>
                <a:latin typeface="Gotham"/>
                <a:ea typeface="Gotham"/>
                <a:cs typeface="Gotham"/>
                <a:sym typeface="Gotham"/>
              </a:rPr>
              <a:t>On-the-job learning experiences</a:t>
            </a:r>
          </a:p>
          <a:p>
            <a:pPr marL="515664" lvl="1" indent="-257832" algn="just">
              <a:lnSpc>
                <a:spcPts val="3343"/>
              </a:lnSpc>
              <a:buFont typeface="Arial"/>
              <a:buChar char="•"/>
            </a:pPr>
            <a:r>
              <a:rPr lang="en-US" sz="2388">
                <a:solidFill>
                  <a:srgbClr val="232B43"/>
                </a:solidFill>
                <a:latin typeface="Gotham"/>
                <a:ea typeface="Gotham"/>
                <a:cs typeface="Gotham"/>
                <a:sym typeface="Gotham"/>
              </a:rPr>
              <a:t>Knowledge management systems</a:t>
            </a:r>
          </a:p>
          <a:p>
            <a:pPr marL="515664" lvl="1" indent="-257832" algn="just">
              <a:lnSpc>
                <a:spcPts val="3343"/>
              </a:lnSpc>
              <a:buFont typeface="Arial"/>
              <a:buChar char="•"/>
            </a:pPr>
            <a:r>
              <a:rPr lang="en-US" sz="2388">
                <a:solidFill>
                  <a:srgbClr val="232B43"/>
                </a:solidFill>
                <a:latin typeface="Gotham"/>
                <a:ea typeface="Gotham"/>
                <a:cs typeface="Gotham"/>
                <a:sym typeface="Gotham"/>
              </a:rPr>
              <a:t>Career development initiatives</a:t>
            </a:r>
          </a:p>
          <a:p>
            <a:pPr marL="515664" lvl="1" indent="-257832" algn="just">
              <a:lnSpc>
                <a:spcPts val="3343"/>
              </a:lnSpc>
              <a:buFont typeface="Arial"/>
              <a:buChar char="•"/>
            </a:pPr>
            <a:r>
              <a:rPr lang="en-US" sz="2388">
                <a:solidFill>
                  <a:srgbClr val="232B43"/>
                </a:solidFill>
                <a:latin typeface="Gotham"/>
                <a:ea typeface="Gotham"/>
                <a:cs typeface="Gotham"/>
                <a:sym typeface="Gotham"/>
              </a:rPr>
              <a:t>Leadership development programs</a:t>
            </a:r>
          </a:p>
          <a:p>
            <a:pPr marL="515664" lvl="1" indent="-257832" algn="just">
              <a:lnSpc>
                <a:spcPts val="3343"/>
              </a:lnSpc>
              <a:buFont typeface="Arial"/>
              <a:buChar char="•"/>
            </a:pPr>
            <a:r>
              <a:rPr lang="en-US" sz="2388">
                <a:solidFill>
                  <a:srgbClr val="232B43"/>
                </a:solidFill>
                <a:latin typeface="Gotham"/>
                <a:ea typeface="Gotham"/>
                <a:cs typeface="Gotham"/>
                <a:sym typeface="Gotham"/>
              </a:rPr>
              <a:t>Performance support tools</a:t>
            </a:r>
          </a:p>
          <a:p>
            <a:pPr algn="just">
              <a:lnSpc>
                <a:spcPts val="3343"/>
              </a:lnSpc>
            </a:pPr>
            <a:endParaRPr lang="en-US" sz="2388">
              <a:solidFill>
                <a:srgbClr val="232B43"/>
              </a:solidFill>
              <a:latin typeface="Gotham"/>
              <a:ea typeface="Gotham"/>
              <a:cs typeface="Gotham"/>
              <a:sym typeface="Gotham"/>
            </a:endParaRPr>
          </a:p>
          <a:p>
            <a:pPr algn="just">
              <a:lnSpc>
                <a:spcPts val="3343"/>
              </a:lnSpc>
            </a:pPr>
            <a:endParaRPr lang="en-US" sz="2388">
              <a:solidFill>
                <a:srgbClr val="232B43"/>
              </a:solidFill>
              <a:latin typeface="Gotham"/>
              <a:ea typeface="Gotham"/>
              <a:cs typeface="Gotham"/>
              <a:sym typeface="Gotham"/>
            </a:endParaRPr>
          </a:p>
          <a:p>
            <a:pPr algn="just">
              <a:lnSpc>
                <a:spcPts val="3343"/>
              </a:lnSpc>
            </a:pPr>
            <a:endParaRPr lang="en-US" sz="2388">
              <a:solidFill>
                <a:srgbClr val="232B43"/>
              </a:solidFill>
              <a:latin typeface="Gotham"/>
              <a:ea typeface="Gotham"/>
              <a:cs typeface="Gotham"/>
              <a:sym typeface="Gotham"/>
            </a:endParaRPr>
          </a:p>
          <a:p>
            <a:pPr algn="just">
              <a:lnSpc>
                <a:spcPts val="3343"/>
              </a:lnSpc>
            </a:pPr>
            <a:endParaRPr lang="en-US" sz="2388">
              <a:solidFill>
                <a:srgbClr val="232B43"/>
              </a:solidFill>
              <a:latin typeface="Gotham"/>
              <a:ea typeface="Gotham"/>
              <a:cs typeface="Gotham"/>
              <a:sym typeface="Gotham"/>
            </a:endParaRPr>
          </a:p>
        </p:txBody>
      </p:sp>
      <p:sp>
        <p:nvSpPr>
          <p:cNvPr id="5" name="AutoShape 5"/>
          <p:cNvSpPr/>
          <p:nvPr/>
        </p:nvSpPr>
        <p:spPr>
          <a:xfrm>
            <a:off x="1028700" y="2406411"/>
            <a:ext cx="3619095" cy="0"/>
          </a:xfrm>
          <a:prstGeom prst="line">
            <a:avLst/>
          </a:prstGeom>
          <a:ln w="57150" cap="flat">
            <a:solidFill>
              <a:srgbClr val="232B43"/>
            </a:solidFill>
            <a:prstDash val="solid"/>
            <a:headEnd type="none" w="sm" len="sm"/>
            <a:tailEnd type="none" w="sm" len="sm"/>
          </a:ln>
        </p:spPr>
        <p:txBody>
          <a:bodyPr/>
          <a:lstStyle/>
          <a:p>
            <a:endParaRPr lang="en-US"/>
          </a:p>
        </p:txBody>
      </p:sp>
      <p:sp>
        <p:nvSpPr>
          <p:cNvPr id="6" name="Freeform 6"/>
          <p:cNvSpPr/>
          <p:nvPr/>
        </p:nvSpPr>
        <p:spPr>
          <a:xfrm>
            <a:off x="14727979" y="599735"/>
            <a:ext cx="2531321" cy="857931"/>
          </a:xfrm>
          <a:custGeom>
            <a:avLst/>
            <a:gdLst/>
            <a:ahLst/>
            <a:cxnLst/>
            <a:rect l="l" t="t" r="r" b="b"/>
            <a:pathLst>
              <a:path w="2531321" h="857931">
                <a:moveTo>
                  <a:pt x="0" y="0"/>
                </a:moveTo>
                <a:lnTo>
                  <a:pt x="2531321" y="0"/>
                </a:lnTo>
                <a:lnTo>
                  <a:pt x="2531321" y="857930"/>
                </a:lnTo>
                <a:lnTo>
                  <a:pt x="0" y="857930"/>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28700" y="1931089"/>
            <a:ext cx="3414783" cy="0"/>
          </a:xfrm>
          <a:prstGeom prst="line">
            <a:avLst/>
          </a:prstGeom>
          <a:ln w="57150" cap="flat">
            <a:solidFill>
              <a:srgbClr val="232B43"/>
            </a:solidFill>
            <a:prstDash val="solid"/>
            <a:headEnd type="none" w="sm" len="sm"/>
            <a:tailEnd type="none" w="sm" len="sm"/>
          </a:ln>
        </p:spPr>
        <p:txBody>
          <a:bodyPr/>
          <a:lstStyle/>
          <a:p>
            <a:endParaRPr lang="en-US"/>
          </a:p>
        </p:txBody>
      </p:sp>
      <p:sp>
        <p:nvSpPr>
          <p:cNvPr id="3" name="Freeform 3"/>
          <p:cNvSpPr/>
          <p:nvPr/>
        </p:nvSpPr>
        <p:spPr>
          <a:xfrm>
            <a:off x="934662" y="8400369"/>
            <a:ext cx="2531321" cy="857931"/>
          </a:xfrm>
          <a:custGeom>
            <a:avLst/>
            <a:gdLst/>
            <a:ahLst/>
            <a:cxnLst/>
            <a:rect l="l" t="t" r="r" b="b"/>
            <a:pathLst>
              <a:path w="2531321" h="857931">
                <a:moveTo>
                  <a:pt x="0" y="0"/>
                </a:moveTo>
                <a:lnTo>
                  <a:pt x="2531321" y="0"/>
                </a:lnTo>
                <a:lnTo>
                  <a:pt x="2531321" y="857931"/>
                </a:lnTo>
                <a:lnTo>
                  <a:pt x="0" y="857931"/>
                </a:lnTo>
                <a:lnTo>
                  <a:pt x="0" y="0"/>
                </a:lnTo>
                <a:close/>
              </a:path>
            </a:pathLst>
          </a:custGeom>
          <a:blipFill>
            <a:blip r:embed="rId2"/>
            <a:stretch>
              <a:fillRect/>
            </a:stretch>
          </a:blipFill>
        </p:spPr>
        <p:txBody>
          <a:bodyPr/>
          <a:lstStyle/>
          <a:p>
            <a:endParaRPr lang="en-US"/>
          </a:p>
        </p:txBody>
      </p:sp>
      <p:sp>
        <p:nvSpPr>
          <p:cNvPr id="4" name="TextBox 4"/>
          <p:cNvSpPr txBox="1"/>
          <p:nvPr/>
        </p:nvSpPr>
        <p:spPr>
          <a:xfrm>
            <a:off x="1028700" y="3194194"/>
            <a:ext cx="11156097" cy="2124322"/>
          </a:xfrm>
          <a:prstGeom prst="rect">
            <a:avLst/>
          </a:prstGeom>
        </p:spPr>
        <p:txBody>
          <a:bodyPr lIns="0" tIns="0" rIns="0" bIns="0" rtlCol="0" anchor="t">
            <a:spAutoFit/>
          </a:bodyPr>
          <a:lstStyle/>
          <a:p>
            <a:pPr marL="632477" lvl="1" indent="-316239" algn="l">
              <a:lnSpc>
                <a:spcPts val="3398"/>
              </a:lnSpc>
              <a:buFont typeface="Arial"/>
              <a:buChar char="•"/>
            </a:pPr>
            <a:r>
              <a:rPr lang="en-US" sz="2929" b="1">
                <a:solidFill>
                  <a:srgbClr val="232B43"/>
                </a:solidFill>
                <a:latin typeface="Gotham Bold"/>
                <a:ea typeface="Gotham Bold"/>
                <a:cs typeface="Gotham Bold"/>
                <a:sym typeface="Gotham Bold"/>
              </a:rPr>
              <a:t>Improved Performance</a:t>
            </a:r>
          </a:p>
          <a:p>
            <a:pPr marL="632477" lvl="1" indent="-316239" algn="l">
              <a:lnSpc>
                <a:spcPts val="3398"/>
              </a:lnSpc>
              <a:buFont typeface="Arial"/>
              <a:buChar char="•"/>
            </a:pPr>
            <a:r>
              <a:rPr lang="en-US" sz="2929" b="1">
                <a:solidFill>
                  <a:srgbClr val="232B43"/>
                </a:solidFill>
                <a:latin typeface="Gotham Bold"/>
                <a:ea typeface="Gotham Bold"/>
                <a:cs typeface="Gotham Bold"/>
                <a:sym typeface="Gotham Bold"/>
              </a:rPr>
              <a:t>Adaptability and Innovation</a:t>
            </a:r>
          </a:p>
          <a:p>
            <a:pPr marL="632477" lvl="1" indent="-316239" algn="l">
              <a:lnSpc>
                <a:spcPts val="3398"/>
              </a:lnSpc>
              <a:buFont typeface="Arial"/>
              <a:buChar char="•"/>
            </a:pPr>
            <a:r>
              <a:rPr lang="en-US" sz="2929" b="1">
                <a:solidFill>
                  <a:srgbClr val="232B43"/>
                </a:solidFill>
                <a:latin typeface="Gotham Bold"/>
                <a:ea typeface="Gotham Bold"/>
                <a:cs typeface="Gotham Bold"/>
                <a:sym typeface="Gotham Bold"/>
              </a:rPr>
              <a:t>Talent Attraction and Retention</a:t>
            </a:r>
          </a:p>
          <a:p>
            <a:pPr marL="632477" lvl="1" indent="-316239" algn="l">
              <a:lnSpc>
                <a:spcPts val="3398"/>
              </a:lnSpc>
              <a:buFont typeface="Arial"/>
              <a:buChar char="•"/>
            </a:pPr>
            <a:r>
              <a:rPr lang="en-US" sz="2929" b="1">
                <a:solidFill>
                  <a:srgbClr val="232B43"/>
                </a:solidFill>
                <a:latin typeface="Gotham Bold"/>
                <a:ea typeface="Gotham Bold"/>
                <a:cs typeface="Gotham Bold"/>
                <a:sym typeface="Gotham Bold"/>
              </a:rPr>
              <a:t>Succession Planning</a:t>
            </a:r>
          </a:p>
          <a:p>
            <a:pPr marL="632477" lvl="1" indent="-316239" algn="l">
              <a:lnSpc>
                <a:spcPts val="3398"/>
              </a:lnSpc>
              <a:buFont typeface="Arial"/>
              <a:buChar char="•"/>
            </a:pPr>
            <a:r>
              <a:rPr lang="en-US" sz="2929" b="1">
                <a:solidFill>
                  <a:srgbClr val="232B43"/>
                </a:solidFill>
                <a:latin typeface="Gotham Bold"/>
                <a:ea typeface="Gotham Bold"/>
                <a:cs typeface="Gotham Bold"/>
                <a:sym typeface="Gotham Bold"/>
              </a:rPr>
              <a:t>Risk Mitigation</a:t>
            </a:r>
          </a:p>
        </p:txBody>
      </p:sp>
      <p:sp>
        <p:nvSpPr>
          <p:cNvPr id="5" name="TextBox 5"/>
          <p:cNvSpPr txBox="1"/>
          <p:nvPr/>
        </p:nvSpPr>
        <p:spPr>
          <a:xfrm>
            <a:off x="1028700" y="2340664"/>
            <a:ext cx="15440484" cy="348705"/>
          </a:xfrm>
          <a:prstGeom prst="rect">
            <a:avLst/>
          </a:prstGeom>
        </p:spPr>
        <p:txBody>
          <a:bodyPr lIns="0" tIns="0" rIns="0" bIns="0" rtlCol="0" anchor="t">
            <a:spAutoFit/>
          </a:bodyPr>
          <a:lstStyle/>
          <a:p>
            <a:pPr algn="l">
              <a:lnSpc>
                <a:spcPts val="2830"/>
              </a:lnSpc>
              <a:spcBef>
                <a:spcPct val="0"/>
              </a:spcBef>
            </a:pPr>
            <a:r>
              <a:rPr lang="en-US" sz="2021">
                <a:solidFill>
                  <a:srgbClr val="232B43"/>
                </a:solidFill>
                <a:latin typeface="Gotham"/>
                <a:ea typeface="Gotham"/>
                <a:cs typeface="Gotham"/>
                <a:sym typeface="Gotham"/>
              </a:rPr>
              <a:t>Effective L&amp;D functions deliver significant value to organizations through:</a:t>
            </a:r>
          </a:p>
        </p:txBody>
      </p:sp>
      <p:sp>
        <p:nvSpPr>
          <p:cNvPr id="6" name="TextBox 6"/>
          <p:cNvSpPr txBox="1"/>
          <p:nvPr/>
        </p:nvSpPr>
        <p:spPr>
          <a:xfrm>
            <a:off x="1028700" y="1331210"/>
            <a:ext cx="10900518" cy="571304"/>
          </a:xfrm>
          <a:prstGeom prst="rect">
            <a:avLst/>
          </a:prstGeom>
        </p:spPr>
        <p:txBody>
          <a:bodyPr lIns="0" tIns="0" rIns="0" bIns="0" rtlCol="0" anchor="t">
            <a:spAutoFit/>
          </a:bodyPr>
          <a:lstStyle/>
          <a:p>
            <a:pPr marL="0" lvl="0" indent="0" algn="l">
              <a:lnSpc>
                <a:spcPts val="4308"/>
              </a:lnSpc>
              <a:spcBef>
                <a:spcPct val="0"/>
              </a:spcBef>
            </a:pPr>
            <a:r>
              <a:rPr lang="en-US" sz="4103" b="1" u="none" strike="noStrike">
                <a:solidFill>
                  <a:srgbClr val="232B43"/>
                </a:solidFill>
                <a:latin typeface="Gotham Bold"/>
                <a:ea typeface="Gotham Bold"/>
                <a:cs typeface="Gotham Bold"/>
                <a:sym typeface="Gotham Bold"/>
              </a:rPr>
              <a:t>The Business Case for L&amp;D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727979" y="599735"/>
            <a:ext cx="2531321" cy="857931"/>
          </a:xfrm>
          <a:custGeom>
            <a:avLst/>
            <a:gdLst/>
            <a:ahLst/>
            <a:cxnLst/>
            <a:rect l="l" t="t" r="r" b="b"/>
            <a:pathLst>
              <a:path w="2531321" h="857931">
                <a:moveTo>
                  <a:pt x="0" y="0"/>
                </a:moveTo>
                <a:lnTo>
                  <a:pt x="2531321" y="0"/>
                </a:lnTo>
                <a:lnTo>
                  <a:pt x="2531321" y="857930"/>
                </a:lnTo>
                <a:lnTo>
                  <a:pt x="0" y="85793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1406409" y="2453447"/>
            <a:ext cx="5184458" cy="563246"/>
            <a:chOff x="0" y="0"/>
            <a:chExt cx="2713443" cy="294792"/>
          </a:xfrm>
        </p:grpSpPr>
        <p:sp>
          <p:nvSpPr>
            <p:cNvPr id="4" name="Freeform 4"/>
            <p:cNvSpPr/>
            <p:nvPr/>
          </p:nvSpPr>
          <p:spPr>
            <a:xfrm>
              <a:off x="0" y="0"/>
              <a:ext cx="2713443" cy="294792"/>
            </a:xfrm>
            <a:custGeom>
              <a:avLst/>
              <a:gdLst/>
              <a:ahLst/>
              <a:cxnLst/>
              <a:rect l="l" t="t" r="r" b="b"/>
              <a:pathLst>
                <a:path w="2713443" h="294792">
                  <a:moveTo>
                    <a:pt x="76158" y="0"/>
                  </a:moveTo>
                  <a:lnTo>
                    <a:pt x="2637285" y="0"/>
                  </a:lnTo>
                  <a:cubicBezTo>
                    <a:pt x="2657484" y="0"/>
                    <a:pt x="2676855" y="8024"/>
                    <a:pt x="2691137" y="22306"/>
                  </a:cubicBezTo>
                  <a:cubicBezTo>
                    <a:pt x="2705419" y="36589"/>
                    <a:pt x="2713443" y="55960"/>
                    <a:pt x="2713443" y="76158"/>
                  </a:cubicBezTo>
                  <a:lnTo>
                    <a:pt x="2713443" y="218634"/>
                  </a:lnTo>
                  <a:cubicBezTo>
                    <a:pt x="2713443" y="260695"/>
                    <a:pt x="2679346" y="294792"/>
                    <a:pt x="2637285" y="294792"/>
                  </a:cubicBezTo>
                  <a:lnTo>
                    <a:pt x="76158" y="294792"/>
                  </a:lnTo>
                  <a:cubicBezTo>
                    <a:pt x="34097" y="294792"/>
                    <a:pt x="0" y="260695"/>
                    <a:pt x="0" y="218634"/>
                  </a:cubicBezTo>
                  <a:lnTo>
                    <a:pt x="0" y="76158"/>
                  </a:lnTo>
                  <a:cubicBezTo>
                    <a:pt x="0" y="34097"/>
                    <a:pt x="34097" y="0"/>
                    <a:pt x="76158" y="0"/>
                  </a:cubicBezTo>
                  <a:close/>
                </a:path>
              </a:pathLst>
            </a:custGeom>
            <a:solidFill>
              <a:srgbClr val="232B43"/>
            </a:solidFill>
          </p:spPr>
          <p:txBody>
            <a:bodyPr/>
            <a:lstStyle/>
            <a:p>
              <a:endParaRPr lang="en-US"/>
            </a:p>
          </p:txBody>
        </p:sp>
        <p:sp>
          <p:nvSpPr>
            <p:cNvPr id="5" name="TextBox 5"/>
            <p:cNvSpPr txBox="1"/>
            <p:nvPr/>
          </p:nvSpPr>
          <p:spPr>
            <a:xfrm>
              <a:off x="0" y="0"/>
              <a:ext cx="2713443" cy="294792"/>
            </a:xfrm>
            <a:prstGeom prst="rect">
              <a:avLst/>
            </a:prstGeom>
          </p:spPr>
          <p:txBody>
            <a:bodyPr lIns="25563" tIns="25563" rIns="25563" bIns="25563" rtlCol="0" anchor="ctr"/>
            <a:lstStyle/>
            <a:p>
              <a:pPr algn="ctr">
                <a:lnSpc>
                  <a:spcPts val="1748"/>
                </a:lnSpc>
              </a:pPr>
              <a:endParaRPr/>
            </a:p>
          </p:txBody>
        </p:sp>
      </p:grpSp>
      <p:sp>
        <p:nvSpPr>
          <p:cNvPr id="6" name="TextBox 6"/>
          <p:cNvSpPr txBox="1"/>
          <p:nvPr/>
        </p:nvSpPr>
        <p:spPr>
          <a:xfrm>
            <a:off x="1581232" y="2620993"/>
            <a:ext cx="5184458" cy="228154"/>
          </a:xfrm>
          <a:prstGeom prst="rect">
            <a:avLst/>
          </a:prstGeom>
        </p:spPr>
        <p:txBody>
          <a:bodyPr lIns="0" tIns="0" rIns="0" bIns="0" rtlCol="0" anchor="t">
            <a:spAutoFit/>
          </a:bodyPr>
          <a:lstStyle/>
          <a:p>
            <a:pPr algn="l">
              <a:lnSpc>
                <a:spcPts val="1751"/>
              </a:lnSpc>
              <a:spcBef>
                <a:spcPct val="0"/>
              </a:spcBef>
            </a:pPr>
            <a:r>
              <a:rPr lang="en-US" sz="1509" b="1">
                <a:solidFill>
                  <a:srgbClr val="FFFFFF"/>
                </a:solidFill>
                <a:latin typeface="Gotham Bold"/>
                <a:ea typeface="Gotham Bold"/>
                <a:cs typeface="Gotham Bold"/>
                <a:sym typeface="Gotham Bold"/>
              </a:rPr>
              <a:t>Foundational Learning Theories and Frameworks</a:t>
            </a:r>
          </a:p>
        </p:txBody>
      </p:sp>
      <p:sp>
        <p:nvSpPr>
          <p:cNvPr id="7" name="Freeform 7"/>
          <p:cNvSpPr/>
          <p:nvPr/>
        </p:nvSpPr>
        <p:spPr>
          <a:xfrm>
            <a:off x="6628793" y="3229057"/>
            <a:ext cx="2139367" cy="2805191"/>
          </a:xfrm>
          <a:custGeom>
            <a:avLst/>
            <a:gdLst/>
            <a:ahLst/>
            <a:cxnLst/>
            <a:rect l="l" t="t" r="r" b="b"/>
            <a:pathLst>
              <a:path w="2139367" h="2805191">
                <a:moveTo>
                  <a:pt x="0" y="0"/>
                </a:moveTo>
                <a:lnTo>
                  <a:pt x="2139367" y="0"/>
                </a:lnTo>
                <a:lnTo>
                  <a:pt x="2139367" y="2805191"/>
                </a:lnTo>
                <a:lnTo>
                  <a:pt x="0" y="2805191"/>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485873" y="3987654"/>
            <a:ext cx="4708800" cy="2161646"/>
          </a:xfrm>
          <a:prstGeom prst="rect">
            <a:avLst/>
          </a:prstGeom>
        </p:spPr>
        <p:txBody>
          <a:bodyPr lIns="0" tIns="0" rIns="0" bIns="0" rtlCol="0" anchor="t">
            <a:spAutoFit/>
          </a:bodyPr>
          <a:lstStyle/>
          <a:p>
            <a:pPr marL="354586" lvl="1" indent="-177293" algn="just">
              <a:lnSpc>
                <a:spcPts val="1445"/>
              </a:lnSpc>
              <a:buFont typeface="Arial"/>
              <a:buChar char="•"/>
            </a:pPr>
            <a:r>
              <a:rPr lang="en-US" sz="1642">
                <a:solidFill>
                  <a:srgbClr val="232B43"/>
                </a:solidFill>
                <a:latin typeface="Gotham"/>
                <a:ea typeface="Gotham"/>
                <a:cs typeface="Gotham"/>
                <a:sym typeface="Gotham"/>
              </a:rPr>
              <a:t>Need to know the reason for learning</a:t>
            </a:r>
          </a:p>
          <a:p>
            <a:pPr algn="just">
              <a:lnSpc>
                <a:spcPts val="1445"/>
              </a:lnSpc>
            </a:pPr>
            <a:endParaRPr lang="en-US" sz="1642">
              <a:solidFill>
                <a:srgbClr val="232B43"/>
              </a:solidFill>
              <a:latin typeface="Gotham"/>
              <a:ea typeface="Gotham"/>
              <a:cs typeface="Gotham"/>
              <a:sym typeface="Gotham"/>
            </a:endParaRPr>
          </a:p>
          <a:p>
            <a:pPr marL="354586" lvl="1" indent="-177293" algn="just">
              <a:lnSpc>
                <a:spcPts val="1445"/>
              </a:lnSpc>
              <a:buFont typeface="Arial"/>
              <a:buChar char="•"/>
            </a:pPr>
            <a:r>
              <a:rPr lang="en-US" sz="1642">
                <a:solidFill>
                  <a:srgbClr val="232B43"/>
                </a:solidFill>
                <a:latin typeface="Gotham"/>
                <a:ea typeface="Gotham"/>
                <a:cs typeface="Gotham"/>
                <a:sym typeface="Gotham"/>
              </a:rPr>
              <a:t>Are self-directed</a:t>
            </a:r>
          </a:p>
          <a:p>
            <a:pPr algn="just">
              <a:lnSpc>
                <a:spcPts val="1445"/>
              </a:lnSpc>
            </a:pPr>
            <a:endParaRPr lang="en-US" sz="1642">
              <a:solidFill>
                <a:srgbClr val="232B43"/>
              </a:solidFill>
              <a:latin typeface="Gotham"/>
              <a:ea typeface="Gotham"/>
              <a:cs typeface="Gotham"/>
              <a:sym typeface="Gotham"/>
            </a:endParaRPr>
          </a:p>
          <a:p>
            <a:pPr marL="354586" lvl="1" indent="-177293" algn="just">
              <a:lnSpc>
                <a:spcPts val="1445"/>
              </a:lnSpc>
              <a:buFont typeface="Arial"/>
              <a:buChar char="•"/>
            </a:pPr>
            <a:r>
              <a:rPr lang="en-US" sz="1642">
                <a:solidFill>
                  <a:srgbClr val="232B43"/>
                </a:solidFill>
                <a:latin typeface="Gotham"/>
                <a:ea typeface="Gotham"/>
                <a:cs typeface="Gotham"/>
                <a:sym typeface="Gotham"/>
              </a:rPr>
              <a:t>Bring prior experience</a:t>
            </a:r>
          </a:p>
          <a:p>
            <a:pPr algn="just">
              <a:lnSpc>
                <a:spcPts val="1445"/>
              </a:lnSpc>
            </a:pPr>
            <a:endParaRPr lang="en-US" sz="1642">
              <a:solidFill>
                <a:srgbClr val="232B43"/>
              </a:solidFill>
              <a:latin typeface="Gotham"/>
              <a:ea typeface="Gotham"/>
              <a:cs typeface="Gotham"/>
              <a:sym typeface="Gotham"/>
            </a:endParaRPr>
          </a:p>
          <a:p>
            <a:pPr marL="354586" lvl="1" indent="-177293" algn="just">
              <a:lnSpc>
                <a:spcPts val="1445"/>
              </a:lnSpc>
              <a:buFont typeface="Arial"/>
              <a:buChar char="•"/>
            </a:pPr>
            <a:r>
              <a:rPr lang="en-US" sz="1642">
                <a:solidFill>
                  <a:srgbClr val="232B43"/>
                </a:solidFill>
                <a:latin typeface="Gotham"/>
                <a:ea typeface="Gotham"/>
                <a:cs typeface="Gotham"/>
                <a:sym typeface="Gotham"/>
              </a:rPr>
              <a:t>Have readiness to learn</a:t>
            </a:r>
          </a:p>
          <a:p>
            <a:pPr algn="just">
              <a:lnSpc>
                <a:spcPts val="1445"/>
              </a:lnSpc>
            </a:pPr>
            <a:endParaRPr lang="en-US" sz="1642">
              <a:solidFill>
                <a:srgbClr val="232B43"/>
              </a:solidFill>
              <a:latin typeface="Gotham"/>
              <a:ea typeface="Gotham"/>
              <a:cs typeface="Gotham"/>
              <a:sym typeface="Gotham"/>
            </a:endParaRPr>
          </a:p>
          <a:p>
            <a:pPr marL="354586" lvl="1" indent="-177293" algn="just">
              <a:lnSpc>
                <a:spcPts val="1445"/>
              </a:lnSpc>
              <a:buFont typeface="Arial"/>
              <a:buChar char="•"/>
            </a:pPr>
            <a:r>
              <a:rPr lang="en-US" sz="1642">
                <a:solidFill>
                  <a:srgbClr val="232B43"/>
                </a:solidFill>
                <a:latin typeface="Gotham"/>
                <a:ea typeface="Gotham"/>
                <a:cs typeface="Gotham"/>
                <a:sym typeface="Gotham"/>
              </a:rPr>
              <a:t>Are problem-centered</a:t>
            </a:r>
          </a:p>
          <a:p>
            <a:pPr algn="just">
              <a:lnSpc>
                <a:spcPts val="1445"/>
              </a:lnSpc>
            </a:pPr>
            <a:endParaRPr lang="en-US" sz="1642">
              <a:solidFill>
                <a:srgbClr val="232B43"/>
              </a:solidFill>
              <a:latin typeface="Gotham"/>
              <a:ea typeface="Gotham"/>
              <a:cs typeface="Gotham"/>
              <a:sym typeface="Gotham"/>
            </a:endParaRPr>
          </a:p>
          <a:p>
            <a:pPr marL="354586" lvl="1" indent="-177293" algn="just">
              <a:lnSpc>
                <a:spcPts val="1445"/>
              </a:lnSpc>
              <a:buFont typeface="Arial"/>
              <a:buChar char="•"/>
            </a:pPr>
            <a:r>
              <a:rPr lang="en-US" sz="1642">
                <a:solidFill>
                  <a:srgbClr val="232B43"/>
                </a:solidFill>
                <a:latin typeface="Gotham"/>
                <a:ea typeface="Gotham"/>
                <a:cs typeface="Gotham"/>
                <a:sym typeface="Gotham"/>
              </a:rPr>
              <a:t>Respond to internal motivators</a:t>
            </a:r>
          </a:p>
          <a:p>
            <a:pPr algn="just">
              <a:lnSpc>
                <a:spcPts val="1260"/>
              </a:lnSpc>
            </a:pPr>
            <a:endParaRPr lang="en-US" sz="1642">
              <a:solidFill>
                <a:srgbClr val="232B43"/>
              </a:solidFill>
              <a:latin typeface="Gotham"/>
              <a:ea typeface="Gotham"/>
              <a:cs typeface="Gotham"/>
              <a:sym typeface="Gotham"/>
            </a:endParaRPr>
          </a:p>
        </p:txBody>
      </p:sp>
      <p:sp>
        <p:nvSpPr>
          <p:cNvPr id="9" name="TextBox 9"/>
          <p:cNvSpPr txBox="1"/>
          <p:nvPr/>
        </p:nvSpPr>
        <p:spPr>
          <a:xfrm>
            <a:off x="1485873" y="3200482"/>
            <a:ext cx="5142919" cy="582296"/>
          </a:xfrm>
          <a:prstGeom prst="rect">
            <a:avLst/>
          </a:prstGeom>
        </p:spPr>
        <p:txBody>
          <a:bodyPr lIns="0" tIns="0" rIns="0" bIns="0" rtlCol="0" anchor="t">
            <a:spAutoFit/>
          </a:bodyPr>
          <a:lstStyle/>
          <a:p>
            <a:pPr marL="0" lvl="0" indent="0" algn="just">
              <a:lnSpc>
                <a:spcPts val="2362"/>
              </a:lnSpc>
              <a:spcBef>
                <a:spcPct val="0"/>
              </a:spcBef>
            </a:pPr>
            <a:r>
              <a:rPr lang="en-US" sz="1687" b="1">
                <a:solidFill>
                  <a:srgbClr val="232B43"/>
                </a:solidFill>
                <a:latin typeface="Gotham Bold"/>
                <a:ea typeface="Gotham Bold"/>
                <a:cs typeface="Gotham Bold"/>
                <a:sym typeface="Gotham Bold"/>
              </a:rPr>
              <a:t>Adult Learning Principles (Andragogy) </a:t>
            </a:r>
          </a:p>
          <a:p>
            <a:pPr algn="just">
              <a:lnSpc>
                <a:spcPts val="2362"/>
              </a:lnSpc>
              <a:spcBef>
                <a:spcPct val="0"/>
              </a:spcBef>
            </a:pPr>
            <a:r>
              <a:rPr lang="en-US" sz="1687" b="1">
                <a:solidFill>
                  <a:srgbClr val="232B43"/>
                </a:solidFill>
                <a:latin typeface="Gotham Bold"/>
                <a:ea typeface="Gotham Bold"/>
                <a:cs typeface="Gotham Bold"/>
                <a:sym typeface="Gotham Bold"/>
              </a:rPr>
              <a:t>Malcolm Knowles - Pedagogy vs. Andragogy</a:t>
            </a:r>
          </a:p>
        </p:txBody>
      </p:sp>
      <p:grpSp>
        <p:nvGrpSpPr>
          <p:cNvPr id="10" name="Group 10"/>
          <p:cNvGrpSpPr/>
          <p:nvPr/>
        </p:nvGrpSpPr>
        <p:grpSpPr>
          <a:xfrm>
            <a:off x="9243441" y="2453447"/>
            <a:ext cx="4487084" cy="709424"/>
            <a:chOff x="0" y="0"/>
            <a:chExt cx="2091438" cy="330664"/>
          </a:xfrm>
        </p:grpSpPr>
        <p:sp>
          <p:nvSpPr>
            <p:cNvPr id="11" name="Freeform 11"/>
            <p:cNvSpPr/>
            <p:nvPr/>
          </p:nvSpPr>
          <p:spPr>
            <a:xfrm>
              <a:off x="0" y="0"/>
              <a:ext cx="2091438" cy="330664"/>
            </a:xfrm>
            <a:custGeom>
              <a:avLst/>
              <a:gdLst/>
              <a:ahLst/>
              <a:cxnLst/>
              <a:rect l="l" t="t" r="r" b="b"/>
              <a:pathLst>
                <a:path w="2091438" h="330664">
                  <a:moveTo>
                    <a:pt x="87994" y="0"/>
                  </a:moveTo>
                  <a:lnTo>
                    <a:pt x="2003443" y="0"/>
                  </a:lnTo>
                  <a:cubicBezTo>
                    <a:pt x="2052041" y="0"/>
                    <a:pt x="2091438" y="39396"/>
                    <a:pt x="2091438" y="87994"/>
                  </a:cubicBezTo>
                  <a:lnTo>
                    <a:pt x="2091438" y="242670"/>
                  </a:lnTo>
                  <a:cubicBezTo>
                    <a:pt x="2091438" y="291267"/>
                    <a:pt x="2052041" y="330664"/>
                    <a:pt x="2003443" y="330664"/>
                  </a:cubicBezTo>
                  <a:lnTo>
                    <a:pt x="87994" y="330664"/>
                  </a:lnTo>
                  <a:cubicBezTo>
                    <a:pt x="39396" y="330664"/>
                    <a:pt x="0" y="291267"/>
                    <a:pt x="0" y="242670"/>
                  </a:cubicBezTo>
                  <a:lnTo>
                    <a:pt x="0" y="87994"/>
                  </a:lnTo>
                  <a:cubicBezTo>
                    <a:pt x="0" y="39396"/>
                    <a:pt x="39396" y="0"/>
                    <a:pt x="87994" y="0"/>
                  </a:cubicBezTo>
                  <a:close/>
                </a:path>
              </a:pathLst>
            </a:custGeom>
            <a:solidFill>
              <a:srgbClr val="232B43"/>
            </a:solidFill>
          </p:spPr>
          <p:txBody>
            <a:bodyPr/>
            <a:lstStyle/>
            <a:p>
              <a:endParaRPr lang="en-US"/>
            </a:p>
          </p:txBody>
        </p:sp>
        <p:sp>
          <p:nvSpPr>
            <p:cNvPr id="12" name="TextBox 12"/>
            <p:cNvSpPr txBox="1"/>
            <p:nvPr/>
          </p:nvSpPr>
          <p:spPr>
            <a:xfrm>
              <a:off x="0" y="-38100"/>
              <a:ext cx="2091438" cy="368764"/>
            </a:xfrm>
            <a:prstGeom prst="rect">
              <a:avLst/>
            </a:prstGeom>
          </p:spPr>
          <p:txBody>
            <a:bodyPr lIns="28705" tIns="28705" rIns="28705" bIns="28705" rtlCol="0" anchor="ctr"/>
            <a:lstStyle/>
            <a:p>
              <a:pPr algn="ctr">
                <a:lnSpc>
                  <a:spcPts val="2009"/>
                </a:lnSpc>
              </a:pPr>
              <a:endParaRPr/>
            </a:p>
          </p:txBody>
        </p:sp>
      </p:grpSp>
      <p:sp>
        <p:nvSpPr>
          <p:cNvPr id="13" name="TextBox 13"/>
          <p:cNvSpPr txBox="1"/>
          <p:nvPr/>
        </p:nvSpPr>
        <p:spPr>
          <a:xfrm>
            <a:off x="9362902" y="2491173"/>
            <a:ext cx="5436023" cy="536719"/>
          </a:xfrm>
          <a:prstGeom prst="rect">
            <a:avLst/>
          </a:prstGeom>
        </p:spPr>
        <p:txBody>
          <a:bodyPr lIns="0" tIns="0" rIns="0" bIns="0" rtlCol="0" anchor="t">
            <a:spAutoFit/>
          </a:bodyPr>
          <a:lstStyle/>
          <a:p>
            <a:pPr algn="l">
              <a:lnSpc>
                <a:spcPts val="4350"/>
              </a:lnSpc>
              <a:spcBef>
                <a:spcPct val="0"/>
              </a:spcBef>
            </a:pPr>
            <a:r>
              <a:rPr lang="en-US" sz="3107" b="1">
                <a:solidFill>
                  <a:srgbClr val="F7F7F7"/>
                </a:solidFill>
                <a:latin typeface="Gotham Bold"/>
                <a:ea typeface="Gotham Bold"/>
                <a:cs typeface="Gotham Bold"/>
                <a:sym typeface="Gotham Bold"/>
              </a:rPr>
              <a:t>The 70-20-10 Model</a:t>
            </a:r>
          </a:p>
        </p:txBody>
      </p:sp>
      <p:sp>
        <p:nvSpPr>
          <p:cNvPr id="14" name="TextBox 14"/>
          <p:cNvSpPr txBox="1"/>
          <p:nvPr/>
        </p:nvSpPr>
        <p:spPr>
          <a:xfrm>
            <a:off x="9362902" y="4060795"/>
            <a:ext cx="7216004" cy="2117784"/>
          </a:xfrm>
          <a:prstGeom prst="rect">
            <a:avLst/>
          </a:prstGeom>
        </p:spPr>
        <p:txBody>
          <a:bodyPr lIns="0" tIns="0" rIns="0" bIns="0" rtlCol="0" anchor="t">
            <a:spAutoFit/>
          </a:bodyPr>
          <a:lstStyle/>
          <a:p>
            <a:pPr marL="442089" lvl="1" indent="-221045" algn="l">
              <a:lnSpc>
                <a:spcPts val="2866"/>
              </a:lnSpc>
              <a:buFont typeface="Arial"/>
              <a:buChar char="•"/>
            </a:pPr>
            <a:r>
              <a:rPr lang="en-US" sz="2047" b="1">
                <a:solidFill>
                  <a:srgbClr val="232B43"/>
                </a:solidFill>
                <a:latin typeface="Gotham Bold"/>
                <a:ea typeface="Gotham Bold"/>
                <a:cs typeface="Gotham Bold"/>
                <a:sym typeface="Gotham Bold"/>
              </a:rPr>
              <a:t>70%  - EXPERIENCE</a:t>
            </a:r>
          </a:p>
          <a:p>
            <a:pPr marL="442089" lvl="1" indent="-221045" algn="l">
              <a:lnSpc>
                <a:spcPts val="2866"/>
              </a:lnSpc>
              <a:buFont typeface="Arial"/>
              <a:buChar char="•"/>
            </a:pPr>
            <a:r>
              <a:rPr lang="en-US" sz="2047" b="1">
                <a:solidFill>
                  <a:srgbClr val="232B43"/>
                </a:solidFill>
                <a:latin typeface="Gotham Bold"/>
                <a:ea typeface="Gotham Bold"/>
                <a:cs typeface="Gotham Bold"/>
                <a:sym typeface="Gotham Bold"/>
              </a:rPr>
              <a:t>20% - EXPOSURE</a:t>
            </a:r>
          </a:p>
          <a:p>
            <a:pPr marL="442089" lvl="1" indent="-221045" algn="l">
              <a:lnSpc>
                <a:spcPts val="2866"/>
              </a:lnSpc>
              <a:buFont typeface="Arial"/>
              <a:buChar char="•"/>
            </a:pPr>
            <a:r>
              <a:rPr lang="en-US" sz="2047" b="1">
                <a:solidFill>
                  <a:srgbClr val="232B43"/>
                </a:solidFill>
                <a:latin typeface="Gotham Bold"/>
                <a:ea typeface="Gotham Bold"/>
                <a:cs typeface="Gotham Bold"/>
                <a:sym typeface="Gotham Bold"/>
              </a:rPr>
              <a:t>10% - EDUCATION</a:t>
            </a:r>
          </a:p>
          <a:p>
            <a:pPr algn="l">
              <a:lnSpc>
                <a:spcPts val="2026"/>
              </a:lnSpc>
            </a:pPr>
            <a:endParaRPr lang="en-US" sz="2047" b="1">
              <a:solidFill>
                <a:srgbClr val="232B43"/>
              </a:solidFill>
              <a:latin typeface="Gotham Bold"/>
              <a:ea typeface="Gotham Bold"/>
              <a:cs typeface="Gotham Bold"/>
              <a:sym typeface="Gotham Bold"/>
            </a:endParaRPr>
          </a:p>
          <a:p>
            <a:pPr algn="l">
              <a:lnSpc>
                <a:spcPts val="2026"/>
              </a:lnSpc>
            </a:pPr>
            <a:r>
              <a:rPr lang="en-US" sz="1447">
                <a:solidFill>
                  <a:srgbClr val="232B43"/>
                </a:solidFill>
                <a:latin typeface="Gotham"/>
                <a:ea typeface="Gotham"/>
                <a:cs typeface="Gotham"/>
                <a:sym typeface="Gotham"/>
              </a:rPr>
              <a:t>This model emphasizes that most professional development occurs through experiential learning rather than formal training events.</a:t>
            </a:r>
          </a:p>
          <a:p>
            <a:pPr algn="l">
              <a:lnSpc>
                <a:spcPts val="2026"/>
              </a:lnSpc>
              <a:spcBef>
                <a:spcPct val="0"/>
              </a:spcBef>
            </a:pPr>
            <a:endParaRPr lang="en-US" sz="1447">
              <a:solidFill>
                <a:srgbClr val="232B43"/>
              </a:solidFill>
              <a:latin typeface="Gotham"/>
              <a:ea typeface="Gotham"/>
              <a:cs typeface="Gotham"/>
              <a:sym typeface="Gotham"/>
            </a:endParaRPr>
          </a:p>
        </p:txBody>
      </p:sp>
      <p:sp>
        <p:nvSpPr>
          <p:cNvPr id="15" name="TextBox 15"/>
          <p:cNvSpPr txBox="1"/>
          <p:nvPr/>
        </p:nvSpPr>
        <p:spPr>
          <a:xfrm>
            <a:off x="9360909" y="3324474"/>
            <a:ext cx="7098536" cy="625081"/>
          </a:xfrm>
          <a:prstGeom prst="rect">
            <a:avLst/>
          </a:prstGeom>
        </p:spPr>
        <p:txBody>
          <a:bodyPr lIns="0" tIns="0" rIns="0" bIns="0" rtlCol="0" anchor="t">
            <a:spAutoFit/>
          </a:bodyPr>
          <a:lstStyle/>
          <a:p>
            <a:pPr algn="l">
              <a:lnSpc>
                <a:spcPts val="2558"/>
              </a:lnSpc>
              <a:spcBef>
                <a:spcPct val="0"/>
              </a:spcBef>
            </a:pPr>
            <a:r>
              <a:rPr lang="en-US" sz="1827">
                <a:solidFill>
                  <a:srgbClr val="000000"/>
                </a:solidFill>
                <a:latin typeface="Gotham"/>
                <a:ea typeface="Gotham"/>
                <a:cs typeface="Gotham"/>
                <a:sym typeface="Gotham"/>
              </a:rPr>
              <a:t>Developed by Morgan McCall, Robert Eichinger, and Michael Lombardo at the Center for Creative Leadership.</a:t>
            </a:r>
          </a:p>
        </p:txBody>
      </p:sp>
      <p:sp>
        <p:nvSpPr>
          <p:cNvPr id="16" name="TextBox 16"/>
          <p:cNvSpPr txBox="1"/>
          <p:nvPr/>
        </p:nvSpPr>
        <p:spPr>
          <a:xfrm>
            <a:off x="1028700" y="952500"/>
            <a:ext cx="10538516" cy="679450"/>
          </a:xfrm>
          <a:prstGeom prst="rect">
            <a:avLst/>
          </a:prstGeom>
        </p:spPr>
        <p:txBody>
          <a:bodyPr lIns="0" tIns="0" rIns="0" bIns="0" rtlCol="0" anchor="t">
            <a:spAutoFit/>
          </a:bodyPr>
          <a:lstStyle/>
          <a:p>
            <a:pPr algn="l">
              <a:lnSpc>
                <a:spcPts val="5599"/>
              </a:lnSpc>
              <a:spcBef>
                <a:spcPct val="0"/>
              </a:spcBef>
            </a:pPr>
            <a:r>
              <a:rPr lang="en-US" sz="3999" b="1">
                <a:solidFill>
                  <a:srgbClr val="000000"/>
                </a:solidFill>
                <a:latin typeface="Gotham Bold"/>
                <a:ea typeface="Gotham Bold"/>
                <a:cs typeface="Gotham Bold"/>
                <a:sym typeface="Gotham Bold"/>
              </a:rPr>
              <a:t>Foundational principles of L&amp;D</a:t>
            </a:r>
          </a:p>
        </p:txBody>
      </p:sp>
      <p:grpSp>
        <p:nvGrpSpPr>
          <p:cNvPr id="17" name="Group 17"/>
          <p:cNvGrpSpPr/>
          <p:nvPr/>
        </p:nvGrpSpPr>
        <p:grpSpPr>
          <a:xfrm>
            <a:off x="1337471" y="6566564"/>
            <a:ext cx="15190912" cy="2691736"/>
            <a:chOff x="0" y="0"/>
            <a:chExt cx="20254549" cy="3588981"/>
          </a:xfrm>
        </p:grpSpPr>
        <p:sp>
          <p:nvSpPr>
            <p:cNvPr id="18" name="TextBox 18"/>
            <p:cNvSpPr txBox="1"/>
            <p:nvPr/>
          </p:nvSpPr>
          <p:spPr>
            <a:xfrm>
              <a:off x="2728428" y="15543"/>
              <a:ext cx="10463662" cy="858333"/>
            </a:xfrm>
            <a:prstGeom prst="rect">
              <a:avLst/>
            </a:prstGeom>
          </p:spPr>
          <p:txBody>
            <a:bodyPr lIns="0" tIns="0" rIns="0" bIns="0" rtlCol="0" anchor="t">
              <a:spAutoFit/>
            </a:bodyPr>
            <a:lstStyle/>
            <a:p>
              <a:pPr algn="l">
                <a:lnSpc>
                  <a:spcPts val="5460"/>
                </a:lnSpc>
              </a:pPr>
              <a:endParaRPr/>
            </a:p>
          </p:txBody>
        </p:sp>
        <p:sp>
          <p:nvSpPr>
            <p:cNvPr id="19" name="TextBox 19"/>
            <p:cNvSpPr txBox="1"/>
            <p:nvPr/>
          </p:nvSpPr>
          <p:spPr>
            <a:xfrm>
              <a:off x="5842424" y="-57150"/>
              <a:ext cx="9032759" cy="535152"/>
            </a:xfrm>
            <a:prstGeom prst="rect">
              <a:avLst/>
            </a:prstGeom>
          </p:spPr>
          <p:txBody>
            <a:bodyPr lIns="0" tIns="0" rIns="0" bIns="0" rtlCol="0" anchor="t">
              <a:spAutoFit/>
            </a:bodyPr>
            <a:lstStyle/>
            <a:p>
              <a:pPr algn="ctr">
                <a:lnSpc>
                  <a:spcPts val="3340"/>
                </a:lnSpc>
                <a:spcBef>
                  <a:spcPct val="0"/>
                </a:spcBef>
              </a:pPr>
              <a:r>
                <a:rPr lang="en-US" sz="2385" b="1" u="sng">
                  <a:solidFill>
                    <a:srgbClr val="232B43"/>
                  </a:solidFill>
                  <a:latin typeface="Gotham Bold"/>
                  <a:ea typeface="Gotham Bold"/>
                  <a:cs typeface="Gotham Bold"/>
                  <a:sym typeface="Gotham Bold"/>
                </a:rPr>
                <a:t>Application in L&amp;D Practice:</a:t>
              </a:r>
            </a:p>
          </p:txBody>
        </p:sp>
        <p:grpSp>
          <p:nvGrpSpPr>
            <p:cNvPr id="20" name="Group 20"/>
            <p:cNvGrpSpPr/>
            <p:nvPr/>
          </p:nvGrpSpPr>
          <p:grpSpPr>
            <a:xfrm>
              <a:off x="7602430" y="873876"/>
              <a:ext cx="1139894" cy="1097202"/>
              <a:chOff x="0" y="0"/>
              <a:chExt cx="487191" cy="468945"/>
            </a:xfrm>
          </p:grpSpPr>
          <p:sp>
            <p:nvSpPr>
              <p:cNvPr id="21" name="Freeform 21"/>
              <p:cNvSpPr/>
              <p:nvPr/>
            </p:nvSpPr>
            <p:spPr>
              <a:xfrm>
                <a:off x="0" y="0"/>
                <a:ext cx="487191" cy="468945"/>
              </a:xfrm>
              <a:custGeom>
                <a:avLst/>
                <a:gdLst/>
                <a:ahLst/>
                <a:cxnLst/>
                <a:rect l="l" t="t" r="r" b="b"/>
                <a:pathLst>
                  <a:path w="487191" h="468945">
                    <a:moveTo>
                      <a:pt x="234472" y="0"/>
                    </a:moveTo>
                    <a:lnTo>
                      <a:pt x="252719" y="0"/>
                    </a:lnTo>
                    <a:cubicBezTo>
                      <a:pt x="314905" y="0"/>
                      <a:pt x="374544" y="24703"/>
                      <a:pt x="418516" y="68675"/>
                    </a:cubicBezTo>
                    <a:cubicBezTo>
                      <a:pt x="462488" y="112647"/>
                      <a:pt x="487191" y="172286"/>
                      <a:pt x="487191" y="234472"/>
                    </a:cubicBezTo>
                    <a:lnTo>
                      <a:pt x="487191" y="234472"/>
                    </a:lnTo>
                    <a:cubicBezTo>
                      <a:pt x="487191" y="363968"/>
                      <a:pt x="382214" y="468945"/>
                      <a:pt x="252719" y="468945"/>
                    </a:cubicBezTo>
                    <a:lnTo>
                      <a:pt x="234472" y="468945"/>
                    </a:lnTo>
                    <a:cubicBezTo>
                      <a:pt x="104977" y="468945"/>
                      <a:pt x="0" y="363968"/>
                      <a:pt x="0" y="234472"/>
                    </a:cubicBezTo>
                    <a:lnTo>
                      <a:pt x="0" y="234472"/>
                    </a:lnTo>
                    <a:cubicBezTo>
                      <a:pt x="0" y="104977"/>
                      <a:pt x="104977" y="0"/>
                      <a:pt x="234472" y="0"/>
                    </a:cubicBezTo>
                    <a:close/>
                  </a:path>
                </a:pathLst>
              </a:custGeom>
              <a:solidFill>
                <a:srgbClr val="232B43"/>
              </a:solidFill>
            </p:spPr>
            <p:txBody>
              <a:bodyPr/>
              <a:lstStyle/>
              <a:p>
                <a:endParaRPr lang="en-US"/>
              </a:p>
            </p:txBody>
          </p:sp>
          <p:sp>
            <p:nvSpPr>
              <p:cNvPr id="22" name="TextBox 22"/>
              <p:cNvSpPr txBox="1"/>
              <p:nvPr/>
            </p:nvSpPr>
            <p:spPr>
              <a:xfrm>
                <a:off x="0" y="-28575"/>
                <a:ext cx="487191" cy="497520"/>
              </a:xfrm>
              <a:prstGeom prst="rect">
                <a:avLst/>
              </a:prstGeom>
            </p:spPr>
            <p:txBody>
              <a:bodyPr lIns="23478" tIns="23478" rIns="23478" bIns="23478" rtlCol="0" anchor="ctr"/>
              <a:lstStyle/>
              <a:p>
                <a:pPr algn="ctr">
                  <a:lnSpc>
                    <a:spcPts val="1103"/>
                  </a:lnSpc>
                </a:pPr>
                <a:endParaRPr/>
              </a:p>
            </p:txBody>
          </p:sp>
        </p:grpSp>
        <p:sp>
          <p:nvSpPr>
            <p:cNvPr id="23" name="Freeform 23"/>
            <p:cNvSpPr/>
            <p:nvPr/>
          </p:nvSpPr>
          <p:spPr>
            <a:xfrm>
              <a:off x="7889040" y="1052102"/>
              <a:ext cx="566674" cy="740751"/>
            </a:xfrm>
            <a:custGeom>
              <a:avLst/>
              <a:gdLst/>
              <a:ahLst/>
              <a:cxnLst/>
              <a:rect l="l" t="t" r="r" b="b"/>
              <a:pathLst>
                <a:path w="566674" h="740751">
                  <a:moveTo>
                    <a:pt x="0" y="0"/>
                  </a:moveTo>
                  <a:lnTo>
                    <a:pt x="566675" y="0"/>
                  </a:lnTo>
                  <a:lnTo>
                    <a:pt x="566675" y="740751"/>
                  </a:lnTo>
                  <a:lnTo>
                    <a:pt x="0" y="7407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4" name="TextBox 24"/>
            <p:cNvSpPr txBox="1"/>
            <p:nvPr/>
          </p:nvSpPr>
          <p:spPr>
            <a:xfrm>
              <a:off x="8982307" y="1034420"/>
              <a:ext cx="4132870" cy="758433"/>
            </a:xfrm>
            <a:prstGeom prst="rect">
              <a:avLst/>
            </a:prstGeom>
          </p:spPr>
          <p:txBody>
            <a:bodyPr lIns="0" tIns="0" rIns="0" bIns="0" rtlCol="0" anchor="t">
              <a:spAutoFit/>
            </a:bodyPr>
            <a:lstStyle/>
            <a:p>
              <a:pPr algn="l">
                <a:lnSpc>
                  <a:spcPts val="2378"/>
                </a:lnSpc>
                <a:spcBef>
                  <a:spcPct val="0"/>
                </a:spcBef>
              </a:pPr>
              <a:r>
                <a:rPr lang="en-US" sz="1699" b="1">
                  <a:solidFill>
                    <a:srgbClr val="232B43"/>
                  </a:solidFill>
                  <a:latin typeface="Gotham Bold"/>
                  <a:ea typeface="Gotham Bold"/>
                  <a:cs typeface="Gotham Bold"/>
                  <a:sym typeface="Gotham Bold"/>
                </a:rPr>
                <a:t>Include problem-solving</a:t>
              </a:r>
            </a:p>
            <a:p>
              <a:pPr algn="l">
                <a:lnSpc>
                  <a:spcPts val="2378"/>
                </a:lnSpc>
                <a:spcBef>
                  <a:spcPct val="0"/>
                </a:spcBef>
              </a:pPr>
              <a:r>
                <a:rPr lang="en-US" sz="1699" b="1">
                  <a:solidFill>
                    <a:srgbClr val="232B43"/>
                  </a:solidFill>
                  <a:latin typeface="Gotham Bold"/>
                  <a:ea typeface="Gotham Bold"/>
                  <a:cs typeface="Gotham Bold"/>
                  <a:sym typeface="Gotham Bold"/>
                </a:rPr>
                <a:t>activities and case studies</a:t>
              </a:r>
            </a:p>
          </p:txBody>
        </p:sp>
        <p:grpSp>
          <p:nvGrpSpPr>
            <p:cNvPr id="25" name="Group 25"/>
            <p:cNvGrpSpPr/>
            <p:nvPr/>
          </p:nvGrpSpPr>
          <p:grpSpPr>
            <a:xfrm>
              <a:off x="0" y="846302"/>
              <a:ext cx="1139894" cy="1097202"/>
              <a:chOff x="0" y="0"/>
              <a:chExt cx="487191" cy="468945"/>
            </a:xfrm>
          </p:grpSpPr>
          <p:sp>
            <p:nvSpPr>
              <p:cNvPr id="26" name="Freeform 26"/>
              <p:cNvSpPr/>
              <p:nvPr/>
            </p:nvSpPr>
            <p:spPr>
              <a:xfrm>
                <a:off x="0" y="0"/>
                <a:ext cx="487191" cy="468945"/>
              </a:xfrm>
              <a:custGeom>
                <a:avLst/>
                <a:gdLst/>
                <a:ahLst/>
                <a:cxnLst/>
                <a:rect l="l" t="t" r="r" b="b"/>
                <a:pathLst>
                  <a:path w="487191" h="468945">
                    <a:moveTo>
                      <a:pt x="234472" y="0"/>
                    </a:moveTo>
                    <a:lnTo>
                      <a:pt x="252719" y="0"/>
                    </a:lnTo>
                    <a:cubicBezTo>
                      <a:pt x="314905" y="0"/>
                      <a:pt x="374544" y="24703"/>
                      <a:pt x="418516" y="68675"/>
                    </a:cubicBezTo>
                    <a:cubicBezTo>
                      <a:pt x="462488" y="112647"/>
                      <a:pt x="487191" y="172286"/>
                      <a:pt x="487191" y="234472"/>
                    </a:cubicBezTo>
                    <a:lnTo>
                      <a:pt x="487191" y="234472"/>
                    </a:lnTo>
                    <a:cubicBezTo>
                      <a:pt x="487191" y="363968"/>
                      <a:pt x="382214" y="468945"/>
                      <a:pt x="252719" y="468945"/>
                    </a:cubicBezTo>
                    <a:lnTo>
                      <a:pt x="234472" y="468945"/>
                    </a:lnTo>
                    <a:cubicBezTo>
                      <a:pt x="104977" y="468945"/>
                      <a:pt x="0" y="363968"/>
                      <a:pt x="0" y="234472"/>
                    </a:cubicBezTo>
                    <a:lnTo>
                      <a:pt x="0" y="234472"/>
                    </a:lnTo>
                    <a:cubicBezTo>
                      <a:pt x="0" y="104977"/>
                      <a:pt x="104977" y="0"/>
                      <a:pt x="234472" y="0"/>
                    </a:cubicBezTo>
                    <a:close/>
                  </a:path>
                </a:pathLst>
              </a:custGeom>
              <a:solidFill>
                <a:srgbClr val="232B43"/>
              </a:solidFill>
            </p:spPr>
            <p:txBody>
              <a:bodyPr/>
              <a:lstStyle/>
              <a:p>
                <a:endParaRPr lang="en-US"/>
              </a:p>
            </p:txBody>
          </p:sp>
          <p:sp>
            <p:nvSpPr>
              <p:cNvPr id="27" name="TextBox 27"/>
              <p:cNvSpPr txBox="1"/>
              <p:nvPr/>
            </p:nvSpPr>
            <p:spPr>
              <a:xfrm>
                <a:off x="0" y="-28575"/>
                <a:ext cx="487191" cy="497520"/>
              </a:xfrm>
              <a:prstGeom prst="rect">
                <a:avLst/>
              </a:prstGeom>
            </p:spPr>
            <p:txBody>
              <a:bodyPr lIns="23478" tIns="23478" rIns="23478" bIns="23478" rtlCol="0" anchor="ctr"/>
              <a:lstStyle/>
              <a:p>
                <a:pPr algn="ctr">
                  <a:lnSpc>
                    <a:spcPts val="1103"/>
                  </a:lnSpc>
                </a:pPr>
                <a:endParaRPr/>
              </a:p>
            </p:txBody>
          </p:sp>
        </p:grpSp>
        <p:sp>
          <p:nvSpPr>
            <p:cNvPr id="28" name="Freeform 28"/>
            <p:cNvSpPr/>
            <p:nvPr/>
          </p:nvSpPr>
          <p:spPr>
            <a:xfrm>
              <a:off x="283748" y="1109781"/>
              <a:ext cx="572398" cy="572398"/>
            </a:xfrm>
            <a:custGeom>
              <a:avLst/>
              <a:gdLst/>
              <a:ahLst/>
              <a:cxnLst/>
              <a:rect l="l" t="t" r="r" b="b"/>
              <a:pathLst>
                <a:path w="572398" h="572398">
                  <a:moveTo>
                    <a:pt x="0" y="0"/>
                  </a:moveTo>
                  <a:lnTo>
                    <a:pt x="572398" y="0"/>
                  </a:lnTo>
                  <a:lnTo>
                    <a:pt x="572398" y="572398"/>
                  </a:lnTo>
                  <a:lnTo>
                    <a:pt x="0" y="57239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9" name="TextBox 29"/>
            <p:cNvSpPr txBox="1"/>
            <p:nvPr/>
          </p:nvSpPr>
          <p:spPr>
            <a:xfrm>
              <a:off x="1277786" y="1013662"/>
              <a:ext cx="5220323" cy="762230"/>
            </a:xfrm>
            <a:prstGeom prst="rect">
              <a:avLst/>
            </a:prstGeom>
          </p:spPr>
          <p:txBody>
            <a:bodyPr lIns="0" tIns="0" rIns="0" bIns="0" rtlCol="0" anchor="t">
              <a:spAutoFit/>
            </a:bodyPr>
            <a:lstStyle/>
            <a:p>
              <a:pPr algn="l">
                <a:lnSpc>
                  <a:spcPts val="2378"/>
                </a:lnSpc>
                <a:spcBef>
                  <a:spcPct val="0"/>
                </a:spcBef>
              </a:pPr>
              <a:r>
                <a:rPr lang="en-US" sz="1699" b="1">
                  <a:solidFill>
                    <a:srgbClr val="232B43"/>
                  </a:solidFill>
                  <a:latin typeface="Gotham Bold"/>
                  <a:ea typeface="Gotham Bold"/>
                  <a:cs typeface="Gotham Bold"/>
                  <a:sym typeface="Gotham Bold"/>
                </a:rPr>
                <a:t>Begin training by explaining</a:t>
              </a:r>
            </a:p>
            <a:p>
              <a:pPr algn="l">
                <a:lnSpc>
                  <a:spcPts val="2378"/>
                </a:lnSpc>
                <a:spcBef>
                  <a:spcPct val="0"/>
                </a:spcBef>
              </a:pPr>
              <a:r>
                <a:rPr lang="en-US" sz="1699" b="1">
                  <a:solidFill>
                    <a:srgbClr val="232B43"/>
                  </a:solidFill>
                  <a:latin typeface="Gotham Bold"/>
                  <a:ea typeface="Gotham Bold"/>
                  <a:cs typeface="Gotham Bold"/>
                  <a:sym typeface="Gotham Bold"/>
                </a:rPr>
                <a:t>the relevance and practical benefits</a:t>
              </a:r>
            </a:p>
          </p:txBody>
        </p:sp>
        <p:grpSp>
          <p:nvGrpSpPr>
            <p:cNvPr id="30" name="Group 30"/>
            <p:cNvGrpSpPr/>
            <p:nvPr/>
          </p:nvGrpSpPr>
          <p:grpSpPr>
            <a:xfrm>
              <a:off x="0" y="2313879"/>
              <a:ext cx="1139894" cy="1097202"/>
              <a:chOff x="0" y="0"/>
              <a:chExt cx="487191" cy="468945"/>
            </a:xfrm>
          </p:grpSpPr>
          <p:sp>
            <p:nvSpPr>
              <p:cNvPr id="31" name="Freeform 31"/>
              <p:cNvSpPr/>
              <p:nvPr/>
            </p:nvSpPr>
            <p:spPr>
              <a:xfrm>
                <a:off x="0" y="0"/>
                <a:ext cx="487191" cy="468945"/>
              </a:xfrm>
              <a:custGeom>
                <a:avLst/>
                <a:gdLst/>
                <a:ahLst/>
                <a:cxnLst/>
                <a:rect l="l" t="t" r="r" b="b"/>
                <a:pathLst>
                  <a:path w="487191" h="468945">
                    <a:moveTo>
                      <a:pt x="234472" y="0"/>
                    </a:moveTo>
                    <a:lnTo>
                      <a:pt x="252719" y="0"/>
                    </a:lnTo>
                    <a:cubicBezTo>
                      <a:pt x="314905" y="0"/>
                      <a:pt x="374544" y="24703"/>
                      <a:pt x="418516" y="68675"/>
                    </a:cubicBezTo>
                    <a:cubicBezTo>
                      <a:pt x="462488" y="112647"/>
                      <a:pt x="487191" y="172286"/>
                      <a:pt x="487191" y="234472"/>
                    </a:cubicBezTo>
                    <a:lnTo>
                      <a:pt x="487191" y="234472"/>
                    </a:lnTo>
                    <a:cubicBezTo>
                      <a:pt x="487191" y="363968"/>
                      <a:pt x="382214" y="468945"/>
                      <a:pt x="252719" y="468945"/>
                    </a:cubicBezTo>
                    <a:lnTo>
                      <a:pt x="234472" y="468945"/>
                    </a:lnTo>
                    <a:cubicBezTo>
                      <a:pt x="104977" y="468945"/>
                      <a:pt x="0" y="363968"/>
                      <a:pt x="0" y="234472"/>
                    </a:cubicBezTo>
                    <a:lnTo>
                      <a:pt x="0" y="234472"/>
                    </a:lnTo>
                    <a:cubicBezTo>
                      <a:pt x="0" y="104977"/>
                      <a:pt x="104977" y="0"/>
                      <a:pt x="234472" y="0"/>
                    </a:cubicBezTo>
                    <a:close/>
                  </a:path>
                </a:pathLst>
              </a:custGeom>
              <a:solidFill>
                <a:srgbClr val="232B43"/>
              </a:solidFill>
            </p:spPr>
            <p:txBody>
              <a:bodyPr/>
              <a:lstStyle/>
              <a:p>
                <a:endParaRPr lang="en-US"/>
              </a:p>
            </p:txBody>
          </p:sp>
          <p:sp>
            <p:nvSpPr>
              <p:cNvPr id="32" name="TextBox 32"/>
              <p:cNvSpPr txBox="1"/>
              <p:nvPr/>
            </p:nvSpPr>
            <p:spPr>
              <a:xfrm>
                <a:off x="0" y="-28575"/>
                <a:ext cx="487191" cy="497520"/>
              </a:xfrm>
              <a:prstGeom prst="rect">
                <a:avLst/>
              </a:prstGeom>
            </p:spPr>
            <p:txBody>
              <a:bodyPr lIns="23478" tIns="23478" rIns="23478" bIns="23478" rtlCol="0" anchor="ctr"/>
              <a:lstStyle/>
              <a:p>
                <a:pPr algn="ctr">
                  <a:lnSpc>
                    <a:spcPts val="1103"/>
                  </a:lnSpc>
                </a:pPr>
                <a:endParaRPr/>
              </a:p>
            </p:txBody>
          </p:sp>
        </p:grpSp>
        <p:sp>
          <p:nvSpPr>
            <p:cNvPr id="33" name="Freeform 33"/>
            <p:cNvSpPr/>
            <p:nvPr/>
          </p:nvSpPr>
          <p:spPr>
            <a:xfrm>
              <a:off x="283748" y="2575204"/>
              <a:ext cx="572398" cy="574553"/>
            </a:xfrm>
            <a:custGeom>
              <a:avLst/>
              <a:gdLst/>
              <a:ahLst/>
              <a:cxnLst/>
              <a:rect l="l" t="t" r="r" b="b"/>
              <a:pathLst>
                <a:path w="572398" h="574553">
                  <a:moveTo>
                    <a:pt x="0" y="0"/>
                  </a:moveTo>
                  <a:lnTo>
                    <a:pt x="572398" y="0"/>
                  </a:lnTo>
                  <a:lnTo>
                    <a:pt x="572398" y="574553"/>
                  </a:lnTo>
                  <a:lnTo>
                    <a:pt x="0" y="57455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34" name="TextBox 34"/>
            <p:cNvSpPr txBox="1"/>
            <p:nvPr/>
          </p:nvSpPr>
          <p:spPr>
            <a:xfrm>
              <a:off x="1253681" y="2479066"/>
              <a:ext cx="4739354" cy="762230"/>
            </a:xfrm>
            <a:prstGeom prst="rect">
              <a:avLst/>
            </a:prstGeom>
          </p:spPr>
          <p:txBody>
            <a:bodyPr lIns="0" tIns="0" rIns="0" bIns="0" rtlCol="0" anchor="t">
              <a:spAutoFit/>
            </a:bodyPr>
            <a:lstStyle/>
            <a:p>
              <a:pPr algn="l">
                <a:lnSpc>
                  <a:spcPts val="2378"/>
                </a:lnSpc>
                <a:spcBef>
                  <a:spcPct val="0"/>
                </a:spcBef>
              </a:pPr>
              <a:r>
                <a:rPr lang="en-US" sz="1699" b="1">
                  <a:solidFill>
                    <a:srgbClr val="232B43"/>
                  </a:solidFill>
                  <a:latin typeface="Gotham Bold"/>
                  <a:ea typeface="Gotham Bold"/>
                  <a:cs typeface="Gotham Bold"/>
                  <a:sym typeface="Gotham Bold"/>
                </a:rPr>
                <a:t>Create opportunities for</a:t>
              </a:r>
            </a:p>
            <a:p>
              <a:pPr algn="l">
                <a:lnSpc>
                  <a:spcPts val="2378"/>
                </a:lnSpc>
                <a:spcBef>
                  <a:spcPct val="0"/>
                </a:spcBef>
              </a:pPr>
              <a:r>
                <a:rPr lang="en-US" sz="1699" b="1">
                  <a:solidFill>
                    <a:srgbClr val="232B43"/>
                  </a:solidFill>
                  <a:latin typeface="Gotham Bold"/>
                  <a:ea typeface="Gotham Bold"/>
                  <a:cs typeface="Gotham Bold"/>
                  <a:sym typeface="Gotham Bold"/>
                </a:rPr>
                <a:t>learners to share experiences</a:t>
              </a:r>
            </a:p>
          </p:txBody>
        </p:sp>
        <p:grpSp>
          <p:nvGrpSpPr>
            <p:cNvPr id="35" name="Group 35"/>
            <p:cNvGrpSpPr/>
            <p:nvPr/>
          </p:nvGrpSpPr>
          <p:grpSpPr>
            <a:xfrm>
              <a:off x="7602430" y="2491779"/>
              <a:ext cx="1139894" cy="1097202"/>
              <a:chOff x="0" y="0"/>
              <a:chExt cx="487191" cy="468945"/>
            </a:xfrm>
          </p:grpSpPr>
          <p:sp>
            <p:nvSpPr>
              <p:cNvPr id="36" name="Freeform 36"/>
              <p:cNvSpPr/>
              <p:nvPr/>
            </p:nvSpPr>
            <p:spPr>
              <a:xfrm>
                <a:off x="0" y="0"/>
                <a:ext cx="487191" cy="468945"/>
              </a:xfrm>
              <a:custGeom>
                <a:avLst/>
                <a:gdLst/>
                <a:ahLst/>
                <a:cxnLst/>
                <a:rect l="l" t="t" r="r" b="b"/>
                <a:pathLst>
                  <a:path w="487191" h="468945">
                    <a:moveTo>
                      <a:pt x="234472" y="0"/>
                    </a:moveTo>
                    <a:lnTo>
                      <a:pt x="252719" y="0"/>
                    </a:lnTo>
                    <a:cubicBezTo>
                      <a:pt x="314905" y="0"/>
                      <a:pt x="374544" y="24703"/>
                      <a:pt x="418516" y="68675"/>
                    </a:cubicBezTo>
                    <a:cubicBezTo>
                      <a:pt x="462488" y="112647"/>
                      <a:pt x="487191" y="172286"/>
                      <a:pt x="487191" y="234472"/>
                    </a:cubicBezTo>
                    <a:lnTo>
                      <a:pt x="487191" y="234472"/>
                    </a:lnTo>
                    <a:cubicBezTo>
                      <a:pt x="487191" y="363968"/>
                      <a:pt x="382214" y="468945"/>
                      <a:pt x="252719" y="468945"/>
                    </a:cubicBezTo>
                    <a:lnTo>
                      <a:pt x="234472" y="468945"/>
                    </a:lnTo>
                    <a:cubicBezTo>
                      <a:pt x="104977" y="468945"/>
                      <a:pt x="0" y="363968"/>
                      <a:pt x="0" y="234472"/>
                    </a:cubicBezTo>
                    <a:lnTo>
                      <a:pt x="0" y="234472"/>
                    </a:lnTo>
                    <a:cubicBezTo>
                      <a:pt x="0" y="104977"/>
                      <a:pt x="104977" y="0"/>
                      <a:pt x="234472" y="0"/>
                    </a:cubicBezTo>
                    <a:close/>
                  </a:path>
                </a:pathLst>
              </a:custGeom>
              <a:solidFill>
                <a:srgbClr val="232B43"/>
              </a:solidFill>
            </p:spPr>
            <p:txBody>
              <a:bodyPr/>
              <a:lstStyle/>
              <a:p>
                <a:endParaRPr lang="en-US"/>
              </a:p>
            </p:txBody>
          </p:sp>
          <p:sp>
            <p:nvSpPr>
              <p:cNvPr id="37" name="TextBox 37"/>
              <p:cNvSpPr txBox="1"/>
              <p:nvPr/>
            </p:nvSpPr>
            <p:spPr>
              <a:xfrm>
                <a:off x="0" y="-28575"/>
                <a:ext cx="487191" cy="497520"/>
              </a:xfrm>
              <a:prstGeom prst="rect">
                <a:avLst/>
              </a:prstGeom>
            </p:spPr>
            <p:txBody>
              <a:bodyPr lIns="23478" tIns="23478" rIns="23478" bIns="23478" rtlCol="0" anchor="ctr"/>
              <a:lstStyle/>
              <a:p>
                <a:pPr algn="ctr">
                  <a:lnSpc>
                    <a:spcPts val="1103"/>
                  </a:lnSpc>
                </a:pPr>
                <a:endParaRPr/>
              </a:p>
            </p:txBody>
          </p:sp>
        </p:grpSp>
        <p:sp>
          <p:nvSpPr>
            <p:cNvPr id="38" name="Freeform 38"/>
            <p:cNvSpPr/>
            <p:nvPr/>
          </p:nvSpPr>
          <p:spPr>
            <a:xfrm>
              <a:off x="7886178" y="2755258"/>
              <a:ext cx="572398" cy="578911"/>
            </a:xfrm>
            <a:custGeom>
              <a:avLst/>
              <a:gdLst/>
              <a:ahLst/>
              <a:cxnLst/>
              <a:rect l="l" t="t" r="r" b="b"/>
              <a:pathLst>
                <a:path w="572398" h="578911">
                  <a:moveTo>
                    <a:pt x="0" y="0"/>
                  </a:moveTo>
                  <a:lnTo>
                    <a:pt x="572399" y="0"/>
                  </a:lnTo>
                  <a:lnTo>
                    <a:pt x="572399" y="578911"/>
                  </a:lnTo>
                  <a:lnTo>
                    <a:pt x="0" y="57891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39" name="TextBox 39"/>
            <p:cNvSpPr txBox="1"/>
            <p:nvPr/>
          </p:nvSpPr>
          <p:spPr>
            <a:xfrm>
              <a:off x="9039419" y="2646891"/>
              <a:ext cx="5973381" cy="758402"/>
            </a:xfrm>
            <a:prstGeom prst="rect">
              <a:avLst/>
            </a:prstGeom>
          </p:spPr>
          <p:txBody>
            <a:bodyPr lIns="0" tIns="0" rIns="0" bIns="0" rtlCol="0" anchor="t">
              <a:spAutoFit/>
            </a:bodyPr>
            <a:lstStyle/>
            <a:p>
              <a:pPr algn="just">
                <a:lnSpc>
                  <a:spcPts val="2380"/>
                </a:lnSpc>
                <a:spcBef>
                  <a:spcPct val="0"/>
                </a:spcBef>
              </a:pPr>
              <a:r>
                <a:rPr lang="en-US" sz="1700" b="1">
                  <a:solidFill>
                    <a:srgbClr val="232B43"/>
                  </a:solidFill>
                  <a:latin typeface="Gotham Bold"/>
                  <a:ea typeface="Gotham Bold"/>
                  <a:cs typeface="Gotham Bold"/>
                  <a:sym typeface="Gotham Bold"/>
                </a:rPr>
                <a:t>Allow flexibility in learning</a:t>
              </a:r>
            </a:p>
            <a:p>
              <a:pPr algn="just">
                <a:lnSpc>
                  <a:spcPts val="2380"/>
                </a:lnSpc>
                <a:spcBef>
                  <a:spcPct val="0"/>
                </a:spcBef>
              </a:pPr>
              <a:r>
                <a:rPr lang="en-US" sz="1700" b="1">
                  <a:solidFill>
                    <a:srgbClr val="232B43"/>
                  </a:solidFill>
                  <a:latin typeface="Gotham Bold"/>
                  <a:ea typeface="Gotham Bold"/>
                  <a:cs typeface="Gotham Bold"/>
                  <a:sym typeface="Gotham Bold"/>
                </a:rPr>
                <a:t>paths and self-directed options</a:t>
              </a:r>
            </a:p>
          </p:txBody>
        </p:sp>
        <p:grpSp>
          <p:nvGrpSpPr>
            <p:cNvPr id="40" name="Group 40"/>
            <p:cNvGrpSpPr/>
            <p:nvPr/>
          </p:nvGrpSpPr>
          <p:grpSpPr>
            <a:xfrm>
              <a:off x="15012800" y="1422477"/>
              <a:ext cx="1139894" cy="1097202"/>
              <a:chOff x="0" y="0"/>
              <a:chExt cx="487191" cy="468945"/>
            </a:xfrm>
          </p:grpSpPr>
          <p:sp>
            <p:nvSpPr>
              <p:cNvPr id="41" name="Freeform 41"/>
              <p:cNvSpPr/>
              <p:nvPr/>
            </p:nvSpPr>
            <p:spPr>
              <a:xfrm>
                <a:off x="0" y="0"/>
                <a:ext cx="487191" cy="468945"/>
              </a:xfrm>
              <a:custGeom>
                <a:avLst/>
                <a:gdLst/>
                <a:ahLst/>
                <a:cxnLst/>
                <a:rect l="l" t="t" r="r" b="b"/>
                <a:pathLst>
                  <a:path w="487191" h="468945">
                    <a:moveTo>
                      <a:pt x="234472" y="0"/>
                    </a:moveTo>
                    <a:lnTo>
                      <a:pt x="252719" y="0"/>
                    </a:lnTo>
                    <a:cubicBezTo>
                      <a:pt x="314905" y="0"/>
                      <a:pt x="374544" y="24703"/>
                      <a:pt x="418516" y="68675"/>
                    </a:cubicBezTo>
                    <a:cubicBezTo>
                      <a:pt x="462488" y="112647"/>
                      <a:pt x="487191" y="172286"/>
                      <a:pt x="487191" y="234472"/>
                    </a:cubicBezTo>
                    <a:lnTo>
                      <a:pt x="487191" y="234472"/>
                    </a:lnTo>
                    <a:cubicBezTo>
                      <a:pt x="487191" y="363968"/>
                      <a:pt x="382214" y="468945"/>
                      <a:pt x="252719" y="468945"/>
                    </a:cubicBezTo>
                    <a:lnTo>
                      <a:pt x="234472" y="468945"/>
                    </a:lnTo>
                    <a:cubicBezTo>
                      <a:pt x="104977" y="468945"/>
                      <a:pt x="0" y="363968"/>
                      <a:pt x="0" y="234472"/>
                    </a:cubicBezTo>
                    <a:lnTo>
                      <a:pt x="0" y="234472"/>
                    </a:lnTo>
                    <a:cubicBezTo>
                      <a:pt x="0" y="104977"/>
                      <a:pt x="104977" y="0"/>
                      <a:pt x="234472" y="0"/>
                    </a:cubicBezTo>
                    <a:close/>
                  </a:path>
                </a:pathLst>
              </a:custGeom>
              <a:solidFill>
                <a:srgbClr val="232B43"/>
              </a:solidFill>
            </p:spPr>
            <p:txBody>
              <a:bodyPr/>
              <a:lstStyle/>
              <a:p>
                <a:endParaRPr lang="en-US"/>
              </a:p>
            </p:txBody>
          </p:sp>
          <p:sp>
            <p:nvSpPr>
              <p:cNvPr id="42" name="TextBox 42"/>
              <p:cNvSpPr txBox="1"/>
              <p:nvPr/>
            </p:nvSpPr>
            <p:spPr>
              <a:xfrm>
                <a:off x="0" y="-28575"/>
                <a:ext cx="487191" cy="497520"/>
              </a:xfrm>
              <a:prstGeom prst="rect">
                <a:avLst/>
              </a:prstGeom>
            </p:spPr>
            <p:txBody>
              <a:bodyPr lIns="23478" tIns="23478" rIns="23478" bIns="23478" rtlCol="0" anchor="ctr"/>
              <a:lstStyle/>
              <a:p>
                <a:pPr algn="ctr">
                  <a:lnSpc>
                    <a:spcPts val="1103"/>
                  </a:lnSpc>
                </a:pPr>
                <a:endParaRPr/>
              </a:p>
            </p:txBody>
          </p:sp>
        </p:grpSp>
        <p:sp>
          <p:nvSpPr>
            <p:cNvPr id="43" name="Freeform 43"/>
            <p:cNvSpPr/>
            <p:nvPr/>
          </p:nvSpPr>
          <p:spPr>
            <a:xfrm>
              <a:off x="15296548" y="1684879"/>
              <a:ext cx="572398" cy="572398"/>
            </a:xfrm>
            <a:custGeom>
              <a:avLst/>
              <a:gdLst/>
              <a:ahLst/>
              <a:cxnLst/>
              <a:rect l="l" t="t" r="r" b="b"/>
              <a:pathLst>
                <a:path w="572398" h="572398">
                  <a:moveTo>
                    <a:pt x="0" y="0"/>
                  </a:moveTo>
                  <a:lnTo>
                    <a:pt x="572398" y="0"/>
                  </a:lnTo>
                  <a:lnTo>
                    <a:pt x="572398" y="572399"/>
                  </a:lnTo>
                  <a:lnTo>
                    <a:pt x="0" y="572399"/>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44" name="TextBox 44"/>
            <p:cNvSpPr txBox="1"/>
            <p:nvPr/>
          </p:nvSpPr>
          <p:spPr>
            <a:xfrm>
              <a:off x="16283031" y="1577593"/>
              <a:ext cx="3971519" cy="762230"/>
            </a:xfrm>
            <a:prstGeom prst="rect">
              <a:avLst/>
            </a:prstGeom>
          </p:spPr>
          <p:txBody>
            <a:bodyPr lIns="0" tIns="0" rIns="0" bIns="0" rtlCol="0" anchor="t">
              <a:spAutoFit/>
            </a:bodyPr>
            <a:lstStyle/>
            <a:p>
              <a:pPr algn="l">
                <a:lnSpc>
                  <a:spcPts val="2378"/>
                </a:lnSpc>
                <a:spcBef>
                  <a:spcPct val="0"/>
                </a:spcBef>
              </a:pPr>
              <a:r>
                <a:rPr lang="en-US" sz="1699" b="1">
                  <a:solidFill>
                    <a:srgbClr val="232B43"/>
                  </a:solidFill>
                  <a:latin typeface="Gotham Bold"/>
                  <a:ea typeface="Gotham Bold"/>
                  <a:cs typeface="Gotham Bold"/>
                  <a:sym typeface="Gotham Bold"/>
                </a:rPr>
                <a:t>Focus on application</a:t>
              </a:r>
            </a:p>
            <a:p>
              <a:pPr algn="l">
                <a:lnSpc>
                  <a:spcPts val="2378"/>
                </a:lnSpc>
                <a:spcBef>
                  <a:spcPct val="0"/>
                </a:spcBef>
              </a:pPr>
              <a:r>
                <a:rPr lang="en-US" sz="1699" b="1">
                  <a:solidFill>
                    <a:srgbClr val="232B43"/>
                  </a:solidFill>
                  <a:latin typeface="Gotham Bold"/>
                  <a:ea typeface="Gotham Bold"/>
                  <a:cs typeface="Gotham Bold"/>
                  <a:sym typeface="Gotham Bold"/>
                </a:rPr>
                <a:t>rather than theory alone</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924856" y="574301"/>
            <a:ext cx="2334444" cy="791204"/>
          </a:xfrm>
          <a:custGeom>
            <a:avLst/>
            <a:gdLst/>
            <a:ahLst/>
            <a:cxnLst/>
            <a:rect l="l" t="t" r="r" b="b"/>
            <a:pathLst>
              <a:path w="2334444" h="791204">
                <a:moveTo>
                  <a:pt x="0" y="0"/>
                </a:moveTo>
                <a:lnTo>
                  <a:pt x="2334444" y="0"/>
                </a:lnTo>
                <a:lnTo>
                  <a:pt x="2334444" y="791204"/>
                </a:lnTo>
                <a:lnTo>
                  <a:pt x="0" y="791204"/>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1991685" y="2316107"/>
            <a:ext cx="6971913" cy="6789306"/>
            <a:chOff x="0" y="0"/>
            <a:chExt cx="9295884" cy="9052408"/>
          </a:xfrm>
        </p:grpSpPr>
        <p:sp>
          <p:nvSpPr>
            <p:cNvPr id="4" name="Freeform 4"/>
            <p:cNvSpPr/>
            <p:nvPr/>
          </p:nvSpPr>
          <p:spPr>
            <a:xfrm>
              <a:off x="0" y="0"/>
              <a:ext cx="9052408" cy="9052408"/>
            </a:xfrm>
            <a:custGeom>
              <a:avLst/>
              <a:gdLst/>
              <a:ahLst/>
              <a:cxnLst/>
              <a:rect l="l" t="t" r="r" b="b"/>
              <a:pathLst>
                <a:path w="9052408" h="9052408">
                  <a:moveTo>
                    <a:pt x="0" y="0"/>
                  </a:moveTo>
                  <a:lnTo>
                    <a:pt x="9052408" y="0"/>
                  </a:lnTo>
                  <a:lnTo>
                    <a:pt x="9052408" y="9052408"/>
                  </a:lnTo>
                  <a:lnTo>
                    <a:pt x="0" y="90524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rot="-2785441">
              <a:off x="190783" y="1532550"/>
              <a:ext cx="3971240" cy="907809"/>
            </a:xfrm>
            <a:prstGeom prst="rect">
              <a:avLst/>
            </a:prstGeom>
          </p:spPr>
          <p:txBody>
            <a:bodyPr lIns="0" tIns="0" rIns="0" bIns="0" rtlCol="0" anchor="t">
              <a:spAutoFit/>
            </a:bodyPr>
            <a:lstStyle/>
            <a:p>
              <a:pPr algn="ctr">
                <a:lnSpc>
                  <a:spcPts val="3053"/>
                </a:lnSpc>
              </a:pPr>
              <a:r>
                <a:rPr lang="en-US" sz="2180" b="1">
                  <a:solidFill>
                    <a:srgbClr val="FFFFFF"/>
                  </a:solidFill>
                  <a:latin typeface="Gotham Bold"/>
                  <a:ea typeface="Gotham Bold"/>
                  <a:cs typeface="Gotham Bold"/>
                  <a:sym typeface="Gotham Bold"/>
                </a:rPr>
                <a:t>Concrete</a:t>
              </a:r>
            </a:p>
            <a:p>
              <a:pPr algn="ctr">
                <a:lnSpc>
                  <a:spcPts val="3053"/>
                </a:lnSpc>
              </a:pPr>
              <a:r>
                <a:rPr lang="en-US" sz="2180" b="1">
                  <a:solidFill>
                    <a:srgbClr val="FFFFFF"/>
                  </a:solidFill>
                  <a:latin typeface="Gotham Bold"/>
                  <a:ea typeface="Gotham Bold"/>
                  <a:cs typeface="Gotham Bold"/>
                  <a:sym typeface="Gotham Bold"/>
                </a:rPr>
                <a:t>Experience</a:t>
              </a:r>
            </a:p>
          </p:txBody>
        </p:sp>
        <p:sp>
          <p:nvSpPr>
            <p:cNvPr id="6" name="TextBox 6"/>
            <p:cNvSpPr txBox="1"/>
            <p:nvPr/>
          </p:nvSpPr>
          <p:spPr>
            <a:xfrm rot="3072598">
              <a:off x="4862839" y="1755170"/>
              <a:ext cx="4352132" cy="932430"/>
            </a:xfrm>
            <a:prstGeom prst="rect">
              <a:avLst/>
            </a:prstGeom>
          </p:spPr>
          <p:txBody>
            <a:bodyPr lIns="0" tIns="0" rIns="0" bIns="0" rtlCol="0" anchor="t">
              <a:spAutoFit/>
            </a:bodyPr>
            <a:lstStyle/>
            <a:p>
              <a:pPr algn="ctr">
                <a:lnSpc>
                  <a:spcPts val="3053"/>
                </a:lnSpc>
              </a:pPr>
              <a:r>
                <a:rPr lang="en-US" sz="2180" b="1">
                  <a:solidFill>
                    <a:srgbClr val="FFFFFF"/>
                  </a:solidFill>
                  <a:latin typeface="Gotham Bold"/>
                  <a:ea typeface="Gotham Bold"/>
                  <a:cs typeface="Gotham Bold"/>
                  <a:sym typeface="Gotham Bold"/>
                </a:rPr>
                <a:t>Reflective Observation</a:t>
              </a:r>
            </a:p>
          </p:txBody>
        </p:sp>
        <p:sp>
          <p:nvSpPr>
            <p:cNvPr id="7" name="TextBox 7"/>
            <p:cNvSpPr txBox="1"/>
            <p:nvPr/>
          </p:nvSpPr>
          <p:spPr>
            <a:xfrm rot="-2258449">
              <a:off x="4379182" y="6281661"/>
              <a:ext cx="5076711" cy="1206263"/>
            </a:xfrm>
            <a:prstGeom prst="rect">
              <a:avLst/>
            </a:prstGeom>
          </p:spPr>
          <p:txBody>
            <a:bodyPr lIns="0" tIns="0" rIns="0" bIns="0" rtlCol="0" anchor="t">
              <a:spAutoFit/>
            </a:bodyPr>
            <a:lstStyle/>
            <a:p>
              <a:pPr algn="ctr">
                <a:lnSpc>
                  <a:spcPts val="3053"/>
                </a:lnSpc>
              </a:pPr>
              <a:r>
                <a:rPr lang="en-US" sz="2180" b="1">
                  <a:solidFill>
                    <a:srgbClr val="FFFFFF"/>
                  </a:solidFill>
                  <a:latin typeface="Gotham Bold"/>
                  <a:ea typeface="Gotham Bold"/>
                  <a:cs typeface="Gotham Bold"/>
                  <a:sym typeface="Gotham Bold"/>
                </a:rPr>
                <a:t>Abstract Conceptualization</a:t>
              </a:r>
            </a:p>
          </p:txBody>
        </p:sp>
        <p:sp>
          <p:nvSpPr>
            <p:cNvPr id="8" name="TextBox 8"/>
            <p:cNvSpPr txBox="1"/>
            <p:nvPr/>
          </p:nvSpPr>
          <p:spPr>
            <a:xfrm rot="2920320">
              <a:off x="-11355" y="6519203"/>
              <a:ext cx="4453441" cy="1026559"/>
            </a:xfrm>
            <a:prstGeom prst="rect">
              <a:avLst/>
            </a:prstGeom>
          </p:spPr>
          <p:txBody>
            <a:bodyPr lIns="0" tIns="0" rIns="0" bIns="0" rtlCol="0" anchor="t">
              <a:spAutoFit/>
            </a:bodyPr>
            <a:lstStyle/>
            <a:p>
              <a:pPr algn="ctr">
                <a:lnSpc>
                  <a:spcPts val="3053"/>
                </a:lnSpc>
              </a:pPr>
              <a:r>
                <a:rPr lang="en-US" sz="2180" b="1">
                  <a:solidFill>
                    <a:srgbClr val="FFFFFF"/>
                  </a:solidFill>
                  <a:latin typeface="Gotham Bold"/>
                  <a:ea typeface="Gotham Bold"/>
                  <a:cs typeface="Gotham Bold"/>
                  <a:sym typeface="Gotham Bold"/>
                </a:rPr>
                <a:t>Active Experimentation</a:t>
              </a:r>
            </a:p>
          </p:txBody>
        </p:sp>
      </p:grpSp>
      <p:grpSp>
        <p:nvGrpSpPr>
          <p:cNvPr id="9" name="Group 9"/>
          <p:cNvGrpSpPr/>
          <p:nvPr/>
        </p:nvGrpSpPr>
        <p:grpSpPr>
          <a:xfrm>
            <a:off x="5139065" y="481030"/>
            <a:ext cx="6735826" cy="1095340"/>
            <a:chOff x="0" y="0"/>
            <a:chExt cx="1774045" cy="288485"/>
          </a:xfrm>
        </p:grpSpPr>
        <p:sp>
          <p:nvSpPr>
            <p:cNvPr id="10" name="Freeform 10"/>
            <p:cNvSpPr/>
            <p:nvPr/>
          </p:nvSpPr>
          <p:spPr>
            <a:xfrm>
              <a:off x="0" y="0"/>
              <a:ext cx="1774045" cy="288485"/>
            </a:xfrm>
            <a:custGeom>
              <a:avLst/>
              <a:gdLst/>
              <a:ahLst/>
              <a:cxnLst/>
              <a:rect l="l" t="t" r="r" b="b"/>
              <a:pathLst>
                <a:path w="1774045" h="288485">
                  <a:moveTo>
                    <a:pt x="58618" y="0"/>
                  </a:moveTo>
                  <a:lnTo>
                    <a:pt x="1715427" y="0"/>
                  </a:lnTo>
                  <a:cubicBezTo>
                    <a:pt x="1730974" y="0"/>
                    <a:pt x="1745883" y="6176"/>
                    <a:pt x="1756876" y="17169"/>
                  </a:cubicBezTo>
                  <a:cubicBezTo>
                    <a:pt x="1767869" y="28162"/>
                    <a:pt x="1774045" y="43071"/>
                    <a:pt x="1774045" y="58618"/>
                  </a:cubicBezTo>
                  <a:lnTo>
                    <a:pt x="1774045" y="229867"/>
                  </a:lnTo>
                  <a:cubicBezTo>
                    <a:pt x="1774045" y="262241"/>
                    <a:pt x="1747801" y="288485"/>
                    <a:pt x="1715427" y="288485"/>
                  </a:cubicBezTo>
                  <a:lnTo>
                    <a:pt x="58618" y="288485"/>
                  </a:lnTo>
                  <a:cubicBezTo>
                    <a:pt x="26244" y="288485"/>
                    <a:pt x="0" y="262241"/>
                    <a:pt x="0" y="229867"/>
                  </a:cubicBezTo>
                  <a:lnTo>
                    <a:pt x="0" y="58618"/>
                  </a:lnTo>
                  <a:cubicBezTo>
                    <a:pt x="0" y="26244"/>
                    <a:pt x="26244" y="0"/>
                    <a:pt x="58618" y="0"/>
                  </a:cubicBezTo>
                  <a:close/>
                </a:path>
              </a:pathLst>
            </a:custGeom>
            <a:solidFill>
              <a:srgbClr val="232B43"/>
            </a:solidFill>
          </p:spPr>
          <p:txBody>
            <a:bodyPr/>
            <a:lstStyle/>
            <a:p>
              <a:endParaRPr lang="en-US"/>
            </a:p>
          </p:txBody>
        </p:sp>
        <p:sp>
          <p:nvSpPr>
            <p:cNvPr id="11" name="TextBox 11"/>
            <p:cNvSpPr txBox="1"/>
            <p:nvPr/>
          </p:nvSpPr>
          <p:spPr>
            <a:xfrm>
              <a:off x="0" y="0"/>
              <a:ext cx="1774045" cy="288485"/>
            </a:xfrm>
            <a:prstGeom prst="rect">
              <a:avLst/>
            </a:prstGeom>
          </p:spPr>
          <p:txBody>
            <a:bodyPr lIns="50800" tIns="50800" rIns="50800" bIns="50800" rtlCol="0" anchor="ctr"/>
            <a:lstStyle/>
            <a:p>
              <a:pPr algn="ctr">
                <a:lnSpc>
                  <a:spcPts val="1748"/>
                </a:lnSpc>
              </a:pPr>
              <a:endParaRPr/>
            </a:p>
          </p:txBody>
        </p:sp>
      </p:grpSp>
      <p:sp>
        <p:nvSpPr>
          <p:cNvPr id="12" name="TextBox 12"/>
          <p:cNvSpPr txBox="1"/>
          <p:nvPr/>
        </p:nvSpPr>
        <p:spPr>
          <a:xfrm>
            <a:off x="4894004" y="721805"/>
            <a:ext cx="7198605" cy="547115"/>
          </a:xfrm>
          <a:prstGeom prst="rect">
            <a:avLst/>
          </a:prstGeom>
        </p:spPr>
        <p:txBody>
          <a:bodyPr lIns="0" tIns="0" rIns="0" bIns="0" rtlCol="0" anchor="t">
            <a:spAutoFit/>
          </a:bodyPr>
          <a:lstStyle/>
          <a:p>
            <a:pPr algn="ctr">
              <a:lnSpc>
                <a:spcPts val="4494"/>
              </a:lnSpc>
              <a:spcBef>
                <a:spcPct val="0"/>
              </a:spcBef>
            </a:pPr>
            <a:r>
              <a:rPr lang="en-US" sz="3210" b="1">
                <a:solidFill>
                  <a:srgbClr val="FFFFFF"/>
                </a:solidFill>
                <a:latin typeface="Gotham Bold"/>
                <a:ea typeface="Gotham Bold"/>
                <a:cs typeface="Gotham Bold"/>
                <a:sym typeface="Gotham Bold"/>
              </a:rPr>
              <a:t>Experiential Learning Cycle</a:t>
            </a:r>
          </a:p>
        </p:txBody>
      </p:sp>
      <p:grpSp>
        <p:nvGrpSpPr>
          <p:cNvPr id="13" name="Group 13"/>
          <p:cNvGrpSpPr/>
          <p:nvPr/>
        </p:nvGrpSpPr>
        <p:grpSpPr>
          <a:xfrm>
            <a:off x="9573570" y="3341767"/>
            <a:ext cx="7328611" cy="4737987"/>
            <a:chOff x="0" y="0"/>
            <a:chExt cx="9771482" cy="6317315"/>
          </a:xfrm>
        </p:grpSpPr>
        <p:grpSp>
          <p:nvGrpSpPr>
            <p:cNvPr id="14" name="Group 14"/>
            <p:cNvGrpSpPr/>
            <p:nvPr/>
          </p:nvGrpSpPr>
          <p:grpSpPr>
            <a:xfrm>
              <a:off x="0" y="0"/>
              <a:ext cx="9771482" cy="6317315"/>
              <a:chOff x="0" y="0"/>
              <a:chExt cx="1873423" cy="1211178"/>
            </a:xfrm>
          </p:grpSpPr>
          <p:sp>
            <p:nvSpPr>
              <p:cNvPr id="15" name="Freeform 15"/>
              <p:cNvSpPr/>
              <p:nvPr/>
            </p:nvSpPr>
            <p:spPr>
              <a:xfrm>
                <a:off x="0" y="0"/>
                <a:ext cx="1873423" cy="1211178"/>
              </a:xfrm>
              <a:custGeom>
                <a:avLst/>
                <a:gdLst/>
                <a:ahLst/>
                <a:cxnLst/>
                <a:rect l="l" t="t" r="r" b="b"/>
                <a:pathLst>
                  <a:path w="1873423" h="1211178">
                    <a:moveTo>
                      <a:pt x="55508" y="0"/>
                    </a:moveTo>
                    <a:lnTo>
                      <a:pt x="1817915" y="0"/>
                    </a:lnTo>
                    <a:cubicBezTo>
                      <a:pt x="1832637" y="0"/>
                      <a:pt x="1846756" y="5848"/>
                      <a:pt x="1857166" y="16258"/>
                    </a:cubicBezTo>
                    <a:cubicBezTo>
                      <a:pt x="1867575" y="26668"/>
                      <a:pt x="1873423" y="40786"/>
                      <a:pt x="1873423" y="55508"/>
                    </a:cubicBezTo>
                    <a:lnTo>
                      <a:pt x="1873423" y="1155670"/>
                    </a:lnTo>
                    <a:cubicBezTo>
                      <a:pt x="1873423" y="1186326"/>
                      <a:pt x="1848572" y="1211178"/>
                      <a:pt x="1817915" y="1211178"/>
                    </a:cubicBezTo>
                    <a:lnTo>
                      <a:pt x="55508" y="1211178"/>
                    </a:lnTo>
                    <a:cubicBezTo>
                      <a:pt x="24852" y="1211178"/>
                      <a:pt x="0" y="1186326"/>
                      <a:pt x="0" y="1155670"/>
                    </a:cubicBezTo>
                    <a:lnTo>
                      <a:pt x="0" y="55508"/>
                    </a:lnTo>
                    <a:cubicBezTo>
                      <a:pt x="0" y="24852"/>
                      <a:pt x="24852" y="0"/>
                      <a:pt x="55508" y="0"/>
                    </a:cubicBezTo>
                    <a:close/>
                  </a:path>
                </a:pathLst>
              </a:custGeom>
              <a:solidFill>
                <a:srgbClr val="F5F1EC"/>
              </a:solidFill>
            </p:spPr>
            <p:txBody>
              <a:bodyPr/>
              <a:lstStyle/>
              <a:p>
                <a:endParaRPr lang="en-US"/>
              </a:p>
            </p:txBody>
          </p:sp>
          <p:sp>
            <p:nvSpPr>
              <p:cNvPr id="16" name="TextBox 16"/>
              <p:cNvSpPr txBox="1"/>
              <p:nvPr/>
            </p:nvSpPr>
            <p:spPr>
              <a:xfrm>
                <a:off x="0" y="0"/>
                <a:ext cx="1873423" cy="1211178"/>
              </a:xfrm>
              <a:prstGeom prst="rect">
                <a:avLst/>
              </a:prstGeom>
            </p:spPr>
            <p:txBody>
              <a:bodyPr lIns="50800" tIns="50800" rIns="50800" bIns="50800" rtlCol="0" anchor="ctr"/>
              <a:lstStyle/>
              <a:p>
                <a:pPr algn="ctr">
                  <a:lnSpc>
                    <a:spcPts val="1748"/>
                  </a:lnSpc>
                </a:pPr>
                <a:endParaRPr/>
              </a:p>
            </p:txBody>
          </p:sp>
        </p:grpSp>
        <p:sp>
          <p:nvSpPr>
            <p:cNvPr id="17" name="TextBox 17"/>
            <p:cNvSpPr txBox="1"/>
            <p:nvPr/>
          </p:nvSpPr>
          <p:spPr>
            <a:xfrm>
              <a:off x="495016" y="455056"/>
              <a:ext cx="8815638" cy="5230640"/>
            </a:xfrm>
            <a:prstGeom prst="rect">
              <a:avLst/>
            </a:prstGeom>
          </p:spPr>
          <p:txBody>
            <a:bodyPr lIns="0" tIns="0" rIns="0" bIns="0" rtlCol="0" anchor="t">
              <a:spAutoFit/>
            </a:bodyPr>
            <a:lstStyle/>
            <a:p>
              <a:pPr algn="l">
                <a:lnSpc>
                  <a:spcPts val="3262"/>
                </a:lnSpc>
              </a:pPr>
              <a:r>
                <a:rPr lang="en-US" sz="2330" b="1">
                  <a:solidFill>
                    <a:srgbClr val="232B43"/>
                  </a:solidFill>
                  <a:latin typeface="Gotham Bold"/>
                  <a:ea typeface="Gotham Bold"/>
                  <a:cs typeface="Gotham Bold"/>
                  <a:sym typeface="Gotham Bold"/>
                </a:rPr>
                <a:t>David Kolb's Experiential Learning Cycle describes learning as a four-stage process:</a:t>
              </a:r>
            </a:p>
            <a:p>
              <a:pPr algn="l">
                <a:lnSpc>
                  <a:spcPts val="3262"/>
                </a:lnSpc>
              </a:pPr>
              <a:endParaRPr lang="en-US" sz="2330" b="1">
                <a:solidFill>
                  <a:srgbClr val="232B43"/>
                </a:solidFill>
                <a:latin typeface="Gotham Bold"/>
                <a:ea typeface="Gotham Bold"/>
                <a:cs typeface="Gotham Bold"/>
                <a:sym typeface="Gotham Bold"/>
              </a:endParaRPr>
            </a:p>
            <a:p>
              <a:pPr marL="503173" lvl="1" indent="-251587" algn="l">
                <a:lnSpc>
                  <a:spcPts val="3262"/>
                </a:lnSpc>
                <a:buFont typeface="Arial"/>
                <a:buChar char="•"/>
              </a:pPr>
              <a:r>
                <a:rPr lang="en-US" sz="2330" b="1">
                  <a:solidFill>
                    <a:srgbClr val="232B43"/>
                  </a:solidFill>
                  <a:latin typeface="Gotham Bold"/>
                  <a:ea typeface="Gotham Bold"/>
                  <a:cs typeface="Gotham Bold"/>
                  <a:sym typeface="Gotham Bold"/>
                </a:rPr>
                <a:t>Concrete Experience</a:t>
              </a:r>
            </a:p>
            <a:p>
              <a:pPr algn="l">
                <a:lnSpc>
                  <a:spcPts val="3262"/>
                </a:lnSpc>
              </a:pPr>
              <a:endParaRPr lang="en-US" sz="2330" b="1">
                <a:solidFill>
                  <a:srgbClr val="232B43"/>
                </a:solidFill>
                <a:latin typeface="Gotham Bold"/>
                <a:ea typeface="Gotham Bold"/>
                <a:cs typeface="Gotham Bold"/>
                <a:sym typeface="Gotham Bold"/>
              </a:endParaRPr>
            </a:p>
            <a:p>
              <a:pPr marL="503173" lvl="1" indent="-251587" algn="l">
                <a:lnSpc>
                  <a:spcPts val="3262"/>
                </a:lnSpc>
                <a:buFont typeface="Arial"/>
                <a:buChar char="•"/>
              </a:pPr>
              <a:r>
                <a:rPr lang="en-US" sz="2330" b="1">
                  <a:solidFill>
                    <a:srgbClr val="232B43"/>
                  </a:solidFill>
                  <a:latin typeface="Gotham Bold"/>
                  <a:ea typeface="Gotham Bold"/>
                  <a:cs typeface="Gotham Bold"/>
                  <a:sym typeface="Gotham Bold"/>
                </a:rPr>
                <a:t>Reflective Observation</a:t>
              </a:r>
            </a:p>
            <a:p>
              <a:pPr algn="l">
                <a:lnSpc>
                  <a:spcPts val="3262"/>
                </a:lnSpc>
              </a:pPr>
              <a:endParaRPr lang="en-US" sz="2330" b="1">
                <a:solidFill>
                  <a:srgbClr val="232B43"/>
                </a:solidFill>
                <a:latin typeface="Gotham Bold"/>
                <a:ea typeface="Gotham Bold"/>
                <a:cs typeface="Gotham Bold"/>
                <a:sym typeface="Gotham Bold"/>
              </a:endParaRPr>
            </a:p>
            <a:p>
              <a:pPr marL="503173" lvl="1" indent="-251587" algn="l">
                <a:lnSpc>
                  <a:spcPts val="3262"/>
                </a:lnSpc>
                <a:buFont typeface="Arial"/>
                <a:buChar char="•"/>
              </a:pPr>
              <a:r>
                <a:rPr lang="en-US" sz="2330" b="1">
                  <a:solidFill>
                    <a:srgbClr val="232B43"/>
                  </a:solidFill>
                  <a:latin typeface="Gotham Bold"/>
                  <a:ea typeface="Gotham Bold"/>
                  <a:cs typeface="Gotham Bold"/>
                  <a:sym typeface="Gotham Bold"/>
                </a:rPr>
                <a:t>Abstract Conceptualization</a:t>
              </a:r>
            </a:p>
            <a:p>
              <a:pPr algn="l">
                <a:lnSpc>
                  <a:spcPts val="3262"/>
                </a:lnSpc>
              </a:pPr>
              <a:endParaRPr lang="en-US" sz="2330" b="1">
                <a:solidFill>
                  <a:srgbClr val="232B43"/>
                </a:solidFill>
                <a:latin typeface="Gotham Bold"/>
                <a:ea typeface="Gotham Bold"/>
                <a:cs typeface="Gotham Bold"/>
                <a:sym typeface="Gotham Bold"/>
              </a:endParaRPr>
            </a:p>
            <a:p>
              <a:pPr marL="503173" lvl="1" indent="-251587" algn="l">
                <a:lnSpc>
                  <a:spcPts val="3262"/>
                </a:lnSpc>
                <a:buFont typeface="Arial"/>
                <a:buChar char="•"/>
              </a:pPr>
              <a:r>
                <a:rPr lang="en-US" sz="2330" b="1">
                  <a:solidFill>
                    <a:srgbClr val="232B43"/>
                  </a:solidFill>
                  <a:latin typeface="Gotham Bold"/>
                  <a:ea typeface="Gotham Bold"/>
                  <a:cs typeface="Gotham Bold"/>
                  <a:sym typeface="Gotham Bold"/>
                </a:rPr>
                <a:t>Active Experimentation</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97475" y="3292386"/>
            <a:ext cx="15500620" cy="5398498"/>
            <a:chOff x="0" y="0"/>
            <a:chExt cx="2271052" cy="790954"/>
          </a:xfrm>
        </p:grpSpPr>
        <p:sp>
          <p:nvSpPr>
            <p:cNvPr id="3" name="Freeform 3"/>
            <p:cNvSpPr/>
            <p:nvPr/>
          </p:nvSpPr>
          <p:spPr>
            <a:xfrm>
              <a:off x="0" y="0"/>
              <a:ext cx="2271052" cy="790954"/>
            </a:xfrm>
            <a:custGeom>
              <a:avLst/>
              <a:gdLst/>
              <a:ahLst/>
              <a:cxnLst/>
              <a:rect l="l" t="t" r="r" b="b"/>
              <a:pathLst>
                <a:path w="2271052" h="790954">
                  <a:moveTo>
                    <a:pt x="25472" y="0"/>
                  </a:moveTo>
                  <a:lnTo>
                    <a:pt x="2245580" y="0"/>
                  </a:lnTo>
                  <a:cubicBezTo>
                    <a:pt x="2252335" y="0"/>
                    <a:pt x="2258814" y="2684"/>
                    <a:pt x="2263591" y="7461"/>
                  </a:cubicBezTo>
                  <a:cubicBezTo>
                    <a:pt x="2268368" y="12238"/>
                    <a:pt x="2271052" y="18717"/>
                    <a:pt x="2271052" y="25472"/>
                  </a:cubicBezTo>
                  <a:lnTo>
                    <a:pt x="2271052" y="765481"/>
                  </a:lnTo>
                  <a:cubicBezTo>
                    <a:pt x="2271052" y="772237"/>
                    <a:pt x="2268368" y="778716"/>
                    <a:pt x="2263591" y="783493"/>
                  </a:cubicBezTo>
                  <a:cubicBezTo>
                    <a:pt x="2258814" y="788270"/>
                    <a:pt x="2252335" y="790954"/>
                    <a:pt x="2245580" y="790954"/>
                  </a:cubicBezTo>
                  <a:lnTo>
                    <a:pt x="25472" y="790954"/>
                  </a:lnTo>
                  <a:cubicBezTo>
                    <a:pt x="18717" y="790954"/>
                    <a:pt x="12238" y="788270"/>
                    <a:pt x="7461" y="783493"/>
                  </a:cubicBezTo>
                  <a:cubicBezTo>
                    <a:pt x="2684" y="778716"/>
                    <a:pt x="0" y="772237"/>
                    <a:pt x="0" y="765481"/>
                  </a:cubicBezTo>
                  <a:lnTo>
                    <a:pt x="0" y="25472"/>
                  </a:lnTo>
                  <a:cubicBezTo>
                    <a:pt x="0" y="18717"/>
                    <a:pt x="2684" y="12238"/>
                    <a:pt x="7461" y="7461"/>
                  </a:cubicBezTo>
                  <a:cubicBezTo>
                    <a:pt x="12238" y="2684"/>
                    <a:pt x="18717" y="0"/>
                    <a:pt x="25472" y="0"/>
                  </a:cubicBezTo>
                  <a:close/>
                </a:path>
              </a:pathLst>
            </a:custGeom>
            <a:solidFill>
              <a:srgbClr val="505873"/>
            </a:solidFill>
          </p:spPr>
          <p:txBody>
            <a:bodyPr/>
            <a:lstStyle/>
            <a:p>
              <a:endParaRPr lang="en-US"/>
            </a:p>
          </p:txBody>
        </p:sp>
        <p:sp>
          <p:nvSpPr>
            <p:cNvPr id="4" name="TextBox 4"/>
            <p:cNvSpPr txBox="1"/>
            <p:nvPr/>
          </p:nvSpPr>
          <p:spPr>
            <a:xfrm>
              <a:off x="0" y="-47625"/>
              <a:ext cx="2271052" cy="838579"/>
            </a:xfrm>
            <a:prstGeom prst="rect">
              <a:avLst/>
            </a:prstGeom>
          </p:spPr>
          <p:txBody>
            <a:bodyPr lIns="50800" tIns="50800" rIns="50800" bIns="50800" rtlCol="0" anchor="ctr"/>
            <a:lstStyle/>
            <a:p>
              <a:pPr algn="ctr">
                <a:lnSpc>
                  <a:spcPts val="2609"/>
                </a:lnSpc>
              </a:pPr>
              <a:endParaRPr/>
            </a:p>
          </p:txBody>
        </p:sp>
      </p:grpSp>
      <p:sp>
        <p:nvSpPr>
          <p:cNvPr id="5" name="Freeform 5"/>
          <p:cNvSpPr/>
          <p:nvPr/>
        </p:nvSpPr>
        <p:spPr>
          <a:xfrm flipH="1">
            <a:off x="-3158002" y="1331154"/>
            <a:ext cx="7273636" cy="7273636"/>
          </a:xfrm>
          <a:custGeom>
            <a:avLst/>
            <a:gdLst/>
            <a:ahLst/>
            <a:cxnLst/>
            <a:rect l="l" t="t" r="r" b="b"/>
            <a:pathLst>
              <a:path w="7273636" h="7273636">
                <a:moveTo>
                  <a:pt x="7273637" y="0"/>
                </a:moveTo>
                <a:lnTo>
                  <a:pt x="0" y="0"/>
                </a:lnTo>
                <a:lnTo>
                  <a:pt x="0" y="7273636"/>
                </a:lnTo>
                <a:lnTo>
                  <a:pt x="7273637" y="7273636"/>
                </a:lnTo>
                <a:lnTo>
                  <a:pt x="7273637" y="0"/>
                </a:lnTo>
                <a:close/>
              </a:path>
            </a:pathLst>
          </a:custGeom>
          <a:blipFill>
            <a:blip r:embed="rId2">
              <a:alphaModFix amt="2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4868559" y="1028700"/>
            <a:ext cx="2390741" cy="810285"/>
          </a:xfrm>
          <a:custGeom>
            <a:avLst/>
            <a:gdLst/>
            <a:ahLst/>
            <a:cxnLst/>
            <a:rect l="l" t="t" r="r" b="b"/>
            <a:pathLst>
              <a:path w="2390741" h="810285">
                <a:moveTo>
                  <a:pt x="0" y="0"/>
                </a:moveTo>
                <a:lnTo>
                  <a:pt x="2390741" y="0"/>
                </a:lnTo>
                <a:lnTo>
                  <a:pt x="2390741" y="810285"/>
                </a:lnTo>
                <a:lnTo>
                  <a:pt x="0" y="810285"/>
                </a:lnTo>
                <a:lnTo>
                  <a:pt x="0" y="0"/>
                </a:lnTo>
                <a:close/>
              </a:path>
            </a:pathLst>
          </a:custGeom>
          <a:blipFill>
            <a:blip r:embed="rId4"/>
            <a:stretch>
              <a:fillRect/>
            </a:stretch>
          </a:blipFill>
        </p:spPr>
        <p:txBody>
          <a:bodyPr/>
          <a:lstStyle/>
          <a:p>
            <a:endParaRPr lang="en-US"/>
          </a:p>
        </p:txBody>
      </p:sp>
      <p:grpSp>
        <p:nvGrpSpPr>
          <p:cNvPr id="7" name="Group 7"/>
          <p:cNvGrpSpPr/>
          <p:nvPr/>
        </p:nvGrpSpPr>
        <p:grpSpPr>
          <a:xfrm>
            <a:off x="1028700" y="1028700"/>
            <a:ext cx="8115300" cy="1041187"/>
            <a:chOff x="0" y="0"/>
            <a:chExt cx="2137363" cy="274222"/>
          </a:xfrm>
        </p:grpSpPr>
        <p:sp>
          <p:nvSpPr>
            <p:cNvPr id="8" name="Freeform 8"/>
            <p:cNvSpPr/>
            <p:nvPr/>
          </p:nvSpPr>
          <p:spPr>
            <a:xfrm>
              <a:off x="0" y="0"/>
              <a:ext cx="2137363" cy="274222"/>
            </a:xfrm>
            <a:custGeom>
              <a:avLst/>
              <a:gdLst/>
              <a:ahLst/>
              <a:cxnLst/>
              <a:rect l="l" t="t" r="r" b="b"/>
              <a:pathLst>
                <a:path w="2137363" h="274222">
                  <a:moveTo>
                    <a:pt x="48654" y="0"/>
                  </a:moveTo>
                  <a:lnTo>
                    <a:pt x="2088710" y="0"/>
                  </a:lnTo>
                  <a:cubicBezTo>
                    <a:pt x="2115580" y="0"/>
                    <a:pt x="2137363" y="21783"/>
                    <a:pt x="2137363" y="48654"/>
                  </a:cubicBezTo>
                  <a:lnTo>
                    <a:pt x="2137363" y="225569"/>
                  </a:lnTo>
                  <a:cubicBezTo>
                    <a:pt x="2137363" y="252439"/>
                    <a:pt x="2115580" y="274222"/>
                    <a:pt x="2088710" y="274222"/>
                  </a:cubicBezTo>
                  <a:lnTo>
                    <a:pt x="48654" y="274222"/>
                  </a:lnTo>
                  <a:cubicBezTo>
                    <a:pt x="21783" y="274222"/>
                    <a:pt x="0" y="252439"/>
                    <a:pt x="0" y="225569"/>
                  </a:cubicBezTo>
                  <a:lnTo>
                    <a:pt x="0" y="48654"/>
                  </a:lnTo>
                  <a:cubicBezTo>
                    <a:pt x="0" y="21783"/>
                    <a:pt x="21783" y="0"/>
                    <a:pt x="48654" y="0"/>
                  </a:cubicBezTo>
                  <a:close/>
                </a:path>
              </a:pathLst>
            </a:custGeom>
            <a:solidFill>
              <a:srgbClr val="232B43"/>
            </a:solidFill>
          </p:spPr>
          <p:txBody>
            <a:bodyPr/>
            <a:lstStyle/>
            <a:p>
              <a:endParaRPr lang="en-US"/>
            </a:p>
          </p:txBody>
        </p:sp>
        <p:sp>
          <p:nvSpPr>
            <p:cNvPr id="9" name="TextBox 9"/>
            <p:cNvSpPr txBox="1"/>
            <p:nvPr/>
          </p:nvSpPr>
          <p:spPr>
            <a:xfrm>
              <a:off x="0" y="-47625"/>
              <a:ext cx="2137363" cy="321847"/>
            </a:xfrm>
            <a:prstGeom prst="rect">
              <a:avLst/>
            </a:prstGeom>
          </p:spPr>
          <p:txBody>
            <a:bodyPr lIns="50800" tIns="50800" rIns="50800" bIns="50800" rtlCol="0" anchor="ctr"/>
            <a:lstStyle/>
            <a:p>
              <a:pPr algn="ctr">
                <a:lnSpc>
                  <a:spcPts val="2609"/>
                </a:lnSpc>
              </a:pPr>
              <a:endParaRPr/>
            </a:p>
          </p:txBody>
        </p:sp>
      </p:grpSp>
      <p:sp>
        <p:nvSpPr>
          <p:cNvPr id="10" name="TextBox 10"/>
          <p:cNvSpPr txBox="1"/>
          <p:nvPr/>
        </p:nvSpPr>
        <p:spPr>
          <a:xfrm>
            <a:off x="1197475" y="2288195"/>
            <a:ext cx="15500620" cy="1102227"/>
          </a:xfrm>
          <a:prstGeom prst="rect">
            <a:avLst/>
          </a:prstGeom>
        </p:spPr>
        <p:txBody>
          <a:bodyPr lIns="0" tIns="0" rIns="0" bIns="0" rtlCol="0" anchor="t">
            <a:spAutoFit/>
          </a:bodyPr>
          <a:lstStyle/>
          <a:p>
            <a:pPr algn="just">
              <a:lnSpc>
                <a:spcPts val="2247"/>
              </a:lnSpc>
            </a:pPr>
            <a:r>
              <a:rPr lang="en-US" sz="1605">
                <a:solidFill>
                  <a:srgbClr val="232B43"/>
                </a:solidFill>
                <a:latin typeface="Gotham"/>
                <a:ea typeface="Gotham"/>
                <a:cs typeface="Gotham"/>
                <a:sym typeface="Gotham"/>
              </a:rPr>
              <a:t>While recent research has questioned the empirical basis for rigid learning style classifications, understanding learning preferences can still help create more inclusive learning experiences:</a:t>
            </a:r>
          </a:p>
          <a:p>
            <a:pPr algn="just">
              <a:lnSpc>
                <a:spcPts val="2247"/>
              </a:lnSpc>
            </a:pPr>
            <a:r>
              <a:rPr lang="en-US" sz="1605">
                <a:solidFill>
                  <a:srgbClr val="232B43"/>
                </a:solidFill>
                <a:latin typeface="Gotham"/>
                <a:ea typeface="Gotham"/>
                <a:cs typeface="Gotham"/>
                <a:sym typeface="Gotham"/>
              </a:rPr>
              <a:t> </a:t>
            </a:r>
          </a:p>
          <a:p>
            <a:pPr algn="just">
              <a:lnSpc>
                <a:spcPts val="2247"/>
              </a:lnSpc>
              <a:spcBef>
                <a:spcPct val="0"/>
              </a:spcBef>
            </a:pPr>
            <a:endParaRPr lang="en-US" sz="1605">
              <a:solidFill>
                <a:srgbClr val="232B43"/>
              </a:solidFill>
              <a:latin typeface="Gotham"/>
              <a:ea typeface="Gotham"/>
              <a:cs typeface="Gotham"/>
              <a:sym typeface="Gotham"/>
            </a:endParaRPr>
          </a:p>
        </p:txBody>
      </p:sp>
      <p:grpSp>
        <p:nvGrpSpPr>
          <p:cNvPr id="11" name="Group 11"/>
          <p:cNvGrpSpPr/>
          <p:nvPr/>
        </p:nvGrpSpPr>
        <p:grpSpPr>
          <a:xfrm>
            <a:off x="1870002" y="3646829"/>
            <a:ext cx="14043734" cy="4649357"/>
            <a:chOff x="0" y="0"/>
            <a:chExt cx="18724978" cy="6199143"/>
          </a:xfrm>
        </p:grpSpPr>
        <p:sp>
          <p:nvSpPr>
            <p:cNvPr id="12" name="Freeform 12"/>
            <p:cNvSpPr/>
            <p:nvPr/>
          </p:nvSpPr>
          <p:spPr>
            <a:xfrm>
              <a:off x="0" y="333653"/>
              <a:ext cx="5882306" cy="3326176"/>
            </a:xfrm>
            <a:custGeom>
              <a:avLst/>
              <a:gdLst/>
              <a:ahLst/>
              <a:cxnLst/>
              <a:rect l="l" t="t" r="r" b="b"/>
              <a:pathLst>
                <a:path w="5882306" h="3326176">
                  <a:moveTo>
                    <a:pt x="0" y="0"/>
                  </a:moveTo>
                  <a:lnTo>
                    <a:pt x="5882306" y="0"/>
                  </a:lnTo>
                  <a:lnTo>
                    <a:pt x="5882306" y="3326176"/>
                  </a:lnTo>
                  <a:lnTo>
                    <a:pt x="0" y="332617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3" name="TextBox 13"/>
            <p:cNvSpPr txBox="1"/>
            <p:nvPr/>
          </p:nvSpPr>
          <p:spPr>
            <a:xfrm>
              <a:off x="317288" y="3952460"/>
              <a:ext cx="5275172" cy="1579903"/>
            </a:xfrm>
            <a:prstGeom prst="rect">
              <a:avLst/>
            </a:prstGeom>
          </p:spPr>
          <p:txBody>
            <a:bodyPr lIns="0" tIns="0" rIns="0" bIns="0" rtlCol="0" anchor="t">
              <a:spAutoFit/>
            </a:bodyPr>
            <a:lstStyle/>
            <a:p>
              <a:pPr algn="ctr">
                <a:lnSpc>
                  <a:spcPts val="3201"/>
                </a:lnSpc>
                <a:spcBef>
                  <a:spcPct val="0"/>
                </a:spcBef>
              </a:pPr>
              <a:r>
                <a:rPr lang="en-US" sz="2286" b="1">
                  <a:solidFill>
                    <a:srgbClr val="FFFFFF"/>
                  </a:solidFill>
                  <a:latin typeface="Gotham Bold"/>
                  <a:ea typeface="Gotham Bold"/>
                  <a:cs typeface="Gotham Bold"/>
                  <a:sym typeface="Gotham Bold"/>
                </a:rPr>
                <a:t>Visual</a:t>
              </a:r>
              <a:r>
                <a:rPr lang="en-US" sz="2286">
                  <a:solidFill>
                    <a:srgbClr val="FFFFFF"/>
                  </a:solidFill>
                  <a:latin typeface="Gotham"/>
                  <a:ea typeface="Gotham"/>
                  <a:cs typeface="Gotham"/>
                  <a:sym typeface="Gotham"/>
                </a:rPr>
                <a:t> learners prefer diagrams, charts, and visual demonstrations</a:t>
              </a:r>
            </a:p>
          </p:txBody>
        </p:sp>
        <p:sp>
          <p:nvSpPr>
            <p:cNvPr id="14" name="Freeform 14"/>
            <p:cNvSpPr/>
            <p:nvPr/>
          </p:nvSpPr>
          <p:spPr>
            <a:xfrm>
              <a:off x="7960431" y="0"/>
              <a:ext cx="3891115" cy="3891115"/>
            </a:xfrm>
            <a:custGeom>
              <a:avLst/>
              <a:gdLst/>
              <a:ahLst/>
              <a:cxnLst/>
              <a:rect l="l" t="t" r="r" b="b"/>
              <a:pathLst>
                <a:path w="3891115" h="3891115">
                  <a:moveTo>
                    <a:pt x="0" y="0"/>
                  </a:moveTo>
                  <a:lnTo>
                    <a:pt x="3891114" y="0"/>
                  </a:lnTo>
                  <a:lnTo>
                    <a:pt x="3891114" y="3891115"/>
                  </a:lnTo>
                  <a:lnTo>
                    <a:pt x="0" y="389111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5" name="TextBox 15"/>
            <p:cNvSpPr txBox="1"/>
            <p:nvPr/>
          </p:nvSpPr>
          <p:spPr>
            <a:xfrm>
              <a:off x="7268048" y="4193271"/>
              <a:ext cx="4364752" cy="2005872"/>
            </a:xfrm>
            <a:prstGeom prst="rect">
              <a:avLst/>
            </a:prstGeom>
          </p:spPr>
          <p:txBody>
            <a:bodyPr lIns="0" tIns="0" rIns="0" bIns="0" rtlCol="0" anchor="t">
              <a:spAutoFit/>
            </a:bodyPr>
            <a:lstStyle/>
            <a:p>
              <a:pPr algn="ctr">
                <a:lnSpc>
                  <a:spcPts val="3048"/>
                </a:lnSpc>
                <a:spcBef>
                  <a:spcPct val="0"/>
                </a:spcBef>
              </a:pPr>
              <a:r>
                <a:rPr lang="en-US" sz="2177">
                  <a:solidFill>
                    <a:srgbClr val="FFFFFF"/>
                  </a:solidFill>
                  <a:latin typeface="Gotham"/>
                  <a:ea typeface="Gotham"/>
                  <a:cs typeface="Gotham"/>
                  <a:sym typeface="Gotham"/>
                </a:rPr>
                <a:t> </a:t>
              </a:r>
              <a:r>
                <a:rPr lang="en-US" sz="2177" b="1">
                  <a:solidFill>
                    <a:srgbClr val="FFFFFF"/>
                  </a:solidFill>
                  <a:latin typeface="Gotham Bold"/>
                  <a:ea typeface="Gotham Bold"/>
                  <a:cs typeface="Gotham Bold"/>
                  <a:sym typeface="Gotham Bold"/>
                </a:rPr>
                <a:t>Auditory</a:t>
              </a:r>
              <a:r>
                <a:rPr lang="en-US" sz="2177">
                  <a:solidFill>
                    <a:srgbClr val="FFFFFF"/>
                  </a:solidFill>
                  <a:latin typeface="Gotham"/>
                  <a:ea typeface="Gotham"/>
                  <a:cs typeface="Gotham"/>
                  <a:sym typeface="Gotham"/>
                </a:rPr>
                <a:t> learners learn best through verbal instructions and discussions</a:t>
              </a:r>
            </a:p>
          </p:txBody>
        </p:sp>
        <p:sp>
          <p:nvSpPr>
            <p:cNvPr id="16" name="Freeform 16"/>
            <p:cNvSpPr/>
            <p:nvPr/>
          </p:nvSpPr>
          <p:spPr>
            <a:xfrm>
              <a:off x="14040336" y="333653"/>
              <a:ext cx="4338491" cy="3557462"/>
            </a:xfrm>
            <a:custGeom>
              <a:avLst/>
              <a:gdLst/>
              <a:ahLst/>
              <a:cxnLst/>
              <a:rect l="l" t="t" r="r" b="b"/>
              <a:pathLst>
                <a:path w="4338491" h="3557462">
                  <a:moveTo>
                    <a:pt x="0" y="0"/>
                  </a:moveTo>
                  <a:lnTo>
                    <a:pt x="4338492" y="0"/>
                  </a:lnTo>
                  <a:lnTo>
                    <a:pt x="4338492" y="3557462"/>
                  </a:lnTo>
                  <a:lnTo>
                    <a:pt x="0" y="355746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7" name="TextBox 17"/>
            <p:cNvSpPr txBox="1"/>
            <p:nvPr/>
          </p:nvSpPr>
          <p:spPr>
            <a:xfrm>
              <a:off x="13859611" y="4193271"/>
              <a:ext cx="4865368" cy="1534656"/>
            </a:xfrm>
            <a:prstGeom prst="rect">
              <a:avLst/>
            </a:prstGeom>
          </p:spPr>
          <p:txBody>
            <a:bodyPr lIns="0" tIns="0" rIns="0" bIns="0" rtlCol="0" anchor="t">
              <a:spAutoFit/>
            </a:bodyPr>
            <a:lstStyle/>
            <a:p>
              <a:pPr algn="ctr">
                <a:lnSpc>
                  <a:spcPts val="3103"/>
                </a:lnSpc>
                <a:spcBef>
                  <a:spcPct val="0"/>
                </a:spcBef>
              </a:pPr>
              <a:r>
                <a:rPr lang="en-US" sz="2216" b="1">
                  <a:solidFill>
                    <a:srgbClr val="FFFFFF"/>
                  </a:solidFill>
                  <a:latin typeface="Gotham Bold"/>
                  <a:ea typeface="Gotham Bold"/>
                  <a:cs typeface="Gotham Bold"/>
                  <a:sym typeface="Gotham Bold"/>
                </a:rPr>
                <a:t>Kinesthetic</a:t>
              </a:r>
              <a:r>
                <a:rPr lang="en-US" sz="2216">
                  <a:solidFill>
                    <a:srgbClr val="FFFFFF"/>
                  </a:solidFill>
                  <a:latin typeface="Gotham"/>
                  <a:ea typeface="Gotham"/>
                  <a:cs typeface="Gotham"/>
                  <a:sym typeface="Gotham"/>
                </a:rPr>
                <a:t> learners prefer hands-on activities and physical engagement</a:t>
              </a:r>
            </a:p>
          </p:txBody>
        </p:sp>
      </p:grpSp>
      <p:sp>
        <p:nvSpPr>
          <p:cNvPr id="18" name="TextBox 18"/>
          <p:cNvSpPr txBox="1"/>
          <p:nvPr/>
        </p:nvSpPr>
        <p:spPr>
          <a:xfrm>
            <a:off x="1498526" y="1274004"/>
            <a:ext cx="7175648" cy="448310"/>
          </a:xfrm>
          <a:prstGeom prst="rect">
            <a:avLst/>
          </a:prstGeom>
        </p:spPr>
        <p:txBody>
          <a:bodyPr lIns="0" tIns="0" rIns="0" bIns="0" rtlCol="0" anchor="t">
            <a:spAutoFit/>
          </a:bodyPr>
          <a:lstStyle/>
          <a:p>
            <a:pPr algn="l">
              <a:lnSpc>
                <a:spcPts val="3640"/>
              </a:lnSpc>
              <a:spcBef>
                <a:spcPct val="0"/>
              </a:spcBef>
            </a:pPr>
            <a:r>
              <a:rPr lang="en-US" sz="2600" b="1">
                <a:solidFill>
                  <a:srgbClr val="FFFFFF"/>
                </a:solidFill>
                <a:latin typeface="Gotham Bold"/>
                <a:ea typeface="Gotham Bold"/>
                <a:cs typeface="Gotham Bold"/>
                <a:sym typeface="Gotham Bold"/>
              </a:rPr>
              <a:t>Learning Styles and Multiple Intelligences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376024" y="8809435"/>
            <a:ext cx="2648748" cy="897730"/>
          </a:xfrm>
          <a:custGeom>
            <a:avLst/>
            <a:gdLst/>
            <a:ahLst/>
            <a:cxnLst/>
            <a:rect l="l" t="t" r="r" b="b"/>
            <a:pathLst>
              <a:path w="2648748" h="897730">
                <a:moveTo>
                  <a:pt x="0" y="0"/>
                </a:moveTo>
                <a:lnTo>
                  <a:pt x="2648748" y="0"/>
                </a:lnTo>
                <a:lnTo>
                  <a:pt x="2648748" y="897730"/>
                </a:lnTo>
                <a:lnTo>
                  <a:pt x="0" y="89773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843695" y="562107"/>
            <a:ext cx="6277258" cy="897255"/>
            <a:chOff x="0" y="0"/>
            <a:chExt cx="8369677" cy="1196340"/>
          </a:xfrm>
        </p:grpSpPr>
        <p:grpSp>
          <p:nvGrpSpPr>
            <p:cNvPr id="4" name="Group 4"/>
            <p:cNvGrpSpPr/>
            <p:nvPr/>
          </p:nvGrpSpPr>
          <p:grpSpPr>
            <a:xfrm>
              <a:off x="0" y="0"/>
              <a:ext cx="8016929" cy="1196340"/>
              <a:chOff x="0" y="0"/>
              <a:chExt cx="2239650" cy="334216"/>
            </a:xfrm>
          </p:grpSpPr>
          <p:sp>
            <p:nvSpPr>
              <p:cNvPr id="5" name="Freeform 5"/>
              <p:cNvSpPr/>
              <p:nvPr/>
            </p:nvSpPr>
            <p:spPr>
              <a:xfrm>
                <a:off x="0" y="0"/>
                <a:ext cx="2239650" cy="334216"/>
              </a:xfrm>
              <a:custGeom>
                <a:avLst/>
                <a:gdLst/>
                <a:ahLst/>
                <a:cxnLst/>
                <a:rect l="l" t="t" r="r" b="b"/>
                <a:pathLst>
                  <a:path w="2239650" h="334216">
                    <a:moveTo>
                      <a:pt x="45836" y="0"/>
                    </a:moveTo>
                    <a:lnTo>
                      <a:pt x="2193814" y="0"/>
                    </a:lnTo>
                    <a:cubicBezTo>
                      <a:pt x="2219129" y="0"/>
                      <a:pt x="2239650" y="20522"/>
                      <a:pt x="2239650" y="45836"/>
                    </a:cubicBezTo>
                    <a:lnTo>
                      <a:pt x="2239650" y="288379"/>
                    </a:lnTo>
                    <a:cubicBezTo>
                      <a:pt x="2239650" y="313694"/>
                      <a:pt x="2219129" y="334216"/>
                      <a:pt x="2193814" y="334216"/>
                    </a:cubicBezTo>
                    <a:lnTo>
                      <a:pt x="45836" y="334216"/>
                    </a:lnTo>
                    <a:cubicBezTo>
                      <a:pt x="20522" y="334216"/>
                      <a:pt x="0" y="313694"/>
                      <a:pt x="0" y="288379"/>
                    </a:cubicBezTo>
                    <a:lnTo>
                      <a:pt x="0" y="45836"/>
                    </a:lnTo>
                    <a:cubicBezTo>
                      <a:pt x="0" y="20522"/>
                      <a:pt x="20522" y="0"/>
                      <a:pt x="45836" y="0"/>
                    </a:cubicBezTo>
                    <a:close/>
                  </a:path>
                </a:pathLst>
              </a:custGeom>
              <a:solidFill>
                <a:srgbClr val="232B43"/>
              </a:solidFill>
            </p:spPr>
            <p:txBody>
              <a:bodyPr/>
              <a:lstStyle/>
              <a:p>
                <a:endParaRPr lang="en-US"/>
              </a:p>
            </p:txBody>
          </p:sp>
          <p:sp>
            <p:nvSpPr>
              <p:cNvPr id="6" name="TextBox 6"/>
              <p:cNvSpPr txBox="1"/>
              <p:nvPr/>
            </p:nvSpPr>
            <p:spPr>
              <a:xfrm>
                <a:off x="0" y="-28575"/>
                <a:ext cx="2239650" cy="362791"/>
              </a:xfrm>
              <a:prstGeom prst="rect">
                <a:avLst/>
              </a:prstGeom>
            </p:spPr>
            <p:txBody>
              <a:bodyPr lIns="48876" tIns="48876" rIns="48876" bIns="48876" rtlCol="0" anchor="ctr"/>
              <a:lstStyle/>
              <a:p>
                <a:pPr algn="ctr">
                  <a:lnSpc>
                    <a:spcPts val="1885"/>
                  </a:lnSpc>
                </a:pPr>
                <a:endParaRPr/>
              </a:p>
            </p:txBody>
          </p:sp>
        </p:grpSp>
        <p:sp>
          <p:nvSpPr>
            <p:cNvPr id="7" name="TextBox 7"/>
            <p:cNvSpPr txBox="1"/>
            <p:nvPr/>
          </p:nvSpPr>
          <p:spPr>
            <a:xfrm>
              <a:off x="661824" y="49107"/>
              <a:ext cx="7707853" cy="880533"/>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Gotham"/>
                  <a:ea typeface="Gotham"/>
                  <a:cs typeface="Gotham"/>
                  <a:sym typeface="Gotham"/>
                </a:rPr>
                <a:t>Learning Design</a:t>
              </a:r>
            </a:p>
          </p:txBody>
        </p:sp>
      </p:grpSp>
      <p:grpSp>
        <p:nvGrpSpPr>
          <p:cNvPr id="8" name="Group 8"/>
          <p:cNvGrpSpPr/>
          <p:nvPr/>
        </p:nvGrpSpPr>
        <p:grpSpPr>
          <a:xfrm>
            <a:off x="862803" y="2108464"/>
            <a:ext cx="16161969" cy="6070073"/>
            <a:chOff x="0" y="0"/>
            <a:chExt cx="21549292" cy="8093430"/>
          </a:xfrm>
        </p:grpSpPr>
        <p:sp>
          <p:nvSpPr>
            <p:cNvPr id="9" name="TextBox 9"/>
            <p:cNvSpPr txBox="1"/>
            <p:nvPr/>
          </p:nvSpPr>
          <p:spPr>
            <a:xfrm>
              <a:off x="0" y="-76200"/>
              <a:ext cx="7899147" cy="805181"/>
            </a:xfrm>
            <a:prstGeom prst="rect">
              <a:avLst/>
            </a:prstGeom>
          </p:spPr>
          <p:txBody>
            <a:bodyPr lIns="0" tIns="0" rIns="0" bIns="0" rtlCol="0" anchor="t">
              <a:spAutoFit/>
            </a:bodyPr>
            <a:lstStyle/>
            <a:p>
              <a:pPr algn="l">
                <a:lnSpc>
                  <a:spcPts val="5039"/>
                </a:lnSpc>
                <a:spcBef>
                  <a:spcPct val="0"/>
                </a:spcBef>
              </a:pPr>
              <a:r>
                <a:rPr lang="en-US" sz="3599" b="1">
                  <a:solidFill>
                    <a:srgbClr val="232B43"/>
                  </a:solidFill>
                  <a:latin typeface="Gotham Bold"/>
                  <a:ea typeface="Gotham Bold"/>
                  <a:cs typeface="Gotham Bold"/>
                  <a:sym typeface="Gotham Bold"/>
                </a:rPr>
                <a:t> The ADDIE Model</a:t>
              </a:r>
            </a:p>
          </p:txBody>
        </p:sp>
        <p:sp>
          <p:nvSpPr>
            <p:cNvPr id="10" name="AutoShape 10"/>
            <p:cNvSpPr/>
            <p:nvPr/>
          </p:nvSpPr>
          <p:spPr>
            <a:xfrm>
              <a:off x="221196" y="889000"/>
              <a:ext cx="5046656" cy="0"/>
            </a:xfrm>
            <a:prstGeom prst="line">
              <a:avLst/>
            </a:prstGeom>
            <a:ln w="76200" cap="flat">
              <a:solidFill>
                <a:srgbClr val="232B43"/>
              </a:solidFill>
              <a:prstDash val="solid"/>
              <a:headEnd type="none" w="sm" len="sm"/>
              <a:tailEnd type="none" w="sm" len="sm"/>
            </a:ln>
          </p:spPr>
          <p:txBody>
            <a:bodyPr/>
            <a:lstStyle/>
            <a:p>
              <a:endParaRPr lang="en-US"/>
            </a:p>
          </p:txBody>
        </p:sp>
        <p:sp>
          <p:nvSpPr>
            <p:cNvPr id="11" name="TextBox 11"/>
            <p:cNvSpPr txBox="1"/>
            <p:nvPr/>
          </p:nvSpPr>
          <p:spPr>
            <a:xfrm>
              <a:off x="477726" y="2414639"/>
              <a:ext cx="15188574" cy="4886496"/>
            </a:xfrm>
            <a:prstGeom prst="rect">
              <a:avLst/>
            </a:prstGeom>
          </p:spPr>
          <p:txBody>
            <a:bodyPr lIns="0" tIns="0" rIns="0" bIns="0" rtlCol="0" anchor="t">
              <a:spAutoFit/>
            </a:bodyPr>
            <a:lstStyle/>
            <a:p>
              <a:pPr algn="l">
                <a:lnSpc>
                  <a:spcPts val="5924"/>
                </a:lnSpc>
              </a:pPr>
              <a:r>
                <a:rPr lang="en-US" sz="4231">
                  <a:solidFill>
                    <a:srgbClr val="000000"/>
                  </a:solidFill>
                  <a:latin typeface="Gotham"/>
                  <a:ea typeface="Gotham"/>
                  <a:cs typeface="Gotham"/>
                  <a:sym typeface="Gotham"/>
                </a:rPr>
                <a:t>Analysis</a:t>
              </a:r>
            </a:p>
            <a:p>
              <a:pPr algn="l">
                <a:lnSpc>
                  <a:spcPts val="5924"/>
                </a:lnSpc>
              </a:pPr>
              <a:r>
                <a:rPr lang="en-US" sz="4231">
                  <a:solidFill>
                    <a:srgbClr val="000000"/>
                  </a:solidFill>
                  <a:latin typeface="Gotham"/>
                  <a:ea typeface="Gotham"/>
                  <a:cs typeface="Gotham"/>
                  <a:sym typeface="Gotham"/>
                </a:rPr>
                <a:t>Design</a:t>
              </a:r>
            </a:p>
            <a:p>
              <a:pPr marL="0" lvl="0" indent="0" algn="l">
                <a:lnSpc>
                  <a:spcPts val="5924"/>
                </a:lnSpc>
                <a:spcBef>
                  <a:spcPct val="0"/>
                </a:spcBef>
              </a:pPr>
              <a:r>
                <a:rPr lang="en-US" sz="4231">
                  <a:solidFill>
                    <a:srgbClr val="000000"/>
                  </a:solidFill>
                  <a:latin typeface="Gotham"/>
                  <a:ea typeface="Gotham"/>
                  <a:cs typeface="Gotham"/>
                  <a:sym typeface="Gotham"/>
                </a:rPr>
                <a:t>Devel</a:t>
              </a:r>
              <a:r>
                <a:rPr lang="en-US" sz="4231" u="none" strike="noStrike">
                  <a:solidFill>
                    <a:srgbClr val="000000"/>
                  </a:solidFill>
                  <a:latin typeface="Gotham"/>
                  <a:ea typeface="Gotham"/>
                  <a:cs typeface="Gotham"/>
                  <a:sym typeface="Gotham"/>
                </a:rPr>
                <a:t>opment</a:t>
              </a:r>
            </a:p>
            <a:p>
              <a:pPr marL="0" lvl="0" indent="0" algn="l">
                <a:lnSpc>
                  <a:spcPts val="5924"/>
                </a:lnSpc>
                <a:spcBef>
                  <a:spcPct val="0"/>
                </a:spcBef>
              </a:pPr>
              <a:r>
                <a:rPr lang="en-US" sz="4231" u="none" strike="noStrike">
                  <a:solidFill>
                    <a:srgbClr val="000000"/>
                  </a:solidFill>
                  <a:latin typeface="Gotham"/>
                  <a:ea typeface="Gotham"/>
                  <a:cs typeface="Gotham"/>
                  <a:sym typeface="Gotham"/>
                </a:rPr>
                <a:t>Implementation</a:t>
              </a:r>
            </a:p>
            <a:p>
              <a:pPr marL="0" lvl="0" indent="0" algn="l">
                <a:lnSpc>
                  <a:spcPts val="5924"/>
                </a:lnSpc>
                <a:spcBef>
                  <a:spcPct val="0"/>
                </a:spcBef>
              </a:pPr>
              <a:r>
                <a:rPr lang="en-US" sz="4231" u="none" strike="noStrike">
                  <a:solidFill>
                    <a:srgbClr val="000000"/>
                  </a:solidFill>
                  <a:latin typeface="Gotham"/>
                  <a:ea typeface="Gotham"/>
                  <a:cs typeface="Gotham"/>
                  <a:sym typeface="Gotham"/>
                </a:rPr>
                <a:t>Evaluation</a:t>
              </a:r>
            </a:p>
          </p:txBody>
        </p:sp>
        <p:sp>
          <p:nvSpPr>
            <p:cNvPr id="12" name="TextBox 12"/>
            <p:cNvSpPr txBox="1"/>
            <p:nvPr/>
          </p:nvSpPr>
          <p:spPr>
            <a:xfrm>
              <a:off x="221196" y="1138752"/>
              <a:ext cx="21328096" cy="1234612"/>
            </a:xfrm>
            <a:prstGeom prst="rect">
              <a:avLst/>
            </a:prstGeom>
          </p:spPr>
          <p:txBody>
            <a:bodyPr lIns="0" tIns="0" rIns="0" bIns="0" rtlCol="0" anchor="t">
              <a:spAutoFit/>
            </a:bodyPr>
            <a:lstStyle/>
            <a:p>
              <a:pPr algn="l">
                <a:lnSpc>
                  <a:spcPts val="2512"/>
                </a:lnSpc>
                <a:spcBef>
                  <a:spcPct val="0"/>
                </a:spcBef>
              </a:pPr>
              <a:r>
                <a:rPr lang="en-US" sz="1794">
                  <a:solidFill>
                    <a:srgbClr val="000000"/>
                  </a:solidFill>
                  <a:latin typeface="Gotham"/>
                  <a:ea typeface="Gotham"/>
                  <a:cs typeface="Gotham"/>
                  <a:sym typeface="Gotham"/>
                </a:rPr>
                <a:t>The ADDIE Model provides learning professionals with a structured approach to creating effective educational interventions by identifying needs, crafting appropriate solutions, developing materials, delivering the training, and measuring outcomes to ensure continuous improvement.</a:t>
              </a:r>
            </a:p>
          </p:txBody>
        </p:sp>
        <p:sp>
          <p:nvSpPr>
            <p:cNvPr id="13" name="TextBox 13"/>
            <p:cNvSpPr txBox="1"/>
            <p:nvPr/>
          </p:nvSpPr>
          <p:spPr>
            <a:xfrm>
              <a:off x="221196" y="7707535"/>
              <a:ext cx="18755717" cy="385896"/>
            </a:xfrm>
            <a:prstGeom prst="rect">
              <a:avLst/>
            </a:prstGeom>
          </p:spPr>
          <p:txBody>
            <a:bodyPr lIns="0" tIns="0" rIns="0" bIns="0" rtlCol="0" anchor="t">
              <a:spAutoFit/>
            </a:bodyPr>
            <a:lstStyle/>
            <a:p>
              <a:pPr algn="ctr">
                <a:lnSpc>
                  <a:spcPts val="2422"/>
                </a:lnSpc>
                <a:spcBef>
                  <a:spcPct val="0"/>
                </a:spcBef>
              </a:pPr>
              <a:r>
                <a:rPr lang="en-US" sz="1730">
                  <a:solidFill>
                    <a:srgbClr val="000000"/>
                  </a:solidFill>
                  <a:latin typeface="Gotham"/>
                  <a:ea typeface="Gotham"/>
                  <a:cs typeface="Gotham"/>
                  <a:sym typeface="Gotham"/>
                </a:rPr>
                <a:t>While ADDIE is often depicted as linear, modern applications treat it as an iterative process with feedback loops between phases.</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982464" y="888335"/>
            <a:ext cx="2276836" cy="771679"/>
          </a:xfrm>
          <a:custGeom>
            <a:avLst/>
            <a:gdLst/>
            <a:ahLst/>
            <a:cxnLst/>
            <a:rect l="l" t="t" r="r" b="b"/>
            <a:pathLst>
              <a:path w="2276836" h="771679">
                <a:moveTo>
                  <a:pt x="0" y="0"/>
                </a:moveTo>
                <a:lnTo>
                  <a:pt x="2276836" y="0"/>
                </a:lnTo>
                <a:lnTo>
                  <a:pt x="2276836" y="771680"/>
                </a:lnTo>
                <a:lnTo>
                  <a:pt x="0" y="771680"/>
                </a:lnTo>
                <a:lnTo>
                  <a:pt x="0" y="0"/>
                </a:lnTo>
                <a:close/>
              </a:path>
            </a:pathLst>
          </a:custGeom>
          <a:blipFill>
            <a:blip r:embed="rId2"/>
            <a:stretch>
              <a:fillRect/>
            </a:stretch>
          </a:blipFill>
        </p:spPr>
        <p:txBody>
          <a:bodyPr/>
          <a:lstStyle/>
          <a:p>
            <a:endParaRPr lang="en-US"/>
          </a:p>
        </p:txBody>
      </p:sp>
      <p:sp>
        <p:nvSpPr>
          <p:cNvPr id="3" name="AutoShape 3"/>
          <p:cNvSpPr/>
          <p:nvPr/>
        </p:nvSpPr>
        <p:spPr>
          <a:xfrm>
            <a:off x="1028700" y="1847615"/>
            <a:ext cx="3619095" cy="0"/>
          </a:xfrm>
          <a:prstGeom prst="line">
            <a:avLst/>
          </a:prstGeom>
          <a:ln w="57150" cap="flat">
            <a:solidFill>
              <a:srgbClr val="232B43"/>
            </a:solidFill>
            <a:prstDash val="solid"/>
            <a:headEnd type="none" w="sm" len="sm"/>
            <a:tailEnd type="none" w="sm" len="sm"/>
          </a:ln>
        </p:spPr>
        <p:txBody>
          <a:bodyPr/>
          <a:lstStyle/>
          <a:p>
            <a:endParaRPr lang="en-US"/>
          </a:p>
        </p:txBody>
      </p:sp>
      <p:grpSp>
        <p:nvGrpSpPr>
          <p:cNvPr id="4" name="Group 4"/>
          <p:cNvGrpSpPr/>
          <p:nvPr/>
        </p:nvGrpSpPr>
        <p:grpSpPr>
          <a:xfrm>
            <a:off x="1597909" y="2944497"/>
            <a:ext cx="15092182" cy="6177704"/>
            <a:chOff x="0" y="0"/>
            <a:chExt cx="3974896" cy="1627050"/>
          </a:xfrm>
        </p:grpSpPr>
        <p:sp>
          <p:nvSpPr>
            <p:cNvPr id="5" name="Freeform 5"/>
            <p:cNvSpPr/>
            <p:nvPr/>
          </p:nvSpPr>
          <p:spPr>
            <a:xfrm>
              <a:off x="0" y="0"/>
              <a:ext cx="3974896" cy="1627050"/>
            </a:xfrm>
            <a:custGeom>
              <a:avLst/>
              <a:gdLst/>
              <a:ahLst/>
              <a:cxnLst/>
              <a:rect l="l" t="t" r="r" b="b"/>
              <a:pathLst>
                <a:path w="3974896" h="1627050">
                  <a:moveTo>
                    <a:pt x="0" y="0"/>
                  </a:moveTo>
                  <a:lnTo>
                    <a:pt x="3974896" y="0"/>
                  </a:lnTo>
                  <a:lnTo>
                    <a:pt x="3974896" y="1627050"/>
                  </a:lnTo>
                  <a:lnTo>
                    <a:pt x="0" y="1627050"/>
                  </a:lnTo>
                  <a:close/>
                </a:path>
              </a:pathLst>
            </a:custGeom>
            <a:solidFill>
              <a:srgbClr val="F5F1EC"/>
            </a:solidFill>
          </p:spPr>
          <p:txBody>
            <a:bodyPr/>
            <a:lstStyle/>
            <a:p>
              <a:endParaRPr lang="en-US"/>
            </a:p>
          </p:txBody>
        </p:sp>
        <p:sp>
          <p:nvSpPr>
            <p:cNvPr id="6" name="TextBox 6"/>
            <p:cNvSpPr txBox="1"/>
            <p:nvPr/>
          </p:nvSpPr>
          <p:spPr>
            <a:xfrm>
              <a:off x="0" y="-47625"/>
              <a:ext cx="3974896" cy="1674675"/>
            </a:xfrm>
            <a:prstGeom prst="rect">
              <a:avLst/>
            </a:prstGeom>
          </p:spPr>
          <p:txBody>
            <a:bodyPr lIns="50800" tIns="50800" rIns="50800" bIns="50800" rtlCol="0" anchor="ctr"/>
            <a:lstStyle/>
            <a:p>
              <a:pPr algn="ctr">
                <a:lnSpc>
                  <a:spcPts val="2609"/>
                </a:lnSpc>
              </a:pPr>
              <a:endParaRPr/>
            </a:p>
          </p:txBody>
        </p:sp>
      </p:grpSp>
      <p:grpSp>
        <p:nvGrpSpPr>
          <p:cNvPr id="7" name="Group 7"/>
          <p:cNvGrpSpPr/>
          <p:nvPr/>
        </p:nvGrpSpPr>
        <p:grpSpPr>
          <a:xfrm>
            <a:off x="5674621" y="3470904"/>
            <a:ext cx="10694173" cy="5156237"/>
            <a:chOff x="0" y="0"/>
            <a:chExt cx="14258897" cy="6874982"/>
          </a:xfrm>
        </p:grpSpPr>
        <p:sp>
          <p:nvSpPr>
            <p:cNvPr id="8" name="Freeform 8"/>
            <p:cNvSpPr/>
            <p:nvPr/>
          </p:nvSpPr>
          <p:spPr>
            <a:xfrm>
              <a:off x="0" y="95516"/>
              <a:ext cx="6807888" cy="6779467"/>
            </a:xfrm>
            <a:custGeom>
              <a:avLst/>
              <a:gdLst/>
              <a:ahLst/>
              <a:cxnLst/>
              <a:rect l="l" t="t" r="r" b="b"/>
              <a:pathLst>
                <a:path w="6807888" h="6779467">
                  <a:moveTo>
                    <a:pt x="0" y="0"/>
                  </a:moveTo>
                  <a:lnTo>
                    <a:pt x="6807888" y="0"/>
                  </a:lnTo>
                  <a:lnTo>
                    <a:pt x="6807888" y="6779466"/>
                  </a:lnTo>
                  <a:lnTo>
                    <a:pt x="0" y="6779466"/>
                  </a:lnTo>
                  <a:lnTo>
                    <a:pt x="0" y="0"/>
                  </a:lnTo>
                  <a:close/>
                </a:path>
              </a:pathLst>
            </a:custGeom>
            <a:blipFill>
              <a:blip r:embed="rId3">
                <a:extLst>
                  <a:ext uri="{96DAC541-7B7A-43D3-8B79-37D633B846F1}">
                    <asvg:svgBlip xmlns:asvg="http://schemas.microsoft.com/office/drawing/2016/SVG/main" r:embed="rId4"/>
                  </a:ext>
                </a:extLst>
              </a:blip>
              <a:stretch>
                <a:fillRect t="-209" b="-209"/>
              </a:stretch>
            </a:blipFill>
          </p:spPr>
          <p:txBody>
            <a:bodyPr/>
            <a:lstStyle/>
            <a:p>
              <a:endParaRPr lang="en-US"/>
            </a:p>
          </p:txBody>
        </p:sp>
        <p:sp>
          <p:nvSpPr>
            <p:cNvPr id="9" name="TextBox 9"/>
            <p:cNvSpPr txBox="1"/>
            <p:nvPr/>
          </p:nvSpPr>
          <p:spPr>
            <a:xfrm>
              <a:off x="642004" y="323462"/>
              <a:ext cx="346755" cy="1071223"/>
            </a:xfrm>
            <a:prstGeom prst="rect">
              <a:avLst/>
            </a:prstGeom>
          </p:spPr>
          <p:txBody>
            <a:bodyPr lIns="0" tIns="0" rIns="0" bIns="0" rtlCol="0" anchor="t">
              <a:spAutoFit/>
            </a:bodyPr>
            <a:lstStyle/>
            <a:p>
              <a:pPr algn="ctr">
                <a:lnSpc>
                  <a:spcPts val="6764"/>
                </a:lnSpc>
              </a:pPr>
              <a:r>
                <a:rPr lang="en-US" sz="4831" b="1">
                  <a:solidFill>
                    <a:srgbClr val="FFFFFF"/>
                  </a:solidFill>
                  <a:latin typeface="Gotham Bold"/>
                  <a:ea typeface="Gotham Bold"/>
                  <a:cs typeface="Gotham Bold"/>
                  <a:sym typeface="Gotham Bold"/>
                </a:rPr>
                <a:t>1</a:t>
              </a:r>
            </a:p>
          </p:txBody>
        </p:sp>
        <p:sp>
          <p:nvSpPr>
            <p:cNvPr id="10" name="TextBox 10"/>
            <p:cNvSpPr txBox="1"/>
            <p:nvPr/>
          </p:nvSpPr>
          <p:spPr>
            <a:xfrm>
              <a:off x="559407" y="2902012"/>
              <a:ext cx="511948" cy="1071223"/>
            </a:xfrm>
            <a:prstGeom prst="rect">
              <a:avLst/>
            </a:prstGeom>
          </p:spPr>
          <p:txBody>
            <a:bodyPr lIns="0" tIns="0" rIns="0" bIns="0" rtlCol="0" anchor="t">
              <a:spAutoFit/>
            </a:bodyPr>
            <a:lstStyle/>
            <a:p>
              <a:pPr algn="ctr">
                <a:lnSpc>
                  <a:spcPts val="6764"/>
                </a:lnSpc>
              </a:pPr>
              <a:r>
                <a:rPr lang="en-US" sz="4831" b="1">
                  <a:solidFill>
                    <a:srgbClr val="FFFFFF"/>
                  </a:solidFill>
                  <a:latin typeface="Gotham Bold"/>
                  <a:ea typeface="Gotham Bold"/>
                  <a:cs typeface="Gotham Bold"/>
                  <a:sym typeface="Gotham Bold"/>
                </a:rPr>
                <a:t>2</a:t>
              </a:r>
            </a:p>
          </p:txBody>
        </p:sp>
        <p:sp>
          <p:nvSpPr>
            <p:cNvPr id="11" name="TextBox 11"/>
            <p:cNvSpPr txBox="1"/>
            <p:nvPr/>
          </p:nvSpPr>
          <p:spPr>
            <a:xfrm>
              <a:off x="560232" y="5473439"/>
              <a:ext cx="510298" cy="1071223"/>
            </a:xfrm>
            <a:prstGeom prst="rect">
              <a:avLst/>
            </a:prstGeom>
          </p:spPr>
          <p:txBody>
            <a:bodyPr lIns="0" tIns="0" rIns="0" bIns="0" rtlCol="0" anchor="t">
              <a:spAutoFit/>
            </a:bodyPr>
            <a:lstStyle/>
            <a:p>
              <a:pPr algn="ctr">
                <a:lnSpc>
                  <a:spcPts val="6764"/>
                </a:lnSpc>
              </a:pPr>
              <a:r>
                <a:rPr lang="en-US" sz="4831" b="1">
                  <a:solidFill>
                    <a:srgbClr val="FFFFFF"/>
                  </a:solidFill>
                  <a:latin typeface="Gotham Bold"/>
                  <a:ea typeface="Gotham Bold"/>
                  <a:cs typeface="Gotham Bold"/>
                  <a:sym typeface="Gotham Bold"/>
                </a:rPr>
                <a:t>3</a:t>
              </a:r>
            </a:p>
          </p:txBody>
        </p:sp>
        <p:sp>
          <p:nvSpPr>
            <p:cNvPr id="12" name="Freeform 12"/>
            <p:cNvSpPr/>
            <p:nvPr/>
          </p:nvSpPr>
          <p:spPr>
            <a:xfrm>
              <a:off x="7373678" y="0"/>
              <a:ext cx="6885219" cy="6874982"/>
            </a:xfrm>
            <a:custGeom>
              <a:avLst/>
              <a:gdLst/>
              <a:ahLst/>
              <a:cxnLst/>
              <a:rect l="l" t="t" r="r" b="b"/>
              <a:pathLst>
                <a:path w="6885219" h="6874982">
                  <a:moveTo>
                    <a:pt x="0" y="0"/>
                  </a:moveTo>
                  <a:lnTo>
                    <a:pt x="6885219" y="0"/>
                  </a:lnTo>
                  <a:lnTo>
                    <a:pt x="6885219" y="6874982"/>
                  </a:lnTo>
                  <a:lnTo>
                    <a:pt x="0" y="6874982"/>
                  </a:lnTo>
                  <a:lnTo>
                    <a:pt x="0" y="0"/>
                  </a:lnTo>
                  <a:close/>
                </a:path>
              </a:pathLst>
            </a:custGeom>
            <a:blipFill>
              <a:blip r:embed="rId3">
                <a:extLst>
                  <a:ext uri="{96DAC541-7B7A-43D3-8B79-37D633B846F1}">
                    <asvg:svgBlip xmlns:asvg="http://schemas.microsoft.com/office/drawing/2016/SVG/main" r:embed="rId4"/>
                  </a:ext>
                </a:extLst>
              </a:blip>
              <a:stretch>
                <a:fillRect t="-74" b="-74"/>
              </a:stretch>
            </a:blipFill>
          </p:spPr>
          <p:txBody>
            <a:bodyPr/>
            <a:lstStyle/>
            <a:p>
              <a:endParaRPr lang="en-US"/>
            </a:p>
          </p:txBody>
        </p:sp>
        <p:sp>
          <p:nvSpPr>
            <p:cNvPr id="13" name="TextBox 13"/>
            <p:cNvSpPr txBox="1"/>
            <p:nvPr/>
          </p:nvSpPr>
          <p:spPr>
            <a:xfrm>
              <a:off x="7863813" y="264018"/>
              <a:ext cx="567428" cy="1076082"/>
            </a:xfrm>
            <a:prstGeom prst="rect">
              <a:avLst/>
            </a:prstGeom>
          </p:spPr>
          <p:txBody>
            <a:bodyPr lIns="0" tIns="0" rIns="0" bIns="0" rtlCol="0" anchor="t">
              <a:spAutoFit/>
            </a:bodyPr>
            <a:lstStyle/>
            <a:p>
              <a:pPr algn="ctr">
                <a:lnSpc>
                  <a:spcPts val="6798"/>
                </a:lnSpc>
              </a:pPr>
              <a:r>
                <a:rPr lang="en-US" sz="4855" b="1">
                  <a:solidFill>
                    <a:srgbClr val="FFFFFF"/>
                  </a:solidFill>
                  <a:latin typeface="Gotham Bold"/>
                  <a:ea typeface="Gotham Bold"/>
                  <a:cs typeface="Gotham Bold"/>
                  <a:sym typeface="Gotham Bold"/>
                </a:rPr>
                <a:t>4</a:t>
              </a:r>
            </a:p>
          </p:txBody>
        </p:sp>
        <p:sp>
          <p:nvSpPr>
            <p:cNvPr id="14" name="TextBox 14"/>
            <p:cNvSpPr txBox="1"/>
            <p:nvPr/>
          </p:nvSpPr>
          <p:spPr>
            <a:xfrm>
              <a:off x="7888076" y="2855405"/>
              <a:ext cx="518902" cy="1076082"/>
            </a:xfrm>
            <a:prstGeom prst="rect">
              <a:avLst/>
            </a:prstGeom>
          </p:spPr>
          <p:txBody>
            <a:bodyPr lIns="0" tIns="0" rIns="0" bIns="0" rtlCol="0" anchor="t">
              <a:spAutoFit/>
            </a:bodyPr>
            <a:lstStyle/>
            <a:p>
              <a:pPr algn="ctr">
                <a:lnSpc>
                  <a:spcPts val="6798"/>
                </a:lnSpc>
              </a:pPr>
              <a:r>
                <a:rPr lang="en-US" sz="4855" b="1">
                  <a:solidFill>
                    <a:srgbClr val="FFFFFF"/>
                  </a:solidFill>
                  <a:latin typeface="Gotham Bold"/>
                  <a:ea typeface="Gotham Bold"/>
                  <a:cs typeface="Gotham Bold"/>
                  <a:sym typeface="Gotham Bold"/>
                </a:rPr>
                <a:t>5</a:t>
              </a:r>
            </a:p>
          </p:txBody>
        </p:sp>
        <p:sp>
          <p:nvSpPr>
            <p:cNvPr id="15" name="TextBox 15"/>
            <p:cNvSpPr txBox="1"/>
            <p:nvPr/>
          </p:nvSpPr>
          <p:spPr>
            <a:xfrm>
              <a:off x="7874910" y="5439633"/>
              <a:ext cx="545233" cy="1076082"/>
            </a:xfrm>
            <a:prstGeom prst="rect">
              <a:avLst/>
            </a:prstGeom>
          </p:spPr>
          <p:txBody>
            <a:bodyPr lIns="0" tIns="0" rIns="0" bIns="0" rtlCol="0" anchor="t">
              <a:spAutoFit/>
            </a:bodyPr>
            <a:lstStyle/>
            <a:p>
              <a:pPr algn="ctr">
                <a:lnSpc>
                  <a:spcPts val="6798"/>
                </a:lnSpc>
              </a:pPr>
              <a:r>
                <a:rPr lang="en-US" sz="4855" b="1">
                  <a:solidFill>
                    <a:srgbClr val="FFFFFF"/>
                  </a:solidFill>
                  <a:latin typeface="Gotham Bold"/>
                  <a:ea typeface="Gotham Bold"/>
                  <a:cs typeface="Gotham Bold"/>
                  <a:sym typeface="Gotham Bold"/>
                </a:rPr>
                <a:t>6</a:t>
              </a:r>
            </a:p>
          </p:txBody>
        </p:sp>
        <p:sp>
          <p:nvSpPr>
            <p:cNvPr id="16" name="TextBox 16"/>
            <p:cNvSpPr txBox="1"/>
            <p:nvPr/>
          </p:nvSpPr>
          <p:spPr>
            <a:xfrm>
              <a:off x="2532018" y="349741"/>
              <a:ext cx="3859503" cy="808901"/>
            </a:xfrm>
            <a:prstGeom prst="rect">
              <a:avLst/>
            </a:prstGeom>
          </p:spPr>
          <p:txBody>
            <a:bodyPr lIns="0" tIns="0" rIns="0" bIns="0" rtlCol="0" anchor="t">
              <a:spAutoFit/>
            </a:bodyPr>
            <a:lstStyle/>
            <a:p>
              <a:pPr algn="ctr">
                <a:lnSpc>
                  <a:spcPts val="2464"/>
                </a:lnSpc>
                <a:spcBef>
                  <a:spcPct val="0"/>
                </a:spcBef>
              </a:pPr>
              <a:r>
                <a:rPr lang="en-US" sz="1760" b="1">
                  <a:solidFill>
                    <a:srgbClr val="000000"/>
                  </a:solidFill>
                  <a:latin typeface="Gotham Bold"/>
                  <a:ea typeface="Gotham Bold"/>
                  <a:cs typeface="Gotham Bold"/>
                  <a:sym typeface="Gotham Bold"/>
                </a:rPr>
                <a:t>Define the business problem or opportunity</a:t>
              </a:r>
            </a:p>
          </p:txBody>
        </p:sp>
        <p:sp>
          <p:nvSpPr>
            <p:cNvPr id="17" name="TextBox 17"/>
            <p:cNvSpPr txBox="1"/>
            <p:nvPr/>
          </p:nvSpPr>
          <p:spPr>
            <a:xfrm>
              <a:off x="2702376" y="2975858"/>
              <a:ext cx="3689146" cy="937126"/>
            </a:xfrm>
            <a:prstGeom prst="rect">
              <a:avLst/>
            </a:prstGeom>
          </p:spPr>
          <p:txBody>
            <a:bodyPr lIns="0" tIns="0" rIns="0" bIns="0" rtlCol="0" anchor="t">
              <a:spAutoFit/>
            </a:bodyPr>
            <a:lstStyle/>
            <a:p>
              <a:pPr algn="ctr">
                <a:lnSpc>
                  <a:spcPts val="1895"/>
                </a:lnSpc>
                <a:spcBef>
                  <a:spcPct val="0"/>
                </a:spcBef>
              </a:pPr>
              <a:r>
                <a:rPr lang="en-US" sz="1354" b="1">
                  <a:solidFill>
                    <a:srgbClr val="000000"/>
                  </a:solidFill>
                  <a:latin typeface="Gotham Bold"/>
                  <a:ea typeface="Gotham Bold"/>
                  <a:cs typeface="Gotham Bold"/>
                  <a:sym typeface="Gotham Bold"/>
                </a:rPr>
                <a:t>Identify affected roles and required performance standards</a:t>
              </a:r>
            </a:p>
          </p:txBody>
        </p:sp>
        <p:sp>
          <p:nvSpPr>
            <p:cNvPr id="18" name="TextBox 18"/>
            <p:cNvSpPr txBox="1"/>
            <p:nvPr/>
          </p:nvSpPr>
          <p:spPr>
            <a:xfrm>
              <a:off x="2686896" y="5521962"/>
              <a:ext cx="3704626" cy="1061275"/>
            </a:xfrm>
            <a:prstGeom prst="rect">
              <a:avLst/>
            </a:prstGeom>
          </p:spPr>
          <p:txBody>
            <a:bodyPr lIns="0" tIns="0" rIns="0" bIns="0" rtlCol="0" anchor="t">
              <a:spAutoFit/>
            </a:bodyPr>
            <a:lstStyle/>
            <a:p>
              <a:pPr algn="ctr">
                <a:lnSpc>
                  <a:spcPts val="1617"/>
                </a:lnSpc>
                <a:spcBef>
                  <a:spcPct val="0"/>
                </a:spcBef>
              </a:pPr>
              <a:r>
                <a:rPr lang="en-US" sz="1155" b="1">
                  <a:solidFill>
                    <a:srgbClr val="000000"/>
                  </a:solidFill>
                  <a:latin typeface="Gotham Bold"/>
                  <a:ea typeface="Gotham Bold"/>
                  <a:cs typeface="Gotham Bold"/>
                  <a:sym typeface="Gotham Bold"/>
                </a:rPr>
                <a:t>Assess and identify current knowledge, skills, and performance levels and gaps between current and required states</a:t>
              </a:r>
            </a:p>
          </p:txBody>
        </p:sp>
        <p:sp>
          <p:nvSpPr>
            <p:cNvPr id="19" name="TextBox 19"/>
            <p:cNvSpPr txBox="1"/>
            <p:nvPr/>
          </p:nvSpPr>
          <p:spPr>
            <a:xfrm>
              <a:off x="10274056" y="258249"/>
              <a:ext cx="3466850" cy="991884"/>
            </a:xfrm>
            <a:prstGeom prst="rect">
              <a:avLst/>
            </a:prstGeom>
          </p:spPr>
          <p:txBody>
            <a:bodyPr lIns="0" tIns="0" rIns="0" bIns="0" rtlCol="0" anchor="t">
              <a:spAutoFit/>
            </a:bodyPr>
            <a:lstStyle/>
            <a:p>
              <a:pPr algn="ctr">
                <a:lnSpc>
                  <a:spcPts val="2009"/>
                </a:lnSpc>
                <a:spcBef>
                  <a:spcPct val="0"/>
                </a:spcBef>
              </a:pPr>
              <a:r>
                <a:rPr lang="en-US" sz="1435" b="1">
                  <a:solidFill>
                    <a:srgbClr val="000000"/>
                  </a:solidFill>
                  <a:latin typeface="Gotham Bold"/>
                  <a:ea typeface="Gotham Bold"/>
                  <a:cs typeface="Gotham Bold"/>
                  <a:sym typeface="Gotham Bold"/>
                </a:rPr>
                <a:t>Determine if gaps are due to knowledge/skill deficits or other factors</a:t>
              </a:r>
            </a:p>
          </p:txBody>
        </p:sp>
        <p:sp>
          <p:nvSpPr>
            <p:cNvPr id="20" name="TextBox 20"/>
            <p:cNvSpPr txBox="1"/>
            <p:nvPr/>
          </p:nvSpPr>
          <p:spPr>
            <a:xfrm>
              <a:off x="10274056" y="2825607"/>
              <a:ext cx="3520282" cy="1147854"/>
            </a:xfrm>
            <a:prstGeom prst="rect">
              <a:avLst/>
            </a:prstGeom>
          </p:spPr>
          <p:txBody>
            <a:bodyPr lIns="0" tIns="0" rIns="0" bIns="0" rtlCol="0" anchor="t">
              <a:spAutoFit/>
            </a:bodyPr>
            <a:lstStyle/>
            <a:p>
              <a:pPr algn="ctr">
                <a:lnSpc>
                  <a:spcPts val="2308"/>
                </a:lnSpc>
                <a:spcBef>
                  <a:spcPct val="0"/>
                </a:spcBef>
              </a:pPr>
              <a:r>
                <a:rPr lang="en-US" sz="1649" b="1">
                  <a:solidFill>
                    <a:srgbClr val="000000"/>
                  </a:solidFill>
                  <a:latin typeface="Gotham Bold"/>
                  <a:ea typeface="Gotham Bold"/>
                  <a:cs typeface="Gotham Bold"/>
                  <a:sym typeface="Gotham Bold"/>
                </a:rPr>
                <a:t>Establish learning objectives that address the gaps</a:t>
              </a:r>
            </a:p>
          </p:txBody>
        </p:sp>
        <p:sp>
          <p:nvSpPr>
            <p:cNvPr id="21" name="TextBox 21"/>
            <p:cNvSpPr txBox="1"/>
            <p:nvPr/>
          </p:nvSpPr>
          <p:spPr>
            <a:xfrm>
              <a:off x="10459456" y="5562006"/>
              <a:ext cx="3149482" cy="1046451"/>
            </a:xfrm>
            <a:prstGeom prst="rect">
              <a:avLst/>
            </a:prstGeom>
          </p:spPr>
          <p:txBody>
            <a:bodyPr lIns="0" tIns="0" rIns="0" bIns="0" rtlCol="0" anchor="t">
              <a:spAutoFit/>
            </a:bodyPr>
            <a:lstStyle/>
            <a:p>
              <a:pPr algn="ctr">
                <a:lnSpc>
                  <a:spcPts val="2170"/>
                </a:lnSpc>
                <a:spcBef>
                  <a:spcPct val="0"/>
                </a:spcBef>
              </a:pPr>
              <a:r>
                <a:rPr lang="en-US" sz="1550" b="1">
                  <a:solidFill>
                    <a:srgbClr val="000000"/>
                  </a:solidFill>
                  <a:latin typeface="Gotham Bold"/>
                  <a:ea typeface="Gotham Bold"/>
                  <a:cs typeface="Gotham Bold"/>
                  <a:sym typeface="Gotham Bold"/>
                </a:rPr>
                <a:t>Prioritize learning needs based on business impact</a:t>
              </a:r>
            </a:p>
          </p:txBody>
        </p:sp>
      </p:grpSp>
      <p:sp>
        <p:nvSpPr>
          <p:cNvPr id="22" name="TextBox 22"/>
          <p:cNvSpPr txBox="1"/>
          <p:nvPr/>
        </p:nvSpPr>
        <p:spPr>
          <a:xfrm>
            <a:off x="1028700" y="983201"/>
            <a:ext cx="7060702" cy="555277"/>
          </a:xfrm>
          <a:prstGeom prst="rect">
            <a:avLst/>
          </a:prstGeom>
        </p:spPr>
        <p:txBody>
          <a:bodyPr lIns="0" tIns="0" rIns="0" bIns="0" rtlCol="0" anchor="t">
            <a:spAutoFit/>
          </a:bodyPr>
          <a:lstStyle/>
          <a:p>
            <a:pPr algn="l">
              <a:lnSpc>
                <a:spcPts val="4569"/>
              </a:lnSpc>
              <a:spcBef>
                <a:spcPct val="0"/>
              </a:spcBef>
            </a:pPr>
            <a:r>
              <a:rPr lang="en-US" sz="3263" b="1">
                <a:solidFill>
                  <a:srgbClr val="232B43"/>
                </a:solidFill>
                <a:latin typeface="Gotham Bold"/>
                <a:ea typeface="Gotham Bold"/>
                <a:cs typeface="Gotham Bold"/>
                <a:sym typeface="Gotham Bold"/>
              </a:rPr>
              <a:t>Training Needs Analysis</a:t>
            </a:r>
          </a:p>
        </p:txBody>
      </p:sp>
      <p:sp>
        <p:nvSpPr>
          <p:cNvPr id="23" name="TextBox 23"/>
          <p:cNvSpPr txBox="1"/>
          <p:nvPr/>
        </p:nvSpPr>
        <p:spPr>
          <a:xfrm>
            <a:off x="1028700" y="2064508"/>
            <a:ext cx="15722441" cy="603765"/>
          </a:xfrm>
          <a:prstGeom prst="rect">
            <a:avLst/>
          </a:prstGeom>
        </p:spPr>
        <p:txBody>
          <a:bodyPr lIns="0" tIns="0" rIns="0" bIns="0" rtlCol="0" anchor="t">
            <a:spAutoFit/>
          </a:bodyPr>
          <a:lstStyle/>
          <a:p>
            <a:pPr algn="l">
              <a:lnSpc>
                <a:spcPts val="2421"/>
              </a:lnSpc>
              <a:spcBef>
                <a:spcPct val="0"/>
              </a:spcBef>
            </a:pPr>
            <a:r>
              <a:rPr lang="en-US" sz="1729" b="1">
                <a:solidFill>
                  <a:srgbClr val="232B43"/>
                </a:solidFill>
                <a:latin typeface="Gotham Bold"/>
                <a:ea typeface="Gotham Bold"/>
                <a:cs typeface="Gotham Bold"/>
                <a:sym typeface="Gotham Bold"/>
              </a:rPr>
              <a:t>Training Needs Analysis (TNA)</a:t>
            </a:r>
            <a:r>
              <a:rPr lang="en-US" sz="1729">
                <a:solidFill>
                  <a:srgbClr val="232B43"/>
                </a:solidFill>
                <a:latin typeface="Gotham"/>
                <a:ea typeface="Gotham"/>
                <a:cs typeface="Gotham"/>
                <a:sym typeface="Gotham"/>
              </a:rPr>
              <a:t> is the critical first step in the learning design process, identifying performance gaps that can be addressed through learning interventions. </a:t>
            </a:r>
          </a:p>
        </p:txBody>
      </p:sp>
      <p:sp>
        <p:nvSpPr>
          <p:cNvPr id="24" name="TextBox 24"/>
          <p:cNvSpPr txBox="1"/>
          <p:nvPr/>
        </p:nvSpPr>
        <p:spPr>
          <a:xfrm>
            <a:off x="2020055" y="5260833"/>
            <a:ext cx="3403235" cy="1487883"/>
          </a:xfrm>
          <a:prstGeom prst="rect">
            <a:avLst/>
          </a:prstGeom>
        </p:spPr>
        <p:txBody>
          <a:bodyPr lIns="0" tIns="0" rIns="0" bIns="0" rtlCol="0" anchor="t">
            <a:spAutoFit/>
          </a:bodyPr>
          <a:lstStyle/>
          <a:p>
            <a:pPr algn="l">
              <a:lnSpc>
                <a:spcPts val="3973"/>
              </a:lnSpc>
              <a:spcBef>
                <a:spcPct val="0"/>
              </a:spcBef>
            </a:pPr>
            <a:r>
              <a:rPr lang="en-US" sz="2838" b="1">
                <a:solidFill>
                  <a:srgbClr val="232B43"/>
                </a:solidFill>
                <a:latin typeface="Gotham Bold"/>
                <a:ea typeface="Gotham Bold"/>
                <a:cs typeface="Gotham Bold"/>
                <a:sym typeface="Gotham Bold"/>
              </a:rPr>
              <a:t>Basic Process of Training Needs Analysis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376024" y="8077085"/>
            <a:ext cx="2648748" cy="897730"/>
          </a:xfrm>
          <a:custGeom>
            <a:avLst/>
            <a:gdLst/>
            <a:ahLst/>
            <a:cxnLst/>
            <a:rect l="l" t="t" r="r" b="b"/>
            <a:pathLst>
              <a:path w="2648748" h="897730">
                <a:moveTo>
                  <a:pt x="0" y="0"/>
                </a:moveTo>
                <a:lnTo>
                  <a:pt x="2648748" y="0"/>
                </a:lnTo>
                <a:lnTo>
                  <a:pt x="2648748" y="897730"/>
                </a:lnTo>
                <a:lnTo>
                  <a:pt x="0" y="89773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862803" y="732335"/>
            <a:ext cx="8281197" cy="622935"/>
          </a:xfrm>
          <a:prstGeom prst="rect">
            <a:avLst/>
          </a:prstGeom>
        </p:spPr>
        <p:txBody>
          <a:bodyPr lIns="0" tIns="0" rIns="0" bIns="0" rtlCol="0" anchor="t">
            <a:spAutoFit/>
          </a:bodyPr>
          <a:lstStyle/>
          <a:p>
            <a:pPr algn="l">
              <a:lnSpc>
                <a:spcPts val="5039"/>
              </a:lnSpc>
              <a:spcBef>
                <a:spcPct val="0"/>
              </a:spcBef>
            </a:pPr>
            <a:r>
              <a:rPr lang="en-US" sz="3599" b="1">
                <a:solidFill>
                  <a:srgbClr val="232B43"/>
                </a:solidFill>
                <a:latin typeface="Gotham Bold"/>
                <a:ea typeface="Gotham Bold"/>
                <a:cs typeface="Gotham Bold"/>
                <a:sym typeface="Gotham Bold"/>
              </a:rPr>
              <a:t>Common Learning Methods</a:t>
            </a:r>
          </a:p>
        </p:txBody>
      </p:sp>
      <p:sp>
        <p:nvSpPr>
          <p:cNvPr id="4" name="AutoShape 4"/>
          <p:cNvSpPr/>
          <p:nvPr/>
        </p:nvSpPr>
        <p:spPr>
          <a:xfrm>
            <a:off x="1028700" y="1475285"/>
            <a:ext cx="3784992" cy="0"/>
          </a:xfrm>
          <a:prstGeom prst="line">
            <a:avLst/>
          </a:prstGeom>
          <a:ln w="57150" cap="flat">
            <a:solidFill>
              <a:srgbClr val="232B43"/>
            </a:solidFill>
            <a:prstDash val="solid"/>
            <a:headEnd type="none" w="sm" len="sm"/>
            <a:tailEnd type="none" w="sm" len="sm"/>
          </a:ln>
        </p:spPr>
        <p:txBody>
          <a:bodyPr/>
          <a:lstStyle/>
          <a:p>
            <a:endParaRPr lang="en-US"/>
          </a:p>
        </p:txBody>
      </p:sp>
      <p:sp>
        <p:nvSpPr>
          <p:cNvPr id="5" name="TextBox 5"/>
          <p:cNvSpPr txBox="1"/>
          <p:nvPr/>
        </p:nvSpPr>
        <p:spPr>
          <a:xfrm>
            <a:off x="1028700" y="1713208"/>
            <a:ext cx="11391431" cy="4427915"/>
          </a:xfrm>
          <a:prstGeom prst="rect">
            <a:avLst/>
          </a:prstGeom>
        </p:spPr>
        <p:txBody>
          <a:bodyPr lIns="0" tIns="0" rIns="0" bIns="0" rtlCol="0" anchor="t">
            <a:spAutoFit/>
          </a:bodyPr>
          <a:lstStyle/>
          <a:p>
            <a:pPr algn="l">
              <a:lnSpc>
                <a:spcPts val="5924"/>
              </a:lnSpc>
            </a:pPr>
            <a:r>
              <a:rPr lang="en-US" sz="4231">
                <a:solidFill>
                  <a:srgbClr val="000000"/>
                </a:solidFill>
                <a:latin typeface="Gotham"/>
                <a:ea typeface="Gotham"/>
                <a:cs typeface="Gotham"/>
                <a:sym typeface="Gotham"/>
              </a:rPr>
              <a:t>Instructor-Led Training</a:t>
            </a:r>
          </a:p>
          <a:p>
            <a:pPr algn="l">
              <a:lnSpc>
                <a:spcPts val="5924"/>
              </a:lnSpc>
            </a:pPr>
            <a:r>
              <a:rPr lang="en-US" sz="4231">
                <a:solidFill>
                  <a:srgbClr val="000000"/>
                </a:solidFill>
                <a:latin typeface="Gotham"/>
                <a:ea typeface="Gotham"/>
                <a:cs typeface="Gotham"/>
                <a:sym typeface="Gotham"/>
              </a:rPr>
              <a:t>eLearning</a:t>
            </a:r>
          </a:p>
          <a:p>
            <a:pPr marL="0" lvl="0" indent="0" algn="l">
              <a:lnSpc>
                <a:spcPts val="5924"/>
              </a:lnSpc>
              <a:spcBef>
                <a:spcPct val="0"/>
              </a:spcBef>
            </a:pPr>
            <a:r>
              <a:rPr lang="en-US" sz="4231">
                <a:solidFill>
                  <a:srgbClr val="000000"/>
                </a:solidFill>
                <a:latin typeface="Gotham"/>
                <a:ea typeface="Gotham"/>
                <a:cs typeface="Gotham"/>
                <a:sym typeface="Gotham"/>
              </a:rPr>
              <a:t>Blended L</a:t>
            </a:r>
            <a:r>
              <a:rPr lang="en-US" sz="4231" u="none" strike="noStrike">
                <a:solidFill>
                  <a:srgbClr val="000000"/>
                </a:solidFill>
                <a:latin typeface="Gotham"/>
                <a:ea typeface="Gotham"/>
                <a:cs typeface="Gotham"/>
                <a:sym typeface="Gotham"/>
              </a:rPr>
              <a:t>earning</a:t>
            </a:r>
          </a:p>
          <a:p>
            <a:pPr marL="0" lvl="0" indent="0" algn="l">
              <a:lnSpc>
                <a:spcPts val="5924"/>
              </a:lnSpc>
              <a:spcBef>
                <a:spcPct val="0"/>
              </a:spcBef>
            </a:pPr>
            <a:r>
              <a:rPr lang="en-US" sz="4231" u="none" strike="noStrike">
                <a:solidFill>
                  <a:srgbClr val="000000"/>
                </a:solidFill>
                <a:latin typeface="Gotham"/>
                <a:ea typeface="Gotham"/>
                <a:cs typeface="Gotham"/>
                <a:sym typeface="Gotham"/>
              </a:rPr>
              <a:t>On-the-job Training</a:t>
            </a:r>
          </a:p>
          <a:p>
            <a:pPr marL="0" lvl="0" indent="0" algn="l">
              <a:lnSpc>
                <a:spcPts val="5924"/>
              </a:lnSpc>
              <a:spcBef>
                <a:spcPct val="0"/>
              </a:spcBef>
            </a:pPr>
            <a:r>
              <a:rPr lang="en-US" sz="4231" u="none" strike="noStrike">
                <a:solidFill>
                  <a:srgbClr val="000000"/>
                </a:solidFill>
                <a:latin typeface="Gotham"/>
                <a:ea typeface="Gotham"/>
                <a:cs typeface="Gotham"/>
                <a:sym typeface="Gotham"/>
              </a:rPr>
              <a:t>Coaching/Mentoring</a:t>
            </a:r>
          </a:p>
          <a:p>
            <a:pPr marL="0" lvl="0" indent="0" algn="l">
              <a:lnSpc>
                <a:spcPts val="5924"/>
              </a:lnSpc>
              <a:spcBef>
                <a:spcPct val="0"/>
              </a:spcBef>
            </a:pPr>
            <a:endParaRPr lang="en-US" sz="4231" u="none" strike="noStrike">
              <a:solidFill>
                <a:srgbClr val="000000"/>
              </a:solidFill>
              <a:latin typeface="Gotham"/>
              <a:ea typeface="Gotham"/>
              <a:cs typeface="Gotham"/>
              <a:sym typeface="Gotham"/>
            </a:endParaRPr>
          </a:p>
        </p:txBody>
      </p:sp>
      <p:sp>
        <p:nvSpPr>
          <p:cNvPr id="6" name="TextBox 6"/>
          <p:cNvSpPr txBox="1"/>
          <p:nvPr/>
        </p:nvSpPr>
        <p:spPr>
          <a:xfrm>
            <a:off x="1064306" y="5985478"/>
            <a:ext cx="11631356" cy="2734253"/>
          </a:xfrm>
          <a:prstGeom prst="rect">
            <a:avLst/>
          </a:prstGeom>
        </p:spPr>
        <p:txBody>
          <a:bodyPr lIns="0" tIns="0" rIns="0" bIns="0" rtlCol="0" anchor="t">
            <a:spAutoFit/>
          </a:bodyPr>
          <a:lstStyle/>
          <a:p>
            <a:pPr algn="just">
              <a:lnSpc>
                <a:spcPts val="3076"/>
              </a:lnSpc>
              <a:spcBef>
                <a:spcPct val="0"/>
              </a:spcBef>
            </a:pPr>
            <a:r>
              <a:rPr lang="en-US" sz="2629" b="1" i="1">
                <a:solidFill>
                  <a:srgbClr val="000000"/>
                </a:solidFill>
                <a:latin typeface="Gotham Bold Italics"/>
                <a:ea typeface="Gotham Bold Italics"/>
                <a:cs typeface="Gotham Bold Italics"/>
                <a:sym typeface="Gotham Bold Italics"/>
              </a:rPr>
              <a:t>Effective L&amp;D professionals select learning methods based on:</a:t>
            </a:r>
          </a:p>
          <a:p>
            <a:pPr algn="just">
              <a:lnSpc>
                <a:spcPts val="3076"/>
              </a:lnSpc>
              <a:spcBef>
                <a:spcPct val="0"/>
              </a:spcBef>
            </a:pPr>
            <a:endParaRPr lang="en-US" sz="2629" b="1" i="1">
              <a:solidFill>
                <a:srgbClr val="000000"/>
              </a:solidFill>
              <a:latin typeface="Gotham Bold Italics"/>
              <a:ea typeface="Gotham Bold Italics"/>
              <a:cs typeface="Gotham Bold Italics"/>
              <a:sym typeface="Gotham Bold Italics"/>
            </a:endParaRPr>
          </a:p>
          <a:p>
            <a:pPr marL="567723" lvl="1" indent="-283862" algn="just">
              <a:lnSpc>
                <a:spcPts val="3076"/>
              </a:lnSpc>
              <a:buFont typeface="Arial"/>
              <a:buChar char="•"/>
            </a:pPr>
            <a:r>
              <a:rPr lang="en-US" sz="2629">
                <a:solidFill>
                  <a:srgbClr val="000000"/>
                </a:solidFill>
                <a:latin typeface="Gotham"/>
                <a:ea typeface="Gotham"/>
                <a:cs typeface="Gotham"/>
                <a:sym typeface="Gotham"/>
              </a:rPr>
              <a:t>Learning objectives</a:t>
            </a:r>
          </a:p>
          <a:p>
            <a:pPr marL="567723" lvl="1" indent="-283862" algn="just">
              <a:lnSpc>
                <a:spcPts val="3076"/>
              </a:lnSpc>
              <a:buFont typeface="Arial"/>
              <a:buChar char="•"/>
            </a:pPr>
            <a:r>
              <a:rPr lang="en-US" sz="2629">
                <a:solidFill>
                  <a:srgbClr val="000000"/>
                </a:solidFill>
                <a:latin typeface="Gotham"/>
                <a:ea typeface="Gotham"/>
                <a:cs typeface="Gotham"/>
                <a:sym typeface="Gotham"/>
              </a:rPr>
              <a:t>Content complexity</a:t>
            </a:r>
          </a:p>
          <a:p>
            <a:pPr marL="567723" lvl="1" indent="-283862" algn="just">
              <a:lnSpc>
                <a:spcPts val="3076"/>
              </a:lnSpc>
              <a:buFont typeface="Arial"/>
              <a:buChar char="•"/>
            </a:pPr>
            <a:r>
              <a:rPr lang="en-US" sz="2629">
                <a:solidFill>
                  <a:srgbClr val="000000"/>
                </a:solidFill>
                <a:latin typeface="Gotham"/>
                <a:ea typeface="Gotham"/>
                <a:cs typeface="Gotham"/>
                <a:sym typeface="Gotham"/>
              </a:rPr>
              <a:t>Audience characteristics</a:t>
            </a:r>
          </a:p>
          <a:p>
            <a:pPr marL="567723" lvl="1" indent="-283862" algn="just">
              <a:lnSpc>
                <a:spcPts val="3076"/>
              </a:lnSpc>
              <a:buFont typeface="Arial"/>
              <a:buChar char="•"/>
            </a:pPr>
            <a:r>
              <a:rPr lang="en-US" sz="2629">
                <a:solidFill>
                  <a:srgbClr val="000000"/>
                </a:solidFill>
                <a:latin typeface="Gotham"/>
                <a:ea typeface="Gotham"/>
                <a:cs typeface="Gotham"/>
                <a:sym typeface="Gotham"/>
              </a:rPr>
              <a:t>Available resources</a:t>
            </a:r>
          </a:p>
          <a:p>
            <a:pPr marL="567723" lvl="1" indent="-283862" algn="just">
              <a:lnSpc>
                <a:spcPts val="3076"/>
              </a:lnSpc>
              <a:buFont typeface="Arial"/>
              <a:buChar char="•"/>
            </a:pPr>
            <a:r>
              <a:rPr lang="en-US" sz="2629">
                <a:solidFill>
                  <a:srgbClr val="000000"/>
                </a:solidFill>
                <a:latin typeface="Gotham"/>
                <a:ea typeface="Gotham"/>
                <a:cs typeface="Gotham"/>
                <a:sym typeface="Gotham"/>
              </a:rPr>
              <a:t>Organizational context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8644" y="1163393"/>
            <a:ext cx="18920017" cy="8094907"/>
          </a:xfrm>
          <a:custGeom>
            <a:avLst/>
            <a:gdLst/>
            <a:ahLst/>
            <a:cxnLst/>
            <a:rect l="l" t="t" r="r" b="b"/>
            <a:pathLst>
              <a:path w="18920017" h="8094907">
                <a:moveTo>
                  <a:pt x="0" y="0"/>
                </a:moveTo>
                <a:lnTo>
                  <a:pt x="18920017" y="0"/>
                </a:lnTo>
                <a:lnTo>
                  <a:pt x="18920017" y="8094907"/>
                </a:lnTo>
                <a:lnTo>
                  <a:pt x="0" y="8094907"/>
                </a:lnTo>
                <a:lnTo>
                  <a:pt x="0" y="0"/>
                </a:lnTo>
                <a:close/>
              </a:path>
            </a:pathLst>
          </a:custGeom>
          <a:blipFill>
            <a:blip r:embed="rId2">
              <a:alphaModFix amt="4000"/>
            </a:blip>
            <a:stretch>
              <a:fillRect t="-27860" b="-27860"/>
            </a:stretch>
          </a:blipFill>
        </p:spPr>
        <p:txBody>
          <a:bodyPr/>
          <a:lstStyle/>
          <a:p>
            <a:endParaRPr lang="en-US"/>
          </a:p>
        </p:txBody>
      </p:sp>
      <p:graphicFrame>
        <p:nvGraphicFramePr>
          <p:cNvPr id="3" name="Table 3"/>
          <p:cNvGraphicFramePr>
            <a:graphicFrameLocks noGrp="1"/>
          </p:cNvGraphicFramePr>
          <p:nvPr/>
        </p:nvGraphicFramePr>
        <p:xfrm>
          <a:off x="4869135" y="3296453"/>
          <a:ext cx="8694060" cy="4890744"/>
        </p:xfrm>
        <a:graphic>
          <a:graphicData uri="http://schemas.openxmlformats.org/drawingml/2006/table">
            <a:tbl>
              <a:tblPr/>
              <a:tblGrid>
                <a:gridCol w="5207693">
                  <a:extLst>
                    <a:ext uri="{9D8B030D-6E8A-4147-A177-3AD203B41FA5}">
                      <a16:colId xmlns:a16="http://schemas.microsoft.com/office/drawing/2014/main" val="20000"/>
                    </a:ext>
                  </a:extLst>
                </a:gridCol>
              </a:tblGrid>
              <a:tr h="745745">
                <a:tc>
                  <a:txBody>
                    <a:bodyPr/>
                    <a:lstStyle/>
                    <a:p>
                      <a:pPr algn="ctr">
                        <a:lnSpc>
                          <a:spcPts val="4059"/>
                        </a:lnSpc>
                        <a:defRPr/>
                      </a:pPr>
                      <a:r>
                        <a:rPr lang="en-US" sz="2899" b="1">
                          <a:solidFill>
                            <a:srgbClr val="F7F7F7"/>
                          </a:solidFill>
                          <a:latin typeface="Gotham Bold"/>
                          <a:ea typeface="Gotham Bold"/>
                          <a:cs typeface="Gotham Bold"/>
                          <a:sym typeface="Gotham Bold"/>
                        </a:rPr>
                        <a:t>Levels of Evaluation</a:t>
                      </a:r>
                      <a:endParaRPr lang="en-US" sz="1100"/>
                    </a:p>
                  </a:txBody>
                  <a:tcPr marL="73314" marR="73314" marT="73314" marB="73314" anchor="ctr">
                    <a:lnL w="18328" cap="flat" cmpd="sng" algn="ctr">
                      <a:solidFill>
                        <a:srgbClr val="232B43"/>
                      </a:solidFill>
                      <a:prstDash val="solid"/>
                      <a:round/>
                      <a:headEnd type="none" w="med" len="med"/>
                      <a:tailEnd type="none" w="med" len="med"/>
                    </a:lnL>
                    <a:lnR w="18328" cap="flat" cmpd="sng" algn="ctr">
                      <a:solidFill>
                        <a:srgbClr val="232B43"/>
                      </a:solidFill>
                      <a:prstDash val="solid"/>
                      <a:round/>
                      <a:headEnd type="none" w="med" len="med"/>
                      <a:tailEnd type="none" w="med" len="med"/>
                    </a:lnR>
                    <a:lnT w="18328" cap="flat" cmpd="sng" algn="ctr">
                      <a:solidFill>
                        <a:srgbClr val="232B43"/>
                      </a:solidFill>
                      <a:prstDash val="solid"/>
                      <a:round/>
                      <a:headEnd type="none" w="med" len="med"/>
                      <a:tailEnd type="none" w="med" len="med"/>
                    </a:lnT>
                    <a:lnB w="18328" cap="flat" cmpd="sng" algn="ctr">
                      <a:solidFill>
                        <a:srgbClr val="232B43"/>
                      </a:solidFill>
                      <a:prstDash val="solid"/>
                      <a:round/>
                      <a:headEnd type="none" w="med" len="med"/>
                      <a:tailEnd type="none" w="med" len="med"/>
                    </a:lnB>
                    <a:solidFill>
                      <a:srgbClr val="232B43"/>
                    </a:solidFill>
                  </a:tcPr>
                </a:tc>
                <a:extLst>
                  <a:ext uri="{0D108BD9-81ED-4DB2-BD59-A6C34878D82A}">
                    <a16:rowId xmlns:a16="http://schemas.microsoft.com/office/drawing/2014/main" val="10000"/>
                  </a:ext>
                </a:extLst>
              </a:tr>
              <a:tr h="1036250">
                <a:tc>
                  <a:txBody>
                    <a:bodyPr/>
                    <a:lstStyle/>
                    <a:p>
                      <a:pPr algn="ctr">
                        <a:lnSpc>
                          <a:spcPts val="3919"/>
                        </a:lnSpc>
                        <a:defRPr/>
                      </a:pPr>
                      <a:r>
                        <a:rPr lang="en-US" sz="2799" b="1">
                          <a:solidFill>
                            <a:srgbClr val="F7F7F7"/>
                          </a:solidFill>
                          <a:latin typeface="Gotham Bold"/>
                          <a:ea typeface="Gotham Bold"/>
                          <a:cs typeface="Gotham Bold"/>
                          <a:sym typeface="Gotham Bold"/>
                        </a:rPr>
                        <a:t>Level 1: Reaction</a:t>
                      </a:r>
                      <a:endParaRPr lang="en-US" sz="1100"/>
                    </a:p>
                  </a:txBody>
                  <a:tcPr marL="73314" marR="73314" marT="73314" marB="73314" anchor="ctr">
                    <a:lnL w="18328" cap="flat" cmpd="sng" algn="ctr">
                      <a:solidFill>
                        <a:srgbClr val="232B43"/>
                      </a:solidFill>
                      <a:prstDash val="solid"/>
                      <a:round/>
                      <a:headEnd type="none" w="med" len="med"/>
                      <a:tailEnd type="none" w="med" len="med"/>
                    </a:lnL>
                    <a:lnR w="18328" cap="flat" cmpd="sng" algn="ctr">
                      <a:solidFill>
                        <a:srgbClr val="232B43"/>
                      </a:solidFill>
                      <a:prstDash val="solid"/>
                      <a:round/>
                      <a:headEnd type="none" w="med" len="med"/>
                      <a:tailEnd type="none" w="med" len="med"/>
                    </a:lnR>
                    <a:lnT w="18328" cap="flat" cmpd="sng" algn="ctr">
                      <a:solidFill>
                        <a:srgbClr val="232B43"/>
                      </a:solidFill>
                      <a:prstDash val="solid"/>
                      <a:round/>
                      <a:headEnd type="none" w="med" len="med"/>
                      <a:tailEnd type="none" w="med" len="med"/>
                    </a:lnT>
                    <a:lnB w="18328" cap="flat" cmpd="sng" algn="ctr">
                      <a:solidFill>
                        <a:srgbClr val="232B43"/>
                      </a:solidFill>
                      <a:prstDash val="solid"/>
                      <a:round/>
                      <a:headEnd type="none" w="med" len="med"/>
                      <a:tailEnd type="none" w="med" len="med"/>
                    </a:lnB>
                    <a:solidFill>
                      <a:srgbClr val="727681"/>
                    </a:solidFill>
                  </a:tcPr>
                </a:tc>
                <a:extLst>
                  <a:ext uri="{0D108BD9-81ED-4DB2-BD59-A6C34878D82A}">
                    <a16:rowId xmlns:a16="http://schemas.microsoft.com/office/drawing/2014/main" val="10001"/>
                  </a:ext>
                </a:extLst>
              </a:tr>
              <a:tr h="1036250">
                <a:tc>
                  <a:txBody>
                    <a:bodyPr/>
                    <a:lstStyle/>
                    <a:p>
                      <a:pPr algn="ctr">
                        <a:lnSpc>
                          <a:spcPts val="3919"/>
                        </a:lnSpc>
                        <a:defRPr/>
                      </a:pPr>
                      <a:r>
                        <a:rPr lang="en-US" sz="2799" b="1">
                          <a:solidFill>
                            <a:srgbClr val="F7F7F7"/>
                          </a:solidFill>
                          <a:latin typeface="Gotham Bold"/>
                          <a:ea typeface="Gotham Bold"/>
                          <a:cs typeface="Gotham Bold"/>
                          <a:sym typeface="Gotham Bold"/>
                        </a:rPr>
                        <a:t>Level 2: Learning</a:t>
                      </a:r>
                      <a:endParaRPr lang="en-US" sz="1100"/>
                    </a:p>
                  </a:txBody>
                  <a:tcPr marL="73314" marR="73314" marT="73314" marB="73314" anchor="ctr">
                    <a:lnL w="18328" cap="flat" cmpd="sng" algn="ctr">
                      <a:solidFill>
                        <a:srgbClr val="232B43"/>
                      </a:solidFill>
                      <a:prstDash val="solid"/>
                      <a:round/>
                      <a:headEnd type="none" w="med" len="med"/>
                      <a:tailEnd type="none" w="med" len="med"/>
                    </a:lnL>
                    <a:lnR w="18328" cap="flat" cmpd="sng" algn="ctr">
                      <a:solidFill>
                        <a:srgbClr val="232B43"/>
                      </a:solidFill>
                      <a:prstDash val="solid"/>
                      <a:round/>
                      <a:headEnd type="none" w="med" len="med"/>
                      <a:tailEnd type="none" w="med" len="med"/>
                    </a:lnR>
                    <a:lnT w="18328" cap="flat" cmpd="sng" algn="ctr">
                      <a:solidFill>
                        <a:srgbClr val="232B43"/>
                      </a:solidFill>
                      <a:prstDash val="solid"/>
                      <a:round/>
                      <a:headEnd type="none" w="med" len="med"/>
                      <a:tailEnd type="none" w="med" len="med"/>
                    </a:lnT>
                    <a:lnB w="18328" cap="flat" cmpd="sng" algn="ctr">
                      <a:solidFill>
                        <a:srgbClr val="232B43"/>
                      </a:solidFill>
                      <a:prstDash val="solid"/>
                      <a:round/>
                      <a:headEnd type="none" w="med" len="med"/>
                      <a:tailEnd type="none" w="med" len="med"/>
                    </a:lnB>
                    <a:solidFill>
                      <a:srgbClr val="727681"/>
                    </a:solidFill>
                  </a:tcPr>
                </a:tc>
                <a:extLst>
                  <a:ext uri="{0D108BD9-81ED-4DB2-BD59-A6C34878D82A}">
                    <a16:rowId xmlns:a16="http://schemas.microsoft.com/office/drawing/2014/main" val="10002"/>
                  </a:ext>
                </a:extLst>
              </a:tr>
              <a:tr h="1036250">
                <a:tc>
                  <a:txBody>
                    <a:bodyPr/>
                    <a:lstStyle/>
                    <a:p>
                      <a:pPr algn="ctr">
                        <a:lnSpc>
                          <a:spcPts val="3919"/>
                        </a:lnSpc>
                        <a:defRPr/>
                      </a:pPr>
                      <a:r>
                        <a:rPr lang="en-US" sz="2799" b="1">
                          <a:solidFill>
                            <a:srgbClr val="F7F7F7"/>
                          </a:solidFill>
                          <a:latin typeface="Gotham Bold"/>
                          <a:ea typeface="Gotham Bold"/>
                          <a:cs typeface="Gotham Bold"/>
                          <a:sym typeface="Gotham Bold"/>
                        </a:rPr>
                        <a:t>Level 3: Behavior</a:t>
                      </a:r>
                      <a:endParaRPr lang="en-US" sz="1100"/>
                    </a:p>
                  </a:txBody>
                  <a:tcPr marL="73314" marR="73314" marT="73314" marB="73314" anchor="ctr">
                    <a:lnL w="18328" cap="flat" cmpd="sng" algn="ctr">
                      <a:solidFill>
                        <a:srgbClr val="232B43"/>
                      </a:solidFill>
                      <a:prstDash val="solid"/>
                      <a:round/>
                      <a:headEnd type="none" w="med" len="med"/>
                      <a:tailEnd type="none" w="med" len="med"/>
                    </a:lnL>
                    <a:lnR w="18328" cap="flat" cmpd="sng" algn="ctr">
                      <a:solidFill>
                        <a:srgbClr val="232B43"/>
                      </a:solidFill>
                      <a:prstDash val="solid"/>
                      <a:round/>
                      <a:headEnd type="none" w="med" len="med"/>
                      <a:tailEnd type="none" w="med" len="med"/>
                    </a:lnR>
                    <a:lnT w="18328" cap="flat" cmpd="sng" algn="ctr">
                      <a:solidFill>
                        <a:srgbClr val="232B43"/>
                      </a:solidFill>
                      <a:prstDash val="solid"/>
                      <a:round/>
                      <a:headEnd type="none" w="med" len="med"/>
                      <a:tailEnd type="none" w="med" len="med"/>
                    </a:lnT>
                    <a:lnB w="18328" cap="flat" cmpd="sng" algn="ctr">
                      <a:solidFill>
                        <a:srgbClr val="232B43"/>
                      </a:solidFill>
                      <a:prstDash val="solid"/>
                      <a:round/>
                      <a:headEnd type="none" w="med" len="med"/>
                      <a:tailEnd type="none" w="med" len="med"/>
                    </a:lnB>
                    <a:solidFill>
                      <a:srgbClr val="727681"/>
                    </a:solidFill>
                  </a:tcPr>
                </a:tc>
                <a:extLst>
                  <a:ext uri="{0D108BD9-81ED-4DB2-BD59-A6C34878D82A}">
                    <a16:rowId xmlns:a16="http://schemas.microsoft.com/office/drawing/2014/main" val="10003"/>
                  </a:ext>
                </a:extLst>
              </a:tr>
              <a:tr h="1036250">
                <a:tc>
                  <a:txBody>
                    <a:bodyPr/>
                    <a:lstStyle/>
                    <a:p>
                      <a:pPr algn="ctr">
                        <a:lnSpc>
                          <a:spcPts val="3919"/>
                        </a:lnSpc>
                        <a:defRPr/>
                      </a:pPr>
                      <a:r>
                        <a:rPr lang="en-US" sz="2799" b="1">
                          <a:solidFill>
                            <a:srgbClr val="F7F7F7"/>
                          </a:solidFill>
                          <a:latin typeface="Gotham Bold"/>
                          <a:ea typeface="Gotham Bold"/>
                          <a:cs typeface="Gotham Bold"/>
                          <a:sym typeface="Gotham Bold"/>
                        </a:rPr>
                        <a:t>Level 4: Results</a:t>
                      </a:r>
                      <a:endParaRPr lang="en-US" sz="1100"/>
                    </a:p>
                  </a:txBody>
                  <a:tcPr marL="73314" marR="73314" marT="73314" marB="73314" anchor="ctr">
                    <a:lnL w="18328" cap="flat" cmpd="sng" algn="ctr">
                      <a:solidFill>
                        <a:srgbClr val="232B43"/>
                      </a:solidFill>
                      <a:prstDash val="solid"/>
                      <a:round/>
                      <a:headEnd type="none" w="med" len="med"/>
                      <a:tailEnd type="none" w="med" len="med"/>
                    </a:lnL>
                    <a:lnR w="18328" cap="flat" cmpd="sng" algn="ctr">
                      <a:solidFill>
                        <a:srgbClr val="232B43"/>
                      </a:solidFill>
                      <a:prstDash val="solid"/>
                      <a:round/>
                      <a:headEnd type="none" w="med" len="med"/>
                      <a:tailEnd type="none" w="med" len="med"/>
                    </a:lnR>
                    <a:lnT w="18328" cap="flat" cmpd="sng" algn="ctr">
                      <a:solidFill>
                        <a:srgbClr val="232B43"/>
                      </a:solidFill>
                      <a:prstDash val="solid"/>
                      <a:round/>
                      <a:headEnd type="none" w="med" len="med"/>
                      <a:tailEnd type="none" w="med" len="med"/>
                    </a:lnT>
                    <a:lnB w="18328" cap="flat" cmpd="sng" algn="ctr">
                      <a:solidFill>
                        <a:srgbClr val="232B43"/>
                      </a:solidFill>
                      <a:prstDash val="solid"/>
                      <a:round/>
                      <a:headEnd type="none" w="med" len="med"/>
                      <a:tailEnd type="none" w="med" len="med"/>
                    </a:lnB>
                    <a:solidFill>
                      <a:srgbClr val="727681"/>
                    </a:solidFill>
                  </a:tcPr>
                </a:tc>
                <a:extLst>
                  <a:ext uri="{0D108BD9-81ED-4DB2-BD59-A6C34878D82A}">
                    <a16:rowId xmlns:a16="http://schemas.microsoft.com/office/drawing/2014/main" val="10004"/>
                  </a:ext>
                </a:extLst>
              </a:tr>
            </a:tbl>
          </a:graphicData>
        </a:graphic>
      </p:graphicFrame>
      <p:sp>
        <p:nvSpPr>
          <p:cNvPr id="4" name="Freeform 4"/>
          <p:cNvSpPr/>
          <p:nvPr/>
        </p:nvSpPr>
        <p:spPr>
          <a:xfrm>
            <a:off x="1212950" y="8964118"/>
            <a:ext cx="1735967" cy="588365"/>
          </a:xfrm>
          <a:custGeom>
            <a:avLst/>
            <a:gdLst/>
            <a:ahLst/>
            <a:cxnLst/>
            <a:rect l="l" t="t" r="r" b="b"/>
            <a:pathLst>
              <a:path w="1735967" h="588365">
                <a:moveTo>
                  <a:pt x="0" y="0"/>
                </a:moveTo>
                <a:lnTo>
                  <a:pt x="1735967" y="0"/>
                </a:lnTo>
                <a:lnTo>
                  <a:pt x="1735967" y="588364"/>
                </a:lnTo>
                <a:lnTo>
                  <a:pt x="0" y="588364"/>
                </a:lnTo>
                <a:lnTo>
                  <a:pt x="0" y="0"/>
                </a:lnTo>
                <a:close/>
              </a:path>
            </a:pathLst>
          </a:custGeom>
          <a:blipFill>
            <a:blip r:embed="rId3"/>
            <a:stretch>
              <a:fillRect/>
            </a:stretch>
          </a:blipFill>
        </p:spPr>
        <p:txBody>
          <a:bodyPr/>
          <a:lstStyle/>
          <a:p>
            <a:endParaRPr lang="en-US"/>
          </a:p>
        </p:txBody>
      </p:sp>
      <p:grpSp>
        <p:nvGrpSpPr>
          <p:cNvPr id="5" name="Group 5"/>
          <p:cNvGrpSpPr/>
          <p:nvPr/>
        </p:nvGrpSpPr>
        <p:grpSpPr>
          <a:xfrm>
            <a:off x="1028700" y="1723529"/>
            <a:ext cx="3840435" cy="47625"/>
            <a:chOff x="0" y="0"/>
            <a:chExt cx="1430511" cy="17740"/>
          </a:xfrm>
        </p:grpSpPr>
        <p:sp>
          <p:nvSpPr>
            <p:cNvPr id="6" name="Freeform 6"/>
            <p:cNvSpPr/>
            <p:nvPr/>
          </p:nvSpPr>
          <p:spPr>
            <a:xfrm>
              <a:off x="0" y="0"/>
              <a:ext cx="1430511" cy="17740"/>
            </a:xfrm>
            <a:custGeom>
              <a:avLst/>
              <a:gdLst/>
              <a:ahLst/>
              <a:cxnLst/>
              <a:rect l="l" t="t" r="r" b="b"/>
              <a:pathLst>
                <a:path w="1430511" h="17740">
                  <a:moveTo>
                    <a:pt x="8870" y="0"/>
                  </a:moveTo>
                  <a:lnTo>
                    <a:pt x="1421641" y="0"/>
                  </a:lnTo>
                  <a:cubicBezTo>
                    <a:pt x="1423994" y="0"/>
                    <a:pt x="1426250" y="934"/>
                    <a:pt x="1427913" y="2598"/>
                  </a:cubicBezTo>
                  <a:cubicBezTo>
                    <a:pt x="1429577" y="4261"/>
                    <a:pt x="1430511" y="6517"/>
                    <a:pt x="1430511" y="8870"/>
                  </a:cubicBezTo>
                  <a:lnTo>
                    <a:pt x="1430511" y="8870"/>
                  </a:lnTo>
                  <a:cubicBezTo>
                    <a:pt x="1430511" y="13769"/>
                    <a:pt x="1426540" y="17740"/>
                    <a:pt x="1421641" y="17740"/>
                  </a:cubicBezTo>
                  <a:lnTo>
                    <a:pt x="8870" y="17740"/>
                  </a:lnTo>
                  <a:cubicBezTo>
                    <a:pt x="3971" y="17740"/>
                    <a:pt x="0" y="13769"/>
                    <a:pt x="0" y="8870"/>
                  </a:cubicBezTo>
                  <a:lnTo>
                    <a:pt x="0" y="8870"/>
                  </a:lnTo>
                  <a:cubicBezTo>
                    <a:pt x="0" y="3971"/>
                    <a:pt x="3971" y="0"/>
                    <a:pt x="8870" y="0"/>
                  </a:cubicBezTo>
                  <a:close/>
                </a:path>
              </a:pathLst>
            </a:custGeom>
            <a:solidFill>
              <a:srgbClr val="232B43"/>
            </a:solidFill>
          </p:spPr>
          <p:txBody>
            <a:bodyPr/>
            <a:lstStyle/>
            <a:p>
              <a:endParaRPr lang="en-US"/>
            </a:p>
          </p:txBody>
        </p:sp>
        <p:sp>
          <p:nvSpPr>
            <p:cNvPr id="7" name="TextBox 7"/>
            <p:cNvSpPr txBox="1"/>
            <p:nvPr/>
          </p:nvSpPr>
          <p:spPr>
            <a:xfrm>
              <a:off x="0" y="-28575"/>
              <a:ext cx="1430511" cy="46315"/>
            </a:xfrm>
            <a:prstGeom prst="rect">
              <a:avLst/>
            </a:prstGeom>
          </p:spPr>
          <p:txBody>
            <a:bodyPr lIns="48876" tIns="48876" rIns="48876" bIns="48876" rtlCol="0" anchor="ctr"/>
            <a:lstStyle/>
            <a:p>
              <a:pPr algn="ctr">
                <a:lnSpc>
                  <a:spcPts val="1885"/>
                </a:lnSpc>
              </a:pPr>
              <a:endParaRPr/>
            </a:p>
          </p:txBody>
        </p:sp>
      </p:grpSp>
      <p:sp>
        <p:nvSpPr>
          <p:cNvPr id="8" name="TextBox 8"/>
          <p:cNvSpPr txBox="1"/>
          <p:nvPr/>
        </p:nvSpPr>
        <p:spPr>
          <a:xfrm>
            <a:off x="13877223" y="9713303"/>
            <a:ext cx="3382077" cy="223364"/>
          </a:xfrm>
          <a:prstGeom prst="rect">
            <a:avLst/>
          </a:prstGeom>
        </p:spPr>
        <p:txBody>
          <a:bodyPr lIns="0" tIns="0" rIns="0" bIns="0" rtlCol="0" anchor="t">
            <a:spAutoFit/>
          </a:bodyPr>
          <a:lstStyle/>
          <a:p>
            <a:pPr algn="r">
              <a:lnSpc>
                <a:spcPts val="1863"/>
              </a:lnSpc>
            </a:pPr>
            <a:r>
              <a:rPr lang="en-US" sz="1331">
                <a:solidFill>
                  <a:srgbClr val="232B43"/>
                </a:solidFill>
                <a:latin typeface="Gotham"/>
                <a:ea typeface="Gotham"/>
                <a:cs typeface="Gotham"/>
                <a:sym typeface="Gotham"/>
              </a:rPr>
              <a:t>www.phri.com.ph</a:t>
            </a:r>
          </a:p>
        </p:txBody>
      </p:sp>
      <p:sp>
        <p:nvSpPr>
          <p:cNvPr id="9" name="TextBox 9"/>
          <p:cNvSpPr txBox="1"/>
          <p:nvPr/>
        </p:nvSpPr>
        <p:spPr>
          <a:xfrm>
            <a:off x="1028700" y="1920445"/>
            <a:ext cx="16249932" cy="1045740"/>
          </a:xfrm>
          <a:prstGeom prst="rect">
            <a:avLst/>
          </a:prstGeom>
        </p:spPr>
        <p:txBody>
          <a:bodyPr lIns="0" tIns="0" rIns="0" bIns="0" rtlCol="0" anchor="t">
            <a:spAutoFit/>
          </a:bodyPr>
          <a:lstStyle/>
          <a:p>
            <a:pPr algn="just">
              <a:lnSpc>
                <a:spcPts val="2404"/>
              </a:lnSpc>
              <a:spcBef>
                <a:spcPct val="0"/>
              </a:spcBef>
            </a:pPr>
            <a:r>
              <a:rPr lang="en-US" sz="1717" b="1">
                <a:solidFill>
                  <a:srgbClr val="232B43"/>
                </a:solidFill>
                <a:latin typeface="Gotham Bold"/>
                <a:ea typeface="Gotham Bold"/>
                <a:cs typeface="Gotham Bold"/>
                <a:sym typeface="Gotham Bold"/>
              </a:rPr>
              <a:t>Kirkpatrick's Four Levels of Evaluation</a:t>
            </a:r>
          </a:p>
          <a:p>
            <a:pPr algn="just">
              <a:lnSpc>
                <a:spcPts val="2017"/>
              </a:lnSpc>
              <a:spcBef>
                <a:spcPct val="0"/>
              </a:spcBef>
            </a:pPr>
            <a:r>
              <a:rPr lang="en-US" sz="1440">
                <a:solidFill>
                  <a:srgbClr val="232B43"/>
                </a:solidFill>
                <a:latin typeface="Gotham"/>
                <a:ea typeface="Gotham"/>
                <a:cs typeface="Gotham"/>
                <a:sym typeface="Gotham"/>
              </a:rPr>
              <a:t>The Kirkpatrick Evaluation Model is a four-level framework for assessing the effectiveness of training programs by measuring reaction, learning, behavior change, and business results. It provides L&amp;D professionals with a comprehensive approach to determine not only participant satisfaction but also knowledge acquisition, on-the-job application, and ultimate impact on organizational performance metrics.</a:t>
            </a:r>
          </a:p>
        </p:txBody>
      </p:sp>
      <p:sp>
        <p:nvSpPr>
          <p:cNvPr id="10" name="TextBox 10"/>
          <p:cNvSpPr txBox="1"/>
          <p:nvPr/>
        </p:nvSpPr>
        <p:spPr>
          <a:xfrm>
            <a:off x="1028700" y="866848"/>
            <a:ext cx="7076223" cy="662941"/>
          </a:xfrm>
          <a:prstGeom prst="rect">
            <a:avLst/>
          </a:prstGeom>
        </p:spPr>
        <p:txBody>
          <a:bodyPr lIns="0" tIns="0" rIns="0" bIns="0" rtlCol="0" anchor="t">
            <a:spAutoFit/>
          </a:bodyPr>
          <a:lstStyle/>
          <a:p>
            <a:pPr algn="l">
              <a:lnSpc>
                <a:spcPts val="5459"/>
              </a:lnSpc>
              <a:spcBef>
                <a:spcPct val="0"/>
              </a:spcBef>
            </a:pPr>
            <a:r>
              <a:rPr lang="en-US" sz="3899" b="1">
                <a:solidFill>
                  <a:srgbClr val="232B43"/>
                </a:solidFill>
                <a:latin typeface="Gotham Bold"/>
                <a:ea typeface="Gotham Bold"/>
                <a:cs typeface="Gotham Bold"/>
                <a:sym typeface="Gotham Bold"/>
              </a:rPr>
              <a:t>Evaluation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71550"/>
            <a:ext cx="16019146" cy="6452471"/>
          </a:xfrm>
          <a:prstGeom prst="rect">
            <a:avLst/>
          </a:prstGeom>
        </p:spPr>
        <p:txBody>
          <a:bodyPr lIns="0" tIns="0" rIns="0" bIns="0" rtlCol="0" anchor="t">
            <a:spAutoFit/>
          </a:bodyPr>
          <a:lstStyle/>
          <a:p>
            <a:pPr algn="l">
              <a:lnSpc>
                <a:spcPts val="3961"/>
              </a:lnSpc>
            </a:pPr>
            <a:r>
              <a:rPr lang="en-US" sz="2829" b="1">
                <a:solidFill>
                  <a:srgbClr val="232B43"/>
                </a:solidFill>
                <a:latin typeface="Gotham Bold"/>
                <a:ea typeface="Gotham Bold"/>
                <a:cs typeface="Gotham Bold"/>
                <a:sym typeface="Gotham Bold"/>
              </a:rPr>
              <a:t>Learning Interventions</a:t>
            </a:r>
          </a:p>
          <a:p>
            <a:pPr algn="l">
              <a:lnSpc>
                <a:spcPts val="3121"/>
              </a:lnSpc>
            </a:pPr>
            <a:endParaRPr lang="en-US" sz="2829" b="1">
              <a:solidFill>
                <a:srgbClr val="232B43"/>
              </a:solidFill>
              <a:latin typeface="Gotham Bold"/>
              <a:ea typeface="Gotham Bold"/>
              <a:cs typeface="Gotham Bold"/>
              <a:sym typeface="Gotham Bold"/>
            </a:endParaRPr>
          </a:p>
          <a:p>
            <a:pPr marL="453819" lvl="1" indent="-226910" algn="l">
              <a:lnSpc>
                <a:spcPts val="2942"/>
              </a:lnSpc>
              <a:buFont typeface="Arial"/>
              <a:buChar char="•"/>
            </a:pPr>
            <a:r>
              <a:rPr lang="en-US" sz="2101" b="1">
                <a:solidFill>
                  <a:srgbClr val="232B43"/>
                </a:solidFill>
                <a:latin typeface="Gotham Bold"/>
                <a:ea typeface="Gotham Bold"/>
                <a:cs typeface="Gotham Bold"/>
                <a:sym typeface="Gotham Bold"/>
              </a:rPr>
              <a:t>Coaching and mentoring</a:t>
            </a:r>
            <a:r>
              <a:rPr lang="en-US" sz="2101">
                <a:solidFill>
                  <a:srgbClr val="232B43"/>
                </a:solidFill>
                <a:latin typeface="Gotham"/>
                <a:ea typeface="Gotham"/>
                <a:cs typeface="Gotham"/>
                <a:sym typeface="Gotham"/>
              </a:rPr>
              <a:t> - Personalized learning interventions that facilitate professional growth through guided relationships between experienced practitioners and developing individuals. </a:t>
            </a:r>
          </a:p>
          <a:p>
            <a:pPr algn="l">
              <a:lnSpc>
                <a:spcPts val="2942"/>
              </a:lnSpc>
            </a:pPr>
            <a:endParaRPr lang="en-US" sz="2101">
              <a:solidFill>
                <a:srgbClr val="232B43"/>
              </a:solidFill>
              <a:latin typeface="Gotham"/>
              <a:ea typeface="Gotham"/>
              <a:cs typeface="Gotham"/>
              <a:sym typeface="Gotham"/>
            </a:endParaRPr>
          </a:p>
          <a:p>
            <a:pPr marL="453819" lvl="1" indent="-226910" algn="l">
              <a:lnSpc>
                <a:spcPts val="2942"/>
              </a:lnSpc>
              <a:buFont typeface="Arial"/>
              <a:buChar char="•"/>
            </a:pPr>
            <a:r>
              <a:rPr lang="en-US" sz="2101" b="1">
                <a:solidFill>
                  <a:srgbClr val="232B43"/>
                </a:solidFill>
                <a:latin typeface="Gotham Bold"/>
                <a:ea typeface="Gotham Bold"/>
                <a:cs typeface="Gotham Bold"/>
                <a:sym typeface="Gotham Bold"/>
              </a:rPr>
              <a:t>On-the-job learning</a:t>
            </a:r>
            <a:r>
              <a:rPr lang="en-US" sz="2101">
                <a:solidFill>
                  <a:srgbClr val="232B43"/>
                </a:solidFill>
                <a:latin typeface="Gotham"/>
                <a:ea typeface="Gotham"/>
                <a:cs typeface="Gotham"/>
                <a:sym typeface="Gotham"/>
              </a:rPr>
              <a:t> - Learning approach of mastering through repetition and consistency. Derived from 70-20-10 model.</a:t>
            </a:r>
          </a:p>
          <a:p>
            <a:pPr algn="l">
              <a:lnSpc>
                <a:spcPts val="2942"/>
              </a:lnSpc>
            </a:pPr>
            <a:endParaRPr lang="en-US" sz="2101">
              <a:solidFill>
                <a:srgbClr val="232B43"/>
              </a:solidFill>
              <a:latin typeface="Gotham"/>
              <a:ea typeface="Gotham"/>
              <a:cs typeface="Gotham"/>
              <a:sym typeface="Gotham"/>
            </a:endParaRPr>
          </a:p>
          <a:p>
            <a:pPr marL="453819" lvl="1" indent="-226910" algn="l">
              <a:lnSpc>
                <a:spcPts val="2942"/>
              </a:lnSpc>
              <a:buFont typeface="Arial"/>
              <a:buChar char="•"/>
            </a:pPr>
            <a:r>
              <a:rPr lang="en-US" sz="2101" b="1">
                <a:solidFill>
                  <a:srgbClr val="232B43"/>
                </a:solidFill>
                <a:latin typeface="Gotham Bold"/>
                <a:ea typeface="Gotham Bold"/>
                <a:cs typeface="Gotham Bold"/>
                <a:sym typeface="Gotham Bold"/>
              </a:rPr>
              <a:t>eLearning and Digital Solutions</a:t>
            </a:r>
            <a:r>
              <a:rPr lang="en-US" sz="2101">
                <a:solidFill>
                  <a:srgbClr val="232B43"/>
                </a:solidFill>
                <a:latin typeface="Gotham"/>
                <a:ea typeface="Gotham"/>
                <a:cs typeface="Gotham"/>
                <a:sym typeface="Gotham"/>
              </a:rPr>
              <a:t> - At own pace of learner, implemented with the aid of digital tools and applications.</a:t>
            </a:r>
          </a:p>
          <a:p>
            <a:pPr algn="l">
              <a:lnSpc>
                <a:spcPts val="2942"/>
              </a:lnSpc>
            </a:pPr>
            <a:endParaRPr lang="en-US" sz="2101">
              <a:solidFill>
                <a:srgbClr val="232B43"/>
              </a:solidFill>
              <a:latin typeface="Gotham"/>
              <a:ea typeface="Gotham"/>
              <a:cs typeface="Gotham"/>
              <a:sym typeface="Gotham"/>
            </a:endParaRPr>
          </a:p>
          <a:p>
            <a:pPr marL="453819" lvl="1" indent="-226910" algn="l">
              <a:lnSpc>
                <a:spcPts val="2942"/>
              </a:lnSpc>
              <a:buFont typeface="Arial"/>
              <a:buChar char="•"/>
            </a:pPr>
            <a:r>
              <a:rPr lang="en-US" sz="2101" b="1">
                <a:solidFill>
                  <a:srgbClr val="232B43"/>
                </a:solidFill>
                <a:latin typeface="Gotham Bold"/>
                <a:ea typeface="Gotham Bold"/>
                <a:cs typeface="Gotham Bold"/>
                <a:sym typeface="Gotham Bold"/>
              </a:rPr>
              <a:t>Traditional Classroom Training</a:t>
            </a:r>
            <a:r>
              <a:rPr lang="en-US" sz="2101">
                <a:solidFill>
                  <a:srgbClr val="232B43"/>
                </a:solidFill>
                <a:latin typeface="Gotham"/>
                <a:ea typeface="Gotham"/>
                <a:cs typeface="Gotham"/>
                <a:sym typeface="Gotham"/>
              </a:rPr>
              <a:t> - Instructor-led educational sessions conducted in physical learning environments that facilitate direct interaction, immediate feedback, and collaborative learning experiences among participants.</a:t>
            </a:r>
          </a:p>
          <a:p>
            <a:pPr algn="l">
              <a:lnSpc>
                <a:spcPts val="2942"/>
              </a:lnSpc>
            </a:pPr>
            <a:endParaRPr lang="en-US" sz="2101">
              <a:solidFill>
                <a:srgbClr val="232B43"/>
              </a:solidFill>
              <a:latin typeface="Gotham"/>
              <a:ea typeface="Gotham"/>
              <a:cs typeface="Gotham"/>
              <a:sym typeface="Gotham"/>
            </a:endParaRPr>
          </a:p>
          <a:p>
            <a:pPr marL="453819" lvl="1" indent="-226910" algn="l">
              <a:lnSpc>
                <a:spcPts val="2942"/>
              </a:lnSpc>
              <a:spcBef>
                <a:spcPct val="0"/>
              </a:spcBef>
              <a:buFont typeface="Arial"/>
              <a:buChar char="•"/>
            </a:pPr>
            <a:r>
              <a:rPr lang="en-US" sz="2101" b="1">
                <a:solidFill>
                  <a:srgbClr val="232B43"/>
                </a:solidFill>
                <a:latin typeface="Gotham Bold"/>
                <a:ea typeface="Gotham Bold"/>
                <a:cs typeface="Gotham Bold"/>
                <a:sym typeface="Gotham Bold"/>
              </a:rPr>
              <a:t>Action Learning</a:t>
            </a:r>
            <a:r>
              <a:rPr lang="en-US" sz="2101">
                <a:solidFill>
                  <a:srgbClr val="232B43"/>
                </a:solidFill>
                <a:latin typeface="Gotham"/>
                <a:ea typeface="Gotham"/>
                <a:cs typeface="Gotham"/>
                <a:sym typeface="Gotham"/>
              </a:rPr>
              <a:t> - Developmental approach where individuals work on real organizational challenges in small groups, combining problem-solving with reflection to simultaneously address business issues and build leadership capabilities.</a:t>
            </a:r>
          </a:p>
          <a:p>
            <a:pPr algn="l">
              <a:lnSpc>
                <a:spcPts val="2942"/>
              </a:lnSpc>
              <a:spcBef>
                <a:spcPct val="0"/>
              </a:spcBef>
            </a:pPr>
            <a:endParaRPr lang="en-US" sz="2101">
              <a:solidFill>
                <a:srgbClr val="232B43"/>
              </a:solidFill>
              <a:latin typeface="Gotham"/>
              <a:ea typeface="Gotham"/>
              <a:cs typeface="Gotham"/>
              <a:sym typeface="Gotham"/>
            </a:endParaRPr>
          </a:p>
        </p:txBody>
      </p:sp>
      <p:sp>
        <p:nvSpPr>
          <p:cNvPr id="3" name="Freeform 3"/>
          <p:cNvSpPr/>
          <p:nvPr/>
        </p:nvSpPr>
        <p:spPr>
          <a:xfrm>
            <a:off x="15352795" y="8935218"/>
            <a:ext cx="1906505" cy="646165"/>
          </a:xfrm>
          <a:custGeom>
            <a:avLst/>
            <a:gdLst/>
            <a:ahLst/>
            <a:cxnLst/>
            <a:rect l="l" t="t" r="r" b="b"/>
            <a:pathLst>
              <a:path w="1906505" h="646165">
                <a:moveTo>
                  <a:pt x="0" y="0"/>
                </a:moveTo>
                <a:lnTo>
                  <a:pt x="1906505" y="0"/>
                </a:lnTo>
                <a:lnTo>
                  <a:pt x="1906505" y="646164"/>
                </a:lnTo>
                <a:lnTo>
                  <a:pt x="0" y="646164"/>
                </a:lnTo>
                <a:lnTo>
                  <a:pt x="0" y="0"/>
                </a:lnTo>
                <a:close/>
              </a:path>
            </a:pathLst>
          </a:custGeom>
          <a:blipFill>
            <a:blip r:embed="rId2"/>
            <a:stretch>
              <a:fillRect/>
            </a:stretch>
          </a:blipFill>
        </p:spPr>
        <p:txBody>
          <a:bodyPr/>
          <a:lstStyle/>
          <a:p>
            <a:endParaRPr lang="en-US"/>
          </a:p>
        </p:txBody>
      </p:sp>
      <p:grpSp>
        <p:nvGrpSpPr>
          <p:cNvPr id="4" name="Group 4"/>
          <p:cNvGrpSpPr/>
          <p:nvPr/>
        </p:nvGrpSpPr>
        <p:grpSpPr>
          <a:xfrm>
            <a:off x="1028700" y="1691353"/>
            <a:ext cx="3840435" cy="47625"/>
            <a:chOff x="0" y="0"/>
            <a:chExt cx="1430511" cy="17740"/>
          </a:xfrm>
        </p:grpSpPr>
        <p:sp>
          <p:nvSpPr>
            <p:cNvPr id="5" name="Freeform 5"/>
            <p:cNvSpPr/>
            <p:nvPr/>
          </p:nvSpPr>
          <p:spPr>
            <a:xfrm>
              <a:off x="0" y="0"/>
              <a:ext cx="1430511" cy="17740"/>
            </a:xfrm>
            <a:custGeom>
              <a:avLst/>
              <a:gdLst/>
              <a:ahLst/>
              <a:cxnLst/>
              <a:rect l="l" t="t" r="r" b="b"/>
              <a:pathLst>
                <a:path w="1430511" h="17740">
                  <a:moveTo>
                    <a:pt x="8870" y="0"/>
                  </a:moveTo>
                  <a:lnTo>
                    <a:pt x="1421641" y="0"/>
                  </a:lnTo>
                  <a:cubicBezTo>
                    <a:pt x="1423994" y="0"/>
                    <a:pt x="1426250" y="934"/>
                    <a:pt x="1427913" y="2598"/>
                  </a:cubicBezTo>
                  <a:cubicBezTo>
                    <a:pt x="1429577" y="4261"/>
                    <a:pt x="1430511" y="6517"/>
                    <a:pt x="1430511" y="8870"/>
                  </a:cubicBezTo>
                  <a:lnTo>
                    <a:pt x="1430511" y="8870"/>
                  </a:lnTo>
                  <a:cubicBezTo>
                    <a:pt x="1430511" y="13769"/>
                    <a:pt x="1426540" y="17740"/>
                    <a:pt x="1421641" y="17740"/>
                  </a:cubicBezTo>
                  <a:lnTo>
                    <a:pt x="8870" y="17740"/>
                  </a:lnTo>
                  <a:cubicBezTo>
                    <a:pt x="3971" y="17740"/>
                    <a:pt x="0" y="13769"/>
                    <a:pt x="0" y="8870"/>
                  </a:cubicBezTo>
                  <a:lnTo>
                    <a:pt x="0" y="8870"/>
                  </a:lnTo>
                  <a:cubicBezTo>
                    <a:pt x="0" y="3971"/>
                    <a:pt x="3971" y="0"/>
                    <a:pt x="8870" y="0"/>
                  </a:cubicBezTo>
                  <a:close/>
                </a:path>
              </a:pathLst>
            </a:custGeom>
            <a:solidFill>
              <a:srgbClr val="232B43"/>
            </a:solidFill>
          </p:spPr>
          <p:txBody>
            <a:bodyPr/>
            <a:lstStyle/>
            <a:p>
              <a:endParaRPr lang="en-US"/>
            </a:p>
          </p:txBody>
        </p:sp>
        <p:sp>
          <p:nvSpPr>
            <p:cNvPr id="6" name="TextBox 6"/>
            <p:cNvSpPr txBox="1"/>
            <p:nvPr/>
          </p:nvSpPr>
          <p:spPr>
            <a:xfrm>
              <a:off x="0" y="-28575"/>
              <a:ext cx="1430511" cy="46315"/>
            </a:xfrm>
            <a:prstGeom prst="rect">
              <a:avLst/>
            </a:prstGeom>
          </p:spPr>
          <p:txBody>
            <a:bodyPr lIns="48876" tIns="48876" rIns="48876" bIns="48876" rtlCol="0" anchor="ctr"/>
            <a:lstStyle/>
            <a:p>
              <a:pPr algn="ctr">
                <a:lnSpc>
                  <a:spcPts val="1885"/>
                </a:lnSpc>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30040" y="3468023"/>
            <a:ext cx="3738120" cy="5209173"/>
            <a:chOff x="0" y="0"/>
            <a:chExt cx="1118919" cy="1559244"/>
          </a:xfrm>
        </p:grpSpPr>
        <p:sp>
          <p:nvSpPr>
            <p:cNvPr id="3" name="Freeform 3"/>
            <p:cNvSpPr/>
            <p:nvPr/>
          </p:nvSpPr>
          <p:spPr>
            <a:xfrm>
              <a:off x="0" y="0"/>
              <a:ext cx="1118919" cy="1559244"/>
            </a:xfrm>
            <a:custGeom>
              <a:avLst/>
              <a:gdLst/>
              <a:ahLst/>
              <a:cxnLst/>
              <a:rect l="l" t="t" r="r" b="b"/>
              <a:pathLst>
                <a:path w="1118919" h="1559244">
                  <a:moveTo>
                    <a:pt x="41421" y="0"/>
                  </a:moveTo>
                  <a:lnTo>
                    <a:pt x="1077497" y="0"/>
                  </a:lnTo>
                  <a:cubicBezTo>
                    <a:pt x="1088483" y="0"/>
                    <a:pt x="1099018" y="4364"/>
                    <a:pt x="1106786" y="12132"/>
                  </a:cubicBezTo>
                  <a:cubicBezTo>
                    <a:pt x="1114554" y="19900"/>
                    <a:pt x="1118919" y="30436"/>
                    <a:pt x="1118919" y="41421"/>
                  </a:cubicBezTo>
                  <a:lnTo>
                    <a:pt x="1118919" y="1517822"/>
                  </a:lnTo>
                  <a:cubicBezTo>
                    <a:pt x="1118919" y="1528808"/>
                    <a:pt x="1114554" y="1539344"/>
                    <a:pt x="1106786" y="1547112"/>
                  </a:cubicBezTo>
                  <a:cubicBezTo>
                    <a:pt x="1099018" y="1554880"/>
                    <a:pt x="1088483" y="1559244"/>
                    <a:pt x="1077497" y="1559244"/>
                  </a:cubicBezTo>
                  <a:lnTo>
                    <a:pt x="41421" y="1559244"/>
                  </a:lnTo>
                  <a:cubicBezTo>
                    <a:pt x="18545" y="1559244"/>
                    <a:pt x="0" y="1540699"/>
                    <a:pt x="0" y="1517822"/>
                  </a:cubicBezTo>
                  <a:lnTo>
                    <a:pt x="0" y="41421"/>
                  </a:lnTo>
                  <a:cubicBezTo>
                    <a:pt x="0" y="30436"/>
                    <a:pt x="4364" y="19900"/>
                    <a:pt x="12132" y="12132"/>
                  </a:cubicBezTo>
                  <a:cubicBezTo>
                    <a:pt x="19900" y="4364"/>
                    <a:pt x="30436" y="0"/>
                    <a:pt x="41421" y="0"/>
                  </a:cubicBezTo>
                  <a:close/>
                </a:path>
              </a:pathLst>
            </a:custGeom>
            <a:solidFill>
              <a:srgbClr val="FFFFFF"/>
            </a:solidFill>
            <a:ln w="19050" cap="sq">
              <a:solidFill>
                <a:srgbClr val="323232"/>
              </a:solidFill>
              <a:prstDash val="solid"/>
              <a:miter/>
            </a:ln>
          </p:spPr>
          <p:txBody>
            <a:bodyPr/>
            <a:lstStyle/>
            <a:p>
              <a:endParaRPr lang="en-US"/>
            </a:p>
          </p:txBody>
        </p:sp>
        <p:sp>
          <p:nvSpPr>
            <p:cNvPr id="4" name="TextBox 4"/>
            <p:cNvSpPr txBox="1"/>
            <p:nvPr/>
          </p:nvSpPr>
          <p:spPr>
            <a:xfrm>
              <a:off x="0" y="0"/>
              <a:ext cx="1118919" cy="1559244"/>
            </a:xfrm>
            <a:prstGeom prst="rect">
              <a:avLst/>
            </a:prstGeom>
          </p:spPr>
          <p:txBody>
            <a:bodyPr lIns="43148" tIns="43148" rIns="43148" bIns="43148" rtlCol="0" anchor="t"/>
            <a:lstStyle/>
            <a:p>
              <a:pPr algn="ctr">
                <a:lnSpc>
                  <a:spcPts val="2160"/>
                </a:lnSpc>
              </a:pPr>
              <a:endParaRPr/>
            </a:p>
            <a:p>
              <a:pPr algn="ctr">
                <a:lnSpc>
                  <a:spcPts val="2160"/>
                </a:lnSpc>
              </a:pPr>
              <a:endParaRPr/>
            </a:p>
            <a:p>
              <a:pPr algn="ctr">
                <a:lnSpc>
                  <a:spcPts val="2160"/>
                </a:lnSpc>
              </a:pPr>
              <a:endParaRPr/>
            </a:p>
            <a:p>
              <a:pPr algn="ctr">
                <a:lnSpc>
                  <a:spcPts val="2160"/>
                </a:lnSpc>
              </a:pPr>
              <a:endParaRPr/>
            </a:p>
            <a:p>
              <a:pPr marL="0" lvl="0" indent="0" algn="ctr">
                <a:lnSpc>
                  <a:spcPts val="2160"/>
                </a:lnSpc>
                <a:spcBef>
                  <a:spcPct val="0"/>
                </a:spcBef>
              </a:pPr>
              <a:r>
                <a:rPr lang="en-US" sz="1800" b="1">
                  <a:solidFill>
                    <a:srgbClr val="000000"/>
                  </a:solidFill>
                  <a:latin typeface="Gotham Bold"/>
                  <a:ea typeface="Gotham Bold"/>
                  <a:cs typeface="Gotham Bold"/>
                  <a:sym typeface="Gotham Bold"/>
                </a:rPr>
                <a:t>Form</a:t>
              </a:r>
              <a:r>
                <a:rPr lang="en-US" sz="1800" b="1" u="none" strike="noStrike">
                  <a:solidFill>
                    <a:srgbClr val="000000"/>
                  </a:solidFill>
                  <a:latin typeface="Gotham Bold"/>
                  <a:ea typeface="Gotham Bold"/>
                  <a:cs typeface="Gotham Bold"/>
                  <a:sym typeface="Gotham Bold"/>
                </a:rPr>
                <a:t>al Learning Emphasis:</a:t>
              </a:r>
            </a:p>
            <a:p>
              <a:pPr marL="0" lvl="0" indent="0" algn="ctr">
                <a:lnSpc>
                  <a:spcPts val="2160"/>
                </a:lnSpc>
                <a:spcBef>
                  <a:spcPct val="0"/>
                </a:spcBef>
              </a:pPr>
              <a:endParaRPr lang="en-US" sz="1800" b="1" u="none" strike="noStrike">
                <a:solidFill>
                  <a:srgbClr val="000000"/>
                </a:solidFill>
                <a:latin typeface="Gotham Bold"/>
                <a:ea typeface="Gotham Bold"/>
                <a:cs typeface="Gotham Bold"/>
                <a:sym typeface="Gotham Bold"/>
              </a:endParaRPr>
            </a:p>
            <a:p>
              <a:pPr marL="388620" lvl="1" indent="-194310" algn="l">
                <a:lnSpc>
                  <a:spcPts val="2160"/>
                </a:lnSpc>
                <a:buFont typeface="Arial"/>
                <a:buChar char="•"/>
              </a:pPr>
              <a:r>
                <a:rPr lang="en-US" sz="1800" u="none" strike="noStrike">
                  <a:solidFill>
                    <a:srgbClr val="000000"/>
                  </a:solidFill>
                  <a:latin typeface="Gotham"/>
                  <a:ea typeface="Gotham"/>
                  <a:cs typeface="Gotham"/>
                  <a:sym typeface="Gotham"/>
                </a:rPr>
                <a:t>Strong tradition of classroom training</a:t>
              </a:r>
            </a:p>
            <a:p>
              <a:pPr marL="388620" lvl="1" indent="-194310" algn="l">
                <a:lnSpc>
                  <a:spcPts val="2160"/>
                </a:lnSpc>
                <a:buFont typeface="Arial"/>
                <a:buChar char="•"/>
              </a:pPr>
              <a:r>
                <a:rPr lang="en-US" sz="1800" u="none" strike="noStrike">
                  <a:solidFill>
                    <a:srgbClr val="000000"/>
                  </a:solidFill>
                  <a:latin typeface="Gotham"/>
                  <a:ea typeface="Gotham"/>
                  <a:cs typeface="Gotham"/>
                  <a:sym typeface="Gotham"/>
                </a:rPr>
                <a:t>High value placed on certificates and credentials</a:t>
              </a:r>
            </a:p>
            <a:p>
              <a:pPr marL="388620" lvl="1" indent="-194310" algn="l">
                <a:lnSpc>
                  <a:spcPts val="2160"/>
                </a:lnSpc>
                <a:buFont typeface="Arial"/>
                <a:buChar char="•"/>
              </a:pPr>
              <a:r>
                <a:rPr lang="en-US" sz="1800" u="none" strike="noStrike">
                  <a:solidFill>
                    <a:srgbClr val="000000"/>
                  </a:solidFill>
                  <a:latin typeface="Gotham"/>
                  <a:ea typeface="Gotham"/>
                  <a:cs typeface="Gotham"/>
                  <a:sym typeface="Gotham"/>
                </a:rPr>
                <a:t>Growing but still developing digital learning adoption</a:t>
              </a:r>
            </a:p>
            <a:p>
              <a:pPr algn="l">
                <a:lnSpc>
                  <a:spcPts val="2160"/>
                </a:lnSpc>
              </a:pPr>
              <a:endParaRPr lang="en-US" sz="1800" u="none" strike="noStrike">
                <a:solidFill>
                  <a:srgbClr val="000000"/>
                </a:solidFill>
                <a:latin typeface="Gotham"/>
                <a:ea typeface="Gotham"/>
                <a:cs typeface="Gotham"/>
                <a:sym typeface="Gotham"/>
              </a:endParaRPr>
            </a:p>
          </p:txBody>
        </p:sp>
      </p:grpSp>
      <p:grpSp>
        <p:nvGrpSpPr>
          <p:cNvPr id="5" name="Group 5"/>
          <p:cNvGrpSpPr/>
          <p:nvPr/>
        </p:nvGrpSpPr>
        <p:grpSpPr>
          <a:xfrm>
            <a:off x="5326640" y="3468023"/>
            <a:ext cx="3738120" cy="5209173"/>
            <a:chOff x="0" y="0"/>
            <a:chExt cx="1118919" cy="1559244"/>
          </a:xfrm>
        </p:grpSpPr>
        <p:sp>
          <p:nvSpPr>
            <p:cNvPr id="6" name="Freeform 6"/>
            <p:cNvSpPr/>
            <p:nvPr/>
          </p:nvSpPr>
          <p:spPr>
            <a:xfrm>
              <a:off x="0" y="0"/>
              <a:ext cx="1118919" cy="1559244"/>
            </a:xfrm>
            <a:custGeom>
              <a:avLst/>
              <a:gdLst/>
              <a:ahLst/>
              <a:cxnLst/>
              <a:rect l="l" t="t" r="r" b="b"/>
              <a:pathLst>
                <a:path w="1118919" h="1559244">
                  <a:moveTo>
                    <a:pt x="41421" y="0"/>
                  </a:moveTo>
                  <a:lnTo>
                    <a:pt x="1077497" y="0"/>
                  </a:lnTo>
                  <a:cubicBezTo>
                    <a:pt x="1088483" y="0"/>
                    <a:pt x="1099018" y="4364"/>
                    <a:pt x="1106786" y="12132"/>
                  </a:cubicBezTo>
                  <a:cubicBezTo>
                    <a:pt x="1114554" y="19900"/>
                    <a:pt x="1118919" y="30436"/>
                    <a:pt x="1118919" y="41421"/>
                  </a:cubicBezTo>
                  <a:lnTo>
                    <a:pt x="1118919" y="1517822"/>
                  </a:lnTo>
                  <a:cubicBezTo>
                    <a:pt x="1118919" y="1528808"/>
                    <a:pt x="1114554" y="1539344"/>
                    <a:pt x="1106786" y="1547112"/>
                  </a:cubicBezTo>
                  <a:cubicBezTo>
                    <a:pt x="1099018" y="1554880"/>
                    <a:pt x="1088483" y="1559244"/>
                    <a:pt x="1077497" y="1559244"/>
                  </a:cubicBezTo>
                  <a:lnTo>
                    <a:pt x="41421" y="1559244"/>
                  </a:lnTo>
                  <a:cubicBezTo>
                    <a:pt x="18545" y="1559244"/>
                    <a:pt x="0" y="1540699"/>
                    <a:pt x="0" y="1517822"/>
                  </a:cubicBezTo>
                  <a:lnTo>
                    <a:pt x="0" y="41421"/>
                  </a:lnTo>
                  <a:cubicBezTo>
                    <a:pt x="0" y="30436"/>
                    <a:pt x="4364" y="19900"/>
                    <a:pt x="12132" y="12132"/>
                  </a:cubicBezTo>
                  <a:cubicBezTo>
                    <a:pt x="19900" y="4364"/>
                    <a:pt x="30436" y="0"/>
                    <a:pt x="41421" y="0"/>
                  </a:cubicBezTo>
                  <a:close/>
                </a:path>
              </a:pathLst>
            </a:custGeom>
            <a:solidFill>
              <a:srgbClr val="FFFFFF"/>
            </a:solidFill>
            <a:ln w="19050" cap="sq">
              <a:solidFill>
                <a:srgbClr val="323232"/>
              </a:solidFill>
              <a:prstDash val="solid"/>
              <a:miter/>
            </a:ln>
          </p:spPr>
          <p:txBody>
            <a:bodyPr/>
            <a:lstStyle/>
            <a:p>
              <a:endParaRPr lang="en-US"/>
            </a:p>
          </p:txBody>
        </p:sp>
        <p:sp>
          <p:nvSpPr>
            <p:cNvPr id="7" name="TextBox 7"/>
            <p:cNvSpPr txBox="1"/>
            <p:nvPr/>
          </p:nvSpPr>
          <p:spPr>
            <a:xfrm>
              <a:off x="0" y="-9525"/>
              <a:ext cx="1118919" cy="1568769"/>
            </a:xfrm>
            <a:prstGeom prst="rect">
              <a:avLst/>
            </a:prstGeom>
          </p:spPr>
          <p:txBody>
            <a:bodyPr lIns="43148" tIns="43148" rIns="43148" bIns="43148" rtlCol="0" anchor="t"/>
            <a:lstStyle/>
            <a:p>
              <a:pPr algn="ctr">
                <a:lnSpc>
                  <a:spcPts val="2484"/>
                </a:lnSpc>
              </a:pPr>
              <a:endParaRPr/>
            </a:p>
            <a:p>
              <a:pPr algn="ctr">
                <a:lnSpc>
                  <a:spcPts val="2999"/>
                </a:lnSpc>
              </a:pPr>
              <a:endParaRPr/>
            </a:p>
            <a:p>
              <a:pPr algn="ctr">
                <a:lnSpc>
                  <a:spcPts val="2999"/>
                </a:lnSpc>
              </a:pPr>
              <a:endParaRPr/>
            </a:p>
            <a:p>
              <a:pPr marL="0" lvl="0" indent="0" algn="ctr">
                <a:lnSpc>
                  <a:spcPts val="2160"/>
                </a:lnSpc>
                <a:spcBef>
                  <a:spcPct val="0"/>
                </a:spcBef>
              </a:pPr>
              <a:r>
                <a:rPr lang="en-US" sz="1800" b="1">
                  <a:solidFill>
                    <a:srgbClr val="000000"/>
                  </a:solidFill>
                  <a:latin typeface="Gotham Bold"/>
                  <a:ea typeface="Gotham Bold"/>
                  <a:cs typeface="Gotham Bold"/>
                  <a:sym typeface="Gotham Bold"/>
                </a:rPr>
                <a:t>Know</a:t>
              </a:r>
              <a:r>
                <a:rPr lang="en-US" sz="1800" b="1" u="none" strike="noStrike">
                  <a:solidFill>
                    <a:srgbClr val="000000"/>
                  </a:solidFill>
                  <a:latin typeface="Gotham Bold"/>
                  <a:ea typeface="Gotham Bold"/>
                  <a:cs typeface="Gotham Bold"/>
                  <a:sym typeface="Gotham Bold"/>
                </a:rPr>
                <a:t>ledge Sharing Approaches:</a:t>
              </a:r>
            </a:p>
            <a:p>
              <a:pPr marL="0" lvl="0" indent="0" algn="ctr">
                <a:lnSpc>
                  <a:spcPts val="2160"/>
                </a:lnSpc>
                <a:spcBef>
                  <a:spcPct val="0"/>
                </a:spcBef>
              </a:pPr>
              <a:endParaRPr lang="en-US" sz="1800" b="1" u="none" strike="noStrike">
                <a:solidFill>
                  <a:srgbClr val="000000"/>
                </a:solidFill>
                <a:latin typeface="Gotham Bold"/>
                <a:ea typeface="Gotham Bold"/>
                <a:cs typeface="Gotham Bold"/>
                <a:sym typeface="Gotham Bold"/>
              </a:endParaRPr>
            </a:p>
            <a:p>
              <a:pPr marL="388620" lvl="1" indent="-194310" algn="l">
                <a:lnSpc>
                  <a:spcPts val="2160"/>
                </a:lnSpc>
                <a:buFont typeface="Arial"/>
                <a:buChar char="•"/>
              </a:pPr>
              <a:r>
                <a:rPr lang="en-US" sz="1800" u="none" strike="noStrike">
                  <a:solidFill>
                    <a:srgbClr val="000000"/>
                  </a:solidFill>
                  <a:latin typeface="Gotham"/>
                  <a:ea typeface="Gotham"/>
                  <a:cs typeface="Gotham"/>
                  <a:sym typeface="Gotham"/>
                </a:rPr>
                <a:t>Storytelling traditions support narrative-based learning</a:t>
              </a:r>
            </a:p>
            <a:p>
              <a:pPr marL="388620" lvl="1" indent="-194310" algn="l">
                <a:lnSpc>
                  <a:spcPts val="2160"/>
                </a:lnSpc>
                <a:buFont typeface="Arial"/>
                <a:buChar char="•"/>
              </a:pPr>
              <a:r>
                <a:rPr lang="en-US" sz="1800" u="none" strike="noStrike">
                  <a:solidFill>
                    <a:srgbClr val="000000"/>
                  </a:solidFill>
                  <a:latin typeface="Gotham"/>
                  <a:ea typeface="Gotham"/>
                  <a:cs typeface="Gotham"/>
                  <a:sym typeface="Gotham"/>
                </a:rPr>
                <a:t>Communities of practice often follow social groupings</a:t>
              </a:r>
            </a:p>
            <a:p>
              <a:pPr marL="388620" lvl="1" indent="-194310" algn="l">
                <a:lnSpc>
                  <a:spcPts val="2160"/>
                </a:lnSpc>
                <a:buFont typeface="Arial"/>
                <a:buChar char="•"/>
              </a:pPr>
              <a:r>
                <a:rPr lang="en-US" sz="1800" u="none" strike="noStrike">
                  <a:solidFill>
                    <a:srgbClr val="000000"/>
                  </a:solidFill>
                  <a:latin typeface="Gotham"/>
                  <a:ea typeface="Gotham"/>
                  <a:cs typeface="Gotham"/>
                  <a:sym typeface="Gotham"/>
                </a:rPr>
                <a:t>Mentoring relationships based on strong interpersonal bonds</a:t>
              </a:r>
            </a:p>
          </p:txBody>
        </p:sp>
      </p:grpSp>
      <p:grpSp>
        <p:nvGrpSpPr>
          <p:cNvPr id="8" name="Group 8"/>
          <p:cNvGrpSpPr/>
          <p:nvPr/>
        </p:nvGrpSpPr>
        <p:grpSpPr>
          <a:xfrm>
            <a:off x="9223240" y="3468023"/>
            <a:ext cx="3738120" cy="5209173"/>
            <a:chOff x="0" y="0"/>
            <a:chExt cx="1118919" cy="1559244"/>
          </a:xfrm>
        </p:grpSpPr>
        <p:sp>
          <p:nvSpPr>
            <p:cNvPr id="9" name="Freeform 9"/>
            <p:cNvSpPr/>
            <p:nvPr/>
          </p:nvSpPr>
          <p:spPr>
            <a:xfrm>
              <a:off x="0" y="0"/>
              <a:ext cx="1118919" cy="1559244"/>
            </a:xfrm>
            <a:custGeom>
              <a:avLst/>
              <a:gdLst/>
              <a:ahLst/>
              <a:cxnLst/>
              <a:rect l="l" t="t" r="r" b="b"/>
              <a:pathLst>
                <a:path w="1118919" h="1559244">
                  <a:moveTo>
                    <a:pt x="41421" y="0"/>
                  </a:moveTo>
                  <a:lnTo>
                    <a:pt x="1077497" y="0"/>
                  </a:lnTo>
                  <a:cubicBezTo>
                    <a:pt x="1088483" y="0"/>
                    <a:pt x="1099018" y="4364"/>
                    <a:pt x="1106786" y="12132"/>
                  </a:cubicBezTo>
                  <a:cubicBezTo>
                    <a:pt x="1114554" y="19900"/>
                    <a:pt x="1118919" y="30436"/>
                    <a:pt x="1118919" y="41421"/>
                  </a:cubicBezTo>
                  <a:lnTo>
                    <a:pt x="1118919" y="1517822"/>
                  </a:lnTo>
                  <a:cubicBezTo>
                    <a:pt x="1118919" y="1528808"/>
                    <a:pt x="1114554" y="1539344"/>
                    <a:pt x="1106786" y="1547112"/>
                  </a:cubicBezTo>
                  <a:cubicBezTo>
                    <a:pt x="1099018" y="1554880"/>
                    <a:pt x="1088483" y="1559244"/>
                    <a:pt x="1077497" y="1559244"/>
                  </a:cubicBezTo>
                  <a:lnTo>
                    <a:pt x="41421" y="1559244"/>
                  </a:lnTo>
                  <a:cubicBezTo>
                    <a:pt x="18545" y="1559244"/>
                    <a:pt x="0" y="1540699"/>
                    <a:pt x="0" y="1517822"/>
                  </a:cubicBezTo>
                  <a:lnTo>
                    <a:pt x="0" y="41421"/>
                  </a:lnTo>
                  <a:cubicBezTo>
                    <a:pt x="0" y="30436"/>
                    <a:pt x="4364" y="19900"/>
                    <a:pt x="12132" y="12132"/>
                  </a:cubicBezTo>
                  <a:cubicBezTo>
                    <a:pt x="19900" y="4364"/>
                    <a:pt x="30436" y="0"/>
                    <a:pt x="41421" y="0"/>
                  </a:cubicBezTo>
                  <a:close/>
                </a:path>
              </a:pathLst>
            </a:custGeom>
            <a:solidFill>
              <a:srgbClr val="FFFFFF"/>
            </a:solidFill>
            <a:ln w="19050" cap="sq">
              <a:solidFill>
                <a:srgbClr val="323232"/>
              </a:solidFill>
              <a:prstDash val="solid"/>
              <a:miter/>
            </a:ln>
          </p:spPr>
          <p:txBody>
            <a:bodyPr/>
            <a:lstStyle/>
            <a:p>
              <a:endParaRPr lang="en-US"/>
            </a:p>
          </p:txBody>
        </p:sp>
        <p:sp>
          <p:nvSpPr>
            <p:cNvPr id="10" name="TextBox 10"/>
            <p:cNvSpPr txBox="1"/>
            <p:nvPr/>
          </p:nvSpPr>
          <p:spPr>
            <a:xfrm>
              <a:off x="0" y="0"/>
              <a:ext cx="1118919" cy="1559244"/>
            </a:xfrm>
            <a:prstGeom prst="rect">
              <a:avLst/>
            </a:prstGeom>
          </p:spPr>
          <p:txBody>
            <a:bodyPr lIns="43148" tIns="43148" rIns="43148" bIns="43148" rtlCol="0" anchor="t"/>
            <a:lstStyle/>
            <a:p>
              <a:pPr algn="l">
                <a:lnSpc>
                  <a:spcPts val="2160"/>
                </a:lnSpc>
              </a:pPr>
              <a:endParaRPr/>
            </a:p>
            <a:p>
              <a:pPr algn="ctr">
                <a:lnSpc>
                  <a:spcPts val="2160"/>
                </a:lnSpc>
              </a:pPr>
              <a:endParaRPr/>
            </a:p>
            <a:p>
              <a:pPr algn="ctr">
                <a:lnSpc>
                  <a:spcPts val="2160"/>
                </a:lnSpc>
              </a:pPr>
              <a:endParaRPr/>
            </a:p>
            <a:p>
              <a:pPr algn="ctr">
                <a:lnSpc>
                  <a:spcPts val="2160"/>
                </a:lnSpc>
              </a:pPr>
              <a:endParaRPr/>
            </a:p>
            <a:p>
              <a:pPr algn="ctr">
                <a:lnSpc>
                  <a:spcPts val="2160"/>
                </a:lnSpc>
              </a:pPr>
              <a:r>
                <a:rPr lang="en-US" sz="1800" b="1" u="none" strike="noStrike">
                  <a:solidFill>
                    <a:srgbClr val="000000"/>
                  </a:solidFill>
                  <a:latin typeface="Gotham Bold"/>
                  <a:ea typeface="Gotham Bold"/>
                  <a:cs typeface="Gotham Bold"/>
                  <a:sym typeface="Gotham Bold"/>
                </a:rPr>
                <a:t>L&amp;D Function Structure:</a:t>
              </a:r>
            </a:p>
            <a:p>
              <a:pPr algn="ctr">
                <a:lnSpc>
                  <a:spcPts val="2160"/>
                </a:lnSpc>
              </a:pPr>
              <a:endParaRPr lang="en-US" sz="1800" b="1" u="none" strike="noStrike">
                <a:solidFill>
                  <a:srgbClr val="000000"/>
                </a:solidFill>
                <a:latin typeface="Gotham Bold"/>
                <a:ea typeface="Gotham Bold"/>
                <a:cs typeface="Gotham Bold"/>
                <a:sym typeface="Gotham Bold"/>
              </a:endParaRPr>
            </a:p>
            <a:p>
              <a:pPr marL="388620" lvl="1" indent="-194310" algn="l">
                <a:lnSpc>
                  <a:spcPts val="2160"/>
                </a:lnSpc>
                <a:buFont typeface="Arial"/>
                <a:buChar char="•"/>
              </a:pPr>
              <a:r>
                <a:rPr lang="en-US" sz="1800" u="none" strike="noStrike">
                  <a:solidFill>
                    <a:srgbClr val="000000"/>
                  </a:solidFill>
                  <a:latin typeface="Gotham"/>
                  <a:ea typeface="Gotham"/>
                  <a:cs typeface="Gotham"/>
                  <a:sym typeface="Gotham"/>
                </a:rPr>
                <a:t>Often positioned under HR in organizational structure</a:t>
              </a:r>
            </a:p>
            <a:p>
              <a:pPr marL="388620" lvl="1" indent="-194310" algn="l">
                <a:lnSpc>
                  <a:spcPts val="2160"/>
                </a:lnSpc>
                <a:buFont typeface="Arial"/>
                <a:buChar char="•"/>
              </a:pPr>
              <a:r>
                <a:rPr lang="en-US" sz="1800" u="none" strike="noStrike">
                  <a:solidFill>
                    <a:srgbClr val="000000"/>
                  </a:solidFill>
                  <a:latin typeface="Gotham"/>
                  <a:ea typeface="Gotham"/>
                  <a:cs typeface="Gotham"/>
                  <a:sym typeface="Gotham"/>
                </a:rPr>
                <a:t>Increasing development of dedicated L&amp;D departments</a:t>
              </a:r>
            </a:p>
            <a:p>
              <a:pPr marL="388620" lvl="1" indent="-194310" algn="l">
                <a:lnSpc>
                  <a:spcPts val="2160"/>
                </a:lnSpc>
                <a:buFont typeface="Arial"/>
                <a:buChar char="•"/>
              </a:pPr>
              <a:r>
                <a:rPr lang="en-US" sz="1800" u="none" strike="noStrike">
                  <a:solidFill>
                    <a:srgbClr val="000000"/>
                  </a:solidFill>
                  <a:latin typeface="Gotham"/>
                  <a:ea typeface="Gotham"/>
                  <a:cs typeface="Gotham"/>
                  <a:sym typeface="Gotham"/>
                </a:rPr>
                <a:t>Growing strategic importance but often limited resources</a:t>
              </a:r>
            </a:p>
            <a:p>
              <a:pPr algn="l">
                <a:lnSpc>
                  <a:spcPts val="2160"/>
                </a:lnSpc>
              </a:pPr>
              <a:endParaRPr lang="en-US" sz="1800" u="none" strike="noStrike">
                <a:solidFill>
                  <a:srgbClr val="000000"/>
                </a:solidFill>
                <a:latin typeface="Gotham"/>
                <a:ea typeface="Gotham"/>
                <a:cs typeface="Gotham"/>
                <a:sym typeface="Gotham"/>
              </a:endParaRPr>
            </a:p>
          </p:txBody>
        </p:sp>
      </p:grpSp>
      <p:grpSp>
        <p:nvGrpSpPr>
          <p:cNvPr id="11" name="Group 11"/>
          <p:cNvGrpSpPr/>
          <p:nvPr/>
        </p:nvGrpSpPr>
        <p:grpSpPr>
          <a:xfrm>
            <a:off x="13119840" y="3468023"/>
            <a:ext cx="3738120" cy="5209173"/>
            <a:chOff x="0" y="0"/>
            <a:chExt cx="1118919" cy="1559244"/>
          </a:xfrm>
        </p:grpSpPr>
        <p:sp>
          <p:nvSpPr>
            <p:cNvPr id="12" name="Freeform 12"/>
            <p:cNvSpPr/>
            <p:nvPr/>
          </p:nvSpPr>
          <p:spPr>
            <a:xfrm>
              <a:off x="0" y="0"/>
              <a:ext cx="1118919" cy="1559244"/>
            </a:xfrm>
            <a:custGeom>
              <a:avLst/>
              <a:gdLst/>
              <a:ahLst/>
              <a:cxnLst/>
              <a:rect l="l" t="t" r="r" b="b"/>
              <a:pathLst>
                <a:path w="1118919" h="1559244">
                  <a:moveTo>
                    <a:pt x="41421" y="0"/>
                  </a:moveTo>
                  <a:lnTo>
                    <a:pt x="1077497" y="0"/>
                  </a:lnTo>
                  <a:cubicBezTo>
                    <a:pt x="1088483" y="0"/>
                    <a:pt x="1099018" y="4364"/>
                    <a:pt x="1106786" y="12132"/>
                  </a:cubicBezTo>
                  <a:cubicBezTo>
                    <a:pt x="1114554" y="19900"/>
                    <a:pt x="1118919" y="30436"/>
                    <a:pt x="1118919" y="41421"/>
                  </a:cubicBezTo>
                  <a:lnTo>
                    <a:pt x="1118919" y="1517822"/>
                  </a:lnTo>
                  <a:cubicBezTo>
                    <a:pt x="1118919" y="1528808"/>
                    <a:pt x="1114554" y="1539344"/>
                    <a:pt x="1106786" y="1547112"/>
                  </a:cubicBezTo>
                  <a:cubicBezTo>
                    <a:pt x="1099018" y="1554880"/>
                    <a:pt x="1088483" y="1559244"/>
                    <a:pt x="1077497" y="1559244"/>
                  </a:cubicBezTo>
                  <a:lnTo>
                    <a:pt x="41421" y="1559244"/>
                  </a:lnTo>
                  <a:cubicBezTo>
                    <a:pt x="18545" y="1559244"/>
                    <a:pt x="0" y="1540699"/>
                    <a:pt x="0" y="1517822"/>
                  </a:cubicBezTo>
                  <a:lnTo>
                    <a:pt x="0" y="41421"/>
                  </a:lnTo>
                  <a:cubicBezTo>
                    <a:pt x="0" y="30436"/>
                    <a:pt x="4364" y="19900"/>
                    <a:pt x="12132" y="12132"/>
                  </a:cubicBezTo>
                  <a:cubicBezTo>
                    <a:pt x="19900" y="4364"/>
                    <a:pt x="30436" y="0"/>
                    <a:pt x="41421" y="0"/>
                  </a:cubicBezTo>
                  <a:close/>
                </a:path>
              </a:pathLst>
            </a:custGeom>
            <a:solidFill>
              <a:srgbClr val="FFFFFF"/>
            </a:solidFill>
            <a:ln w="19050" cap="sq">
              <a:solidFill>
                <a:srgbClr val="323232"/>
              </a:solidFill>
              <a:prstDash val="solid"/>
              <a:miter/>
            </a:ln>
          </p:spPr>
          <p:txBody>
            <a:bodyPr/>
            <a:lstStyle/>
            <a:p>
              <a:endParaRPr lang="en-US"/>
            </a:p>
          </p:txBody>
        </p:sp>
        <p:sp>
          <p:nvSpPr>
            <p:cNvPr id="13" name="TextBox 13"/>
            <p:cNvSpPr txBox="1"/>
            <p:nvPr/>
          </p:nvSpPr>
          <p:spPr>
            <a:xfrm>
              <a:off x="0" y="0"/>
              <a:ext cx="1118919" cy="1559244"/>
            </a:xfrm>
            <a:prstGeom prst="rect">
              <a:avLst/>
            </a:prstGeom>
          </p:spPr>
          <p:txBody>
            <a:bodyPr lIns="43148" tIns="43148" rIns="43148" bIns="43148" rtlCol="0" anchor="t"/>
            <a:lstStyle/>
            <a:p>
              <a:pPr algn="ctr">
                <a:lnSpc>
                  <a:spcPts val="2160"/>
                </a:lnSpc>
              </a:pPr>
              <a:endParaRPr/>
            </a:p>
            <a:p>
              <a:pPr algn="ctr">
                <a:lnSpc>
                  <a:spcPts val="2160"/>
                </a:lnSpc>
              </a:pPr>
              <a:endParaRPr/>
            </a:p>
            <a:p>
              <a:pPr algn="ctr">
                <a:lnSpc>
                  <a:spcPts val="2160"/>
                </a:lnSpc>
              </a:pPr>
              <a:endParaRPr/>
            </a:p>
            <a:p>
              <a:pPr algn="ctr">
                <a:lnSpc>
                  <a:spcPts val="2160"/>
                </a:lnSpc>
              </a:pPr>
              <a:endParaRPr/>
            </a:p>
            <a:p>
              <a:pPr marL="0" lvl="0" indent="0" algn="ctr">
                <a:lnSpc>
                  <a:spcPts val="2160"/>
                </a:lnSpc>
                <a:spcBef>
                  <a:spcPct val="0"/>
                </a:spcBef>
              </a:pPr>
              <a:r>
                <a:rPr lang="en-US" sz="1800" b="1">
                  <a:solidFill>
                    <a:srgbClr val="000000"/>
                  </a:solidFill>
                  <a:latin typeface="Gotham Bold"/>
                  <a:ea typeface="Gotham Bold"/>
                  <a:cs typeface="Gotham Bold"/>
                  <a:sym typeface="Gotham Bold"/>
                </a:rPr>
                <a:t>Industry</a:t>
              </a:r>
              <a:r>
                <a:rPr lang="en-US" sz="1800" b="1" u="none" strike="noStrike">
                  <a:solidFill>
                    <a:srgbClr val="000000"/>
                  </a:solidFill>
                  <a:latin typeface="Gotham Bold"/>
                  <a:ea typeface="Gotham Bold"/>
                  <a:cs typeface="Gotham Bold"/>
                  <a:sym typeface="Gotham Bold"/>
                </a:rPr>
                <a:t> Variations:</a:t>
              </a:r>
            </a:p>
            <a:p>
              <a:pPr marL="0" lvl="0" indent="0" algn="ctr">
                <a:lnSpc>
                  <a:spcPts val="2160"/>
                </a:lnSpc>
                <a:spcBef>
                  <a:spcPct val="0"/>
                </a:spcBef>
              </a:pPr>
              <a:endParaRPr lang="en-US" sz="1800" b="1" u="none" strike="noStrike">
                <a:solidFill>
                  <a:srgbClr val="000000"/>
                </a:solidFill>
                <a:latin typeface="Gotham Bold"/>
                <a:ea typeface="Gotham Bold"/>
                <a:cs typeface="Gotham Bold"/>
                <a:sym typeface="Gotham Bold"/>
              </a:endParaRPr>
            </a:p>
            <a:p>
              <a:pPr marL="388620" lvl="1" indent="-194310" algn="l">
                <a:lnSpc>
                  <a:spcPts val="2160"/>
                </a:lnSpc>
                <a:spcBef>
                  <a:spcPct val="0"/>
                </a:spcBef>
                <a:buFont typeface="Arial"/>
                <a:buChar char="•"/>
              </a:pPr>
              <a:r>
                <a:rPr lang="en-US" sz="1800" u="none" strike="noStrike">
                  <a:solidFill>
                    <a:srgbClr val="000000"/>
                  </a:solidFill>
                  <a:latin typeface="Gotham"/>
                  <a:ea typeface="Gotham"/>
                  <a:cs typeface="Gotham"/>
                  <a:sym typeface="Gotham"/>
                </a:rPr>
                <a:t>BPO sector emphasizing technical and soft skills training</a:t>
              </a:r>
            </a:p>
            <a:p>
              <a:pPr marL="345441" lvl="1" indent="-172721" algn="l">
                <a:lnSpc>
                  <a:spcPts val="1920"/>
                </a:lnSpc>
                <a:spcBef>
                  <a:spcPct val="0"/>
                </a:spcBef>
                <a:buFont typeface="Arial"/>
                <a:buChar char="•"/>
              </a:pPr>
              <a:r>
                <a:rPr lang="en-US" sz="1600" u="none" strike="noStrike">
                  <a:solidFill>
                    <a:srgbClr val="000000"/>
                  </a:solidFill>
                  <a:latin typeface="Gotham"/>
                  <a:ea typeface="Gotham"/>
                  <a:cs typeface="Gotham"/>
                  <a:sym typeface="Gotham"/>
                </a:rPr>
                <a:t>Manufacturing focusing on compliance and technical training</a:t>
              </a:r>
            </a:p>
            <a:p>
              <a:pPr marL="388620" lvl="1" indent="-194310" algn="l">
                <a:lnSpc>
                  <a:spcPts val="2160"/>
                </a:lnSpc>
                <a:spcBef>
                  <a:spcPct val="0"/>
                </a:spcBef>
                <a:buFont typeface="Arial"/>
                <a:buChar char="•"/>
              </a:pPr>
              <a:r>
                <a:rPr lang="en-US" sz="1800" u="none" strike="noStrike">
                  <a:solidFill>
                    <a:srgbClr val="000000"/>
                  </a:solidFill>
                  <a:latin typeface="Gotham"/>
                  <a:ea typeface="Gotham"/>
                  <a:cs typeface="Gotham"/>
                  <a:sym typeface="Gotham"/>
                </a:rPr>
                <a:t>Financial services emphasizing regulatory and product training</a:t>
              </a:r>
            </a:p>
            <a:p>
              <a:pPr marL="388620" lvl="1" indent="-194310" algn="l">
                <a:lnSpc>
                  <a:spcPts val="2160"/>
                </a:lnSpc>
                <a:spcBef>
                  <a:spcPct val="0"/>
                </a:spcBef>
                <a:buFont typeface="Arial"/>
                <a:buChar char="•"/>
              </a:pPr>
              <a:r>
                <a:rPr lang="en-US" sz="1800" u="none" strike="noStrike">
                  <a:solidFill>
                    <a:srgbClr val="000000"/>
                  </a:solidFill>
                  <a:latin typeface="Gotham"/>
                  <a:ea typeface="Gotham"/>
                  <a:cs typeface="Gotham"/>
                  <a:sym typeface="Gotham"/>
                </a:rPr>
                <a:t>Hospitality focusing on service excellence training</a:t>
              </a:r>
            </a:p>
            <a:p>
              <a:pPr algn="l">
                <a:lnSpc>
                  <a:spcPts val="2160"/>
                </a:lnSpc>
              </a:pPr>
              <a:endParaRPr lang="en-US" sz="1800" u="none" strike="noStrike">
                <a:solidFill>
                  <a:srgbClr val="000000"/>
                </a:solidFill>
                <a:latin typeface="Gotham"/>
                <a:ea typeface="Gotham"/>
                <a:cs typeface="Gotham"/>
                <a:sym typeface="Gotham"/>
              </a:endParaRPr>
            </a:p>
          </p:txBody>
        </p:sp>
      </p:grpSp>
      <p:grpSp>
        <p:nvGrpSpPr>
          <p:cNvPr id="14" name="Group 14"/>
          <p:cNvGrpSpPr/>
          <p:nvPr/>
        </p:nvGrpSpPr>
        <p:grpSpPr>
          <a:xfrm>
            <a:off x="2575779" y="2954588"/>
            <a:ext cx="1446642" cy="144664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2B43"/>
            </a:solidFill>
          </p:spPr>
          <p:txBody>
            <a:bodyPr/>
            <a:lstStyle/>
            <a:p>
              <a:endParaRPr lang="en-US"/>
            </a:p>
          </p:txBody>
        </p:sp>
        <p:sp>
          <p:nvSpPr>
            <p:cNvPr id="16" name="TextBox 16"/>
            <p:cNvSpPr txBox="1"/>
            <p:nvPr/>
          </p:nvSpPr>
          <p:spPr>
            <a:xfrm>
              <a:off x="76200" y="38100"/>
              <a:ext cx="660400" cy="698500"/>
            </a:xfrm>
            <a:prstGeom prst="rect">
              <a:avLst/>
            </a:prstGeom>
          </p:spPr>
          <p:txBody>
            <a:bodyPr lIns="50295" tIns="50295" rIns="50295" bIns="50295" rtlCol="0" anchor="ctr"/>
            <a:lstStyle/>
            <a:p>
              <a:pPr algn="ctr">
                <a:lnSpc>
                  <a:spcPts val="2422"/>
                </a:lnSpc>
              </a:pPr>
              <a:endParaRPr/>
            </a:p>
          </p:txBody>
        </p:sp>
      </p:grpSp>
      <p:grpSp>
        <p:nvGrpSpPr>
          <p:cNvPr id="17" name="Group 17"/>
          <p:cNvGrpSpPr/>
          <p:nvPr/>
        </p:nvGrpSpPr>
        <p:grpSpPr>
          <a:xfrm>
            <a:off x="6472379" y="2954588"/>
            <a:ext cx="1446642" cy="144664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2B43"/>
            </a:solidFill>
          </p:spPr>
          <p:txBody>
            <a:bodyPr/>
            <a:lstStyle/>
            <a:p>
              <a:endParaRPr lang="en-US"/>
            </a:p>
          </p:txBody>
        </p:sp>
        <p:sp>
          <p:nvSpPr>
            <p:cNvPr id="19" name="TextBox 19"/>
            <p:cNvSpPr txBox="1"/>
            <p:nvPr/>
          </p:nvSpPr>
          <p:spPr>
            <a:xfrm>
              <a:off x="76200" y="38100"/>
              <a:ext cx="660400" cy="698500"/>
            </a:xfrm>
            <a:prstGeom prst="rect">
              <a:avLst/>
            </a:prstGeom>
          </p:spPr>
          <p:txBody>
            <a:bodyPr lIns="50295" tIns="50295" rIns="50295" bIns="50295" rtlCol="0" anchor="ctr"/>
            <a:lstStyle/>
            <a:p>
              <a:pPr algn="ctr">
                <a:lnSpc>
                  <a:spcPts val="2422"/>
                </a:lnSpc>
              </a:pPr>
              <a:endParaRPr/>
            </a:p>
          </p:txBody>
        </p:sp>
      </p:grpSp>
      <p:grpSp>
        <p:nvGrpSpPr>
          <p:cNvPr id="20" name="Group 20"/>
          <p:cNvGrpSpPr/>
          <p:nvPr/>
        </p:nvGrpSpPr>
        <p:grpSpPr>
          <a:xfrm>
            <a:off x="10368979" y="2954588"/>
            <a:ext cx="1446642" cy="144664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2B43"/>
            </a:solidFill>
          </p:spPr>
          <p:txBody>
            <a:bodyPr/>
            <a:lstStyle/>
            <a:p>
              <a:endParaRPr lang="en-US"/>
            </a:p>
          </p:txBody>
        </p:sp>
        <p:sp>
          <p:nvSpPr>
            <p:cNvPr id="22" name="TextBox 22"/>
            <p:cNvSpPr txBox="1"/>
            <p:nvPr/>
          </p:nvSpPr>
          <p:spPr>
            <a:xfrm>
              <a:off x="76200" y="38100"/>
              <a:ext cx="660400" cy="698500"/>
            </a:xfrm>
            <a:prstGeom prst="rect">
              <a:avLst/>
            </a:prstGeom>
          </p:spPr>
          <p:txBody>
            <a:bodyPr lIns="50295" tIns="50295" rIns="50295" bIns="50295" rtlCol="0" anchor="ctr"/>
            <a:lstStyle/>
            <a:p>
              <a:pPr algn="ctr">
                <a:lnSpc>
                  <a:spcPts val="2422"/>
                </a:lnSpc>
              </a:pPr>
              <a:endParaRPr/>
            </a:p>
          </p:txBody>
        </p:sp>
      </p:grpSp>
      <p:sp>
        <p:nvSpPr>
          <p:cNvPr id="23" name="Freeform 23"/>
          <p:cNvSpPr/>
          <p:nvPr/>
        </p:nvSpPr>
        <p:spPr>
          <a:xfrm>
            <a:off x="2783809" y="3170353"/>
            <a:ext cx="1015112" cy="1015112"/>
          </a:xfrm>
          <a:custGeom>
            <a:avLst/>
            <a:gdLst/>
            <a:ahLst/>
            <a:cxnLst/>
            <a:rect l="l" t="t" r="r" b="b"/>
            <a:pathLst>
              <a:path w="1015112" h="1015112">
                <a:moveTo>
                  <a:pt x="0" y="0"/>
                </a:moveTo>
                <a:lnTo>
                  <a:pt x="1015113" y="0"/>
                </a:lnTo>
                <a:lnTo>
                  <a:pt x="1015113" y="1015112"/>
                </a:lnTo>
                <a:lnTo>
                  <a:pt x="0" y="101511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4" name="Freeform 24"/>
          <p:cNvSpPr/>
          <p:nvPr/>
        </p:nvSpPr>
        <p:spPr>
          <a:xfrm>
            <a:off x="6745244" y="3170353"/>
            <a:ext cx="900912" cy="1015112"/>
          </a:xfrm>
          <a:custGeom>
            <a:avLst/>
            <a:gdLst/>
            <a:ahLst/>
            <a:cxnLst/>
            <a:rect l="l" t="t" r="r" b="b"/>
            <a:pathLst>
              <a:path w="900912" h="1015112">
                <a:moveTo>
                  <a:pt x="0" y="0"/>
                </a:moveTo>
                <a:lnTo>
                  <a:pt x="900912" y="0"/>
                </a:lnTo>
                <a:lnTo>
                  <a:pt x="900912" y="1015112"/>
                </a:lnTo>
                <a:lnTo>
                  <a:pt x="0" y="101511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5" name="Freeform 25"/>
          <p:cNvSpPr/>
          <p:nvPr/>
        </p:nvSpPr>
        <p:spPr>
          <a:xfrm>
            <a:off x="10583048" y="3181086"/>
            <a:ext cx="1011306" cy="1015112"/>
          </a:xfrm>
          <a:custGeom>
            <a:avLst/>
            <a:gdLst/>
            <a:ahLst/>
            <a:cxnLst/>
            <a:rect l="l" t="t" r="r" b="b"/>
            <a:pathLst>
              <a:path w="1011306" h="1015112">
                <a:moveTo>
                  <a:pt x="0" y="0"/>
                </a:moveTo>
                <a:lnTo>
                  <a:pt x="1011306" y="0"/>
                </a:lnTo>
                <a:lnTo>
                  <a:pt x="1011306" y="1015112"/>
                </a:lnTo>
                <a:lnTo>
                  <a:pt x="0" y="101511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26" name="Group 26"/>
          <p:cNvGrpSpPr/>
          <p:nvPr/>
        </p:nvGrpSpPr>
        <p:grpSpPr>
          <a:xfrm>
            <a:off x="14265578" y="2954588"/>
            <a:ext cx="1446642" cy="1446642"/>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2B43"/>
            </a:solidFill>
          </p:spPr>
          <p:txBody>
            <a:bodyPr/>
            <a:lstStyle/>
            <a:p>
              <a:endParaRPr lang="en-US"/>
            </a:p>
          </p:txBody>
        </p:sp>
        <p:sp>
          <p:nvSpPr>
            <p:cNvPr id="28" name="TextBox 28"/>
            <p:cNvSpPr txBox="1"/>
            <p:nvPr/>
          </p:nvSpPr>
          <p:spPr>
            <a:xfrm>
              <a:off x="76200" y="38100"/>
              <a:ext cx="660400" cy="698500"/>
            </a:xfrm>
            <a:prstGeom prst="rect">
              <a:avLst/>
            </a:prstGeom>
          </p:spPr>
          <p:txBody>
            <a:bodyPr lIns="50295" tIns="50295" rIns="50295" bIns="50295" rtlCol="0" anchor="ctr"/>
            <a:lstStyle/>
            <a:p>
              <a:pPr algn="ctr">
                <a:lnSpc>
                  <a:spcPts val="2422"/>
                </a:lnSpc>
              </a:pPr>
              <a:endParaRPr/>
            </a:p>
          </p:txBody>
        </p:sp>
      </p:grpSp>
      <p:sp>
        <p:nvSpPr>
          <p:cNvPr id="29" name="Freeform 29"/>
          <p:cNvSpPr/>
          <p:nvPr/>
        </p:nvSpPr>
        <p:spPr>
          <a:xfrm>
            <a:off x="14408442" y="3181086"/>
            <a:ext cx="1134204" cy="1015112"/>
          </a:xfrm>
          <a:custGeom>
            <a:avLst/>
            <a:gdLst/>
            <a:ahLst/>
            <a:cxnLst/>
            <a:rect l="l" t="t" r="r" b="b"/>
            <a:pathLst>
              <a:path w="1134204" h="1015112">
                <a:moveTo>
                  <a:pt x="0" y="0"/>
                </a:moveTo>
                <a:lnTo>
                  <a:pt x="1134204" y="0"/>
                </a:lnTo>
                <a:lnTo>
                  <a:pt x="1134204" y="1015112"/>
                </a:lnTo>
                <a:lnTo>
                  <a:pt x="0" y="101511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grpSp>
        <p:nvGrpSpPr>
          <p:cNvPr id="30" name="Group 30"/>
          <p:cNvGrpSpPr/>
          <p:nvPr/>
        </p:nvGrpSpPr>
        <p:grpSpPr>
          <a:xfrm>
            <a:off x="-657351" y="1352663"/>
            <a:ext cx="12026132" cy="936659"/>
            <a:chOff x="0" y="0"/>
            <a:chExt cx="2132266" cy="166072"/>
          </a:xfrm>
        </p:grpSpPr>
        <p:sp>
          <p:nvSpPr>
            <p:cNvPr id="31" name="Freeform 31"/>
            <p:cNvSpPr/>
            <p:nvPr/>
          </p:nvSpPr>
          <p:spPr>
            <a:xfrm>
              <a:off x="0" y="0"/>
              <a:ext cx="2132266" cy="166072"/>
            </a:xfrm>
            <a:custGeom>
              <a:avLst/>
              <a:gdLst/>
              <a:ahLst/>
              <a:cxnLst/>
              <a:rect l="l" t="t" r="r" b="b"/>
              <a:pathLst>
                <a:path w="2132266" h="166072">
                  <a:moveTo>
                    <a:pt x="22917" y="0"/>
                  </a:moveTo>
                  <a:lnTo>
                    <a:pt x="2109349" y="0"/>
                  </a:lnTo>
                  <a:cubicBezTo>
                    <a:pt x="2115427" y="0"/>
                    <a:pt x="2121256" y="2414"/>
                    <a:pt x="2125554" y="6712"/>
                  </a:cubicBezTo>
                  <a:cubicBezTo>
                    <a:pt x="2129852" y="11010"/>
                    <a:pt x="2132266" y="16839"/>
                    <a:pt x="2132266" y="22917"/>
                  </a:cubicBezTo>
                  <a:lnTo>
                    <a:pt x="2132266" y="143155"/>
                  </a:lnTo>
                  <a:cubicBezTo>
                    <a:pt x="2132266" y="149233"/>
                    <a:pt x="2129852" y="155062"/>
                    <a:pt x="2125554" y="159360"/>
                  </a:cubicBezTo>
                  <a:cubicBezTo>
                    <a:pt x="2121256" y="163658"/>
                    <a:pt x="2115427" y="166072"/>
                    <a:pt x="2109349" y="166072"/>
                  </a:cubicBezTo>
                  <a:lnTo>
                    <a:pt x="22917" y="166072"/>
                  </a:lnTo>
                  <a:cubicBezTo>
                    <a:pt x="16839" y="166072"/>
                    <a:pt x="11010" y="163658"/>
                    <a:pt x="6712" y="159360"/>
                  </a:cubicBezTo>
                  <a:cubicBezTo>
                    <a:pt x="2414" y="155062"/>
                    <a:pt x="0" y="149233"/>
                    <a:pt x="0" y="143155"/>
                  </a:cubicBezTo>
                  <a:lnTo>
                    <a:pt x="0" y="22917"/>
                  </a:lnTo>
                  <a:cubicBezTo>
                    <a:pt x="0" y="16839"/>
                    <a:pt x="2414" y="11010"/>
                    <a:pt x="6712" y="6712"/>
                  </a:cubicBezTo>
                  <a:cubicBezTo>
                    <a:pt x="11010" y="2414"/>
                    <a:pt x="16839" y="0"/>
                    <a:pt x="22917" y="0"/>
                  </a:cubicBezTo>
                  <a:close/>
                </a:path>
              </a:pathLst>
            </a:custGeom>
            <a:solidFill>
              <a:srgbClr val="232B43"/>
            </a:solidFill>
          </p:spPr>
          <p:txBody>
            <a:bodyPr/>
            <a:lstStyle/>
            <a:p>
              <a:endParaRPr lang="en-US"/>
            </a:p>
          </p:txBody>
        </p:sp>
        <p:sp>
          <p:nvSpPr>
            <p:cNvPr id="32" name="TextBox 32"/>
            <p:cNvSpPr txBox="1"/>
            <p:nvPr/>
          </p:nvSpPr>
          <p:spPr>
            <a:xfrm>
              <a:off x="0" y="-28575"/>
              <a:ext cx="2132266" cy="194647"/>
            </a:xfrm>
            <a:prstGeom prst="rect">
              <a:avLst/>
            </a:prstGeom>
          </p:spPr>
          <p:txBody>
            <a:bodyPr lIns="48876" tIns="48876" rIns="48876" bIns="48876" rtlCol="0" anchor="ctr"/>
            <a:lstStyle/>
            <a:p>
              <a:pPr algn="ctr">
                <a:lnSpc>
                  <a:spcPts val="1885"/>
                </a:lnSpc>
              </a:pPr>
              <a:endParaRPr/>
            </a:p>
          </p:txBody>
        </p:sp>
      </p:grpSp>
      <p:sp>
        <p:nvSpPr>
          <p:cNvPr id="33" name="Freeform 33"/>
          <p:cNvSpPr/>
          <p:nvPr/>
        </p:nvSpPr>
        <p:spPr>
          <a:xfrm>
            <a:off x="15982120" y="437947"/>
            <a:ext cx="1906505" cy="646165"/>
          </a:xfrm>
          <a:custGeom>
            <a:avLst/>
            <a:gdLst/>
            <a:ahLst/>
            <a:cxnLst/>
            <a:rect l="l" t="t" r="r" b="b"/>
            <a:pathLst>
              <a:path w="1906505" h="646165">
                <a:moveTo>
                  <a:pt x="0" y="0"/>
                </a:moveTo>
                <a:lnTo>
                  <a:pt x="1906505" y="0"/>
                </a:lnTo>
                <a:lnTo>
                  <a:pt x="1906505" y="646165"/>
                </a:lnTo>
                <a:lnTo>
                  <a:pt x="0" y="646165"/>
                </a:lnTo>
                <a:lnTo>
                  <a:pt x="0" y="0"/>
                </a:lnTo>
                <a:close/>
              </a:path>
            </a:pathLst>
          </a:custGeom>
          <a:blipFill>
            <a:blip r:embed="rId10"/>
            <a:stretch>
              <a:fillRect/>
            </a:stretch>
          </a:blipFill>
        </p:spPr>
        <p:txBody>
          <a:bodyPr/>
          <a:lstStyle/>
          <a:p>
            <a:endParaRPr lang="en-US"/>
          </a:p>
        </p:txBody>
      </p:sp>
      <p:sp>
        <p:nvSpPr>
          <p:cNvPr id="34" name="TextBox 34"/>
          <p:cNvSpPr txBox="1"/>
          <p:nvPr/>
        </p:nvSpPr>
        <p:spPr>
          <a:xfrm>
            <a:off x="1085830" y="1502985"/>
            <a:ext cx="14270774" cy="1172590"/>
          </a:xfrm>
          <a:prstGeom prst="rect">
            <a:avLst/>
          </a:prstGeom>
        </p:spPr>
        <p:txBody>
          <a:bodyPr lIns="0" tIns="0" rIns="0" bIns="0" rtlCol="0" anchor="t">
            <a:spAutoFit/>
          </a:bodyPr>
          <a:lstStyle/>
          <a:p>
            <a:pPr algn="l">
              <a:lnSpc>
                <a:spcPts val="4836"/>
              </a:lnSpc>
            </a:pPr>
            <a:r>
              <a:rPr lang="en-US" sz="3454" b="1" spc="-51">
                <a:solidFill>
                  <a:srgbClr val="FFFFFF"/>
                </a:solidFill>
                <a:latin typeface="Gotham Bold"/>
                <a:ea typeface="Gotham Bold"/>
                <a:cs typeface="Gotham Bold"/>
                <a:sym typeface="Gotham Bold"/>
              </a:rPr>
              <a:t>Learning Practices in Philippine Organizations</a:t>
            </a:r>
          </a:p>
          <a:p>
            <a:pPr algn="l">
              <a:lnSpc>
                <a:spcPts val="4836"/>
              </a:lnSpc>
            </a:pPr>
            <a:endParaRPr lang="en-US" sz="3454" b="1" spc="-51">
              <a:solidFill>
                <a:srgbClr val="FFFFFF"/>
              </a:solidFill>
              <a:latin typeface="Gotham Bold"/>
              <a:ea typeface="Gotham Bold"/>
              <a:cs typeface="Gotham Bold"/>
              <a:sym typeface="Gotham Bold"/>
            </a:endParaRPr>
          </a:p>
        </p:txBody>
      </p:sp>
      <p:sp>
        <p:nvSpPr>
          <p:cNvPr id="35" name="TextBox 35"/>
          <p:cNvSpPr txBox="1"/>
          <p:nvPr/>
        </p:nvSpPr>
        <p:spPr>
          <a:xfrm>
            <a:off x="1095355" y="2457134"/>
            <a:ext cx="12554396" cy="389255"/>
          </a:xfrm>
          <a:prstGeom prst="rect">
            <a:avLst/>
          </a:prstGeom>
        </p:spPr>
        <p:txBody>
          <a:bodyPr lIns="0" tIns="0" rIns="0" bIns="0" rtlCol="0" anchor="t">
            <a:spAutoFit/>
          </a:bodyPr>
          <a:lstStyle/>
          <a:p>
            <a:pPr algn="ctr">
              <a:lnSpc>
                <a:spcPts val="3219"/>
              </a:lnSpc>
              <a:spcBef>
                <a:spcPct val="0"/>
              </a:spcBef>
            </a:pPr>
            <a:r>
              <a:rPr lang="en-US" sz="2299" b="1" i="1">
                <a:solidFill>
                  <a:srgbClr val="000000"/>
                </a:solidFill>
                <a:latin typeface="Gotham Bold Italics"/>
                <a:ea typeface="Gotham Bold Italics"/>
                <a:cs typeface="Gotham Bold Italics"/>
                <a:sym typeface="Gotham Bold Italics"/>
              </a:rPr>
              <a:t>Common approaches and trends in organizational learning in the Philippines include:</a:t>
            </a:r>
          </a:p>
        </p:txBody>
      </p:sp>
      <p:sp>
        <p:nvSpPr>
          <p:cNvPr id="36" name="TextBox 36"/>
          <p:cNvSpPr txBox="1"/>
          <p:nvPr/>
        </p:nvSpPr>
        <p:spPr>
          <a:xfrm>
            <a:off x="1095355" y="568438"/>
            <a:ext cx="14270774" cy="679450"/>
          </a:xfrm>
          <a:prstGeom prst="rect">
            <a:avLst/>
          </a:prstGeom>
        </p:spPr>
        <p:txBody>
          <a:bodyPr lIns="0" tIns="0" rIns="0" bIns="0" rtlCol="0" anchor="t">
            <a:spAutoFit/>
          </a:bodyPr>
          <a:lstStyle/>
          <a:p>
            <a:pPr marL="0" lvl="0" indent="0" algn="l">
              <a:lnSpc>
                <a:spcPts val="5599"/>
              </a:lnSpc>
              <a:spcBef>
                <a:spcPct val="0"/>
              </a:spcBef>
            </a:pPr>
            <a:r>
              <a:rPr lang="en-US" sz="3999" b="1">
                <a:solidFill>
                  <a:srgbClr val="13255B"/>
                </a:solidFill>
                <a:latin typeface="Gotham Bold"/>
                <a:ea typeface="Gotham Bold"/>
                <a:cs typeface="Gotham Bold"/>
                <a:sym typeface="Gotham Bold"/>
              </a:rPr>
              <a:t>L&amp;D in the Philippines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479627"/>
            <a:ext cx="16859925" cy="5934346"/>
            <a:chOff x="0" y="0"/>
            <a:chExt cx="22479901" cy="7912462"/>
          </a:xfrm>
        </p:grpSpPr>
        <p:grpSp>
          <p:nvGrpSpPr>
            <p:cNvPr id="3" name="Group 3"/>
            <p:cNvGrpSpPr/>
            <p:nvPr/>
          </p:nvGrpSpPr>
          <p:grpSpPr>
            <a:xfrm>
              <a:off x="0" y="0"/>
              <a:ext cx="21640800" cy="7912462"/>
              <a:chOff x="0" y="0"/>
              <a:chExt cx="4274726" cy="1562955"/>
            </a:xfrm>
          </p:grpSpPr>
          <p:sp>
            <p:nvSpPr>
              <p:cNvPr id="4" name="Freeform 4"/>
              <p:cNvSpPr/>
              <p:nvPr/>
            </p:nvSpPr>
            <p:spPr>
              <a:xfrm>
                <a:off x="0" y="0"/>
                <a:ext cx="4274726" cy="1562955"/>
              </a:xfrm>
              <a:custGeom>
                <a:avLst/>
                <a:gdLst/>
                <a:ahLst/>
                <a:cxnLst/>
                <a:rect l="l" t="t" r="r" b="b"/>
                <a:pathLst>
                  <a:path w="4274726" h="1562955">
                    <a:moveTo>
                      <a:pt x="28519" y="0"/>
                    </a:moveTo>
                    <a:lnTo>
                      <a:pt x="4246207" y="0"/>
                    </a:lnTo>
                    <a:cubicBezTo>
                      <a:pt x="4261958" y="0"/>
                      <a:pt x="4274726" y="12768"/>
                      <a:pt x="4274726" y="28519"/>
                    </a:cubicBezTo>
                    <a:lnTo>
                      <a:pt x="4274726" y="1534436"/>
                    </a:lnTo>
                    <a:cubicBezTo>
                      <a:pt x="4274726" y="1550187"/>
                      <a:pt x="4261958" y="1562955"/>
                      <a:pt x="4246207" y="1562955"/>
                    </a:cubicBezTo>
                    <a:lnTo>
                      <a:pt x="28519" y="1562955"/>
                    </a:lnTo>
                    <a:cubicBezTo>
                      <a:pt x="12768" y="1562955"/>
                      <a:pt x="0" y="1550187"/>
                      <a:pt x="0" y="1534436"/>
                    </a:cubicBezTo>
                    <a:lnTo>
                      <a:pt x="0" y="28519"/>
                    </a:lnTo>
                    <a:cubicBezTo>
                      <a:pt x="0" y="12768"/>
                      <a:pt x="12768" y="0"/>
                      <a:pt x="28519" y="0"/>
                    </a:cubicBezTo>
                    <a:close/>
                  </a:path>
                </a:pathLst>
              </a:custGeom>
              <a:solidFill>
                <a:srgbClr val="F5F1EC"/>
              </a:solidFill>
            </p:spPr>
            <p:txBody>
              <a:bodyPr/>
              <a:lstStyle/>
              <a:p>
                <a:endParaRPr lang="en-US"/>
              </a:p>
            </p:txBody>
          </p:sp>
          <p:sp>
            <p:nvSpPr>
              <p:cNvPr id="5" name="TextBox 5"/>
              <p:cNvSpPr txBox="1"/>
              <p:nvPr/>
            </p:nvSpPr>
            <p:spPr>
              <a:xfrm>
                <a:off x="0" y="-38100"/>
                <a:ext cx="4274726" cy="1601055"/>
              </a:xfrm>
              <a:prstGeom prst="rect">
                <a:avLst/>
              </a:prstGeom>
            </p:spPr>
            <p:txBody>
              <a:bodyPr lIns="43333" tIns="43333" rIns="43333" bIns="43333" rtlCol="0" anchor="ctr"/>
              <a:lstStyle/>
              <a:p>
                <a:pPr algn="ctr">
                  <a:lnSpc>
                    <a:spcPts val="2594"/>
                  </a:lnSpc>
                </a:pPr>
                <a:endParaRPr/>
              </a:p>
            </p:txBody>
          </p:sp>
        </p:grpSp>
        <p:sp>
          <p:nvSpPr>
            <p:cNvPr id="6" name="TextBox 6"/>
            <p:cNvSpPr txBox="1"/>
            <p:nvPr/>
          </p:nvSpPr>
          <p:spPr>
            <a:xfrm>
              <a:off x="2123072" y="1771537"/>
              <a:ext cx="9890523" cy="923828"/>
            </a:xfrm>
            <a:prstGeom prst="rect">
              <a:avLst/>
            </a:prstGeom>
          </p:spPr>
          <p:txBody>
            <a:bodyPr lIns="0" tIns="0" rIns="0" bIns="0" rtlCol="0" anchor="t">
              <a:spAutoFit/>
            </a:bodyPr>
            <a:lstStyle/>
            <a:p>
              <a:pPr marL="363096" lvl="1" indent="-181548" algn="l">
                <a:lnSpc>
                  <a:spcPts val="1849"/>
                </a:lnSpc>
                <a:buFont typeface="Arial"/>
                <a:buChar char="•"/>
              </a:pPr>
              <a:r>
                <a:rPr lang="en-US" sz="1681">
                  <a:solidFill>
                    <a:srgbClr val="737373"/>
                  </a:solidFill>
                  <a:latin typeface="Gotham"/>
                  <a:ea typeface="Gotham"/>
                  <a:cs typeface="Gotham"/>
                  <a:sym typeface="Gotham"/>
                </a:rPr>
                <a:t>Developing digital literacy across workforce segments</a:t>
              </a:r>
            </a:p>
            <a:p>
              <a:pPr marL="363096" lvl="1" indent="-181548" algn="l">
                <a:lnSpc>
                  <a:spcPts val="1849"/>
                </a:lnSpc>
                <a:buFont typeface="Arial"/>
                <a:buChar char="•"/>
              </a:pPr>
              <a:r>
                <a:rPr lang="en-US" sz="1681">
                  <a:solidFill>
                    <a:srgbClr val="737373"/>
                  </a:solidFill>
                  <a:latin typeface="Gotham"/>
                  <a:ea typeface="Gotham"/>
                  <a:cs typeface="Gotham"/>
                  <a:sym typeface="Gotham"/>
                </a:rPr>
                <a:t>Building specialized technical capabilities</a:t>
              </a:r>
            </a:p>
            <a:p>
              <a:pPr marL="363096" lvl="1" indent="-181548" algn="l">
                <a:lnSpc>
                  <a:spcPts val="1849"/>
                </a:lnSpc>
                <a:buFont typeface="Arial"/>
                <a:buChar char="•"/>
              </a:pPr>
              <a:r>
                <a:rPr lang="en-US" sz="1681">
                  <a:solidFill>
                    <a:srgbClr val="737373"/>
                  </a:solidFill>
                  <a:latin typeface="Gotham"/>
                  <a:ea typeface="Gotham"/>
                  <a:cs typeface="Gotham"/>
                  <a:sym typeface="Gotham"/>
                </a:rPr>
                <a:t>Creating change readiness for technological evolution</a:t>
              </a:r>
            </a:p>
          </p:txBody>
        </p:sp>
        <p:sp>
          <p:nvSpPr>
            <p:cNvPr id="7" name="TextBox 7"/>
            <p:cNvSpPr txBox="1"/>
            <p:nvPr/>
          </p:nvSpPr>
          <p:spPr>
            <a:xfrm>
              <a:off x="2424204" y="675854"/>
              <a:ext cx="8645231" cy="911481"/>
            </a:xfrm>
            <a:prstGeom prst="rect">
              <a:avLst/>
            </a:prstGeom>
          </p:spPr>
          <p:txBody>
            <a:bodyPr lIns="0" tIns="0" rIns="0" bIns="0" rtlCol="0" anchor="t">
              <a:spAutoFit/>
            </a:bodyPr>
            <a:lstStyle/>
            <a:p>
              <a:pPr algn="l">
                <a:lnSpc>
                  <a:spcPts val="2697"/>
                </a:lnSpc>
              </a:pPr>
              <a:r>
                <a:rPr lang="en-US" sz="2452" b="1">
                  <a:solidFill>
                    <a:srgbClr val="232B43"/>
                  </a:solidFill>
                  <a:latin typeface="Gotham Bold"/>
                  <a:ea typeface="Gotham Bold"/>
                  <a:cs typeface="Gotham Bold"/>
                  <a:sym typeface="Gotham Bold"/>
                </a:rPr>
                <a:t>UPSKILLING FOR DIGITAL TRANSFORMATION</a:t>
              </a:r>
            </a:p>
          </p:txBody>
        </p:sp>
        <p:sp>
          <p:nvSpPr>
            <p:cNvPr id="8" name="Freeform 8"/>
            <p:cNvSpPr/>
            <p:nvPr/>
          </p:nvSpPr>
          <p:spPr>
            <a:xfrm rot="-10800000">
              <a:off x="10490371" y="467989"/>
              <a:ext cx="1798297" cy="2568996"/>
            </a:xfrm>
            <a:custGeom>
              <a:avLst/>
              <a:gdLst/>
              <a:ahLst/>
              <a:cxnLst/>
              <a:rect l="l" t="t" r="r" b="b"/>
              <a:pathLst>
                <a:path w="1798297" h="2568996">
                  <a:moveTo>
                    <a:pt x="0" y="0"/>
                  </a:moveTo>
                  <a:lnTo>
                    <a:pt x="1798297" y="0"/>
                  </a:lnTo>
                  <a:lnTo>
                    <a:pt x="1798297" y="2568997"/>
                  </a:lnTo>
                  <a:lnTo>
                    <a:pt x="0" y="25689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0598435" y="812545"/>
              <a:ext cx="1621302" cy="1671445"/>
            </a:xfrm>
            <a:custGeom>
              <a:avLst/>
              <a:gdLst/>
              <a:ahLst/>
              <a:cxnLst/>
              <a:rect l="l" t="t" r="r" b="b"/>
              <a:pathLst>
                <a:path w="1621302" h="1671445">
                  <a:moveTo>
                    <a:pt x="0" y="0"/>
                  </a:moveTo>
                  <a:lnTo>
                    <a:pt x="1621301" y="0"/>
                  </a:lnTo>
                  <a:lnTo>
                    <a:pt x="1621301" y="1671445"/>
                  </a:lnTo>
                  <a:lnTo>
                    <a:pt x="0" y="16714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rot="-10800000">
              <a:off x="198564" y="656804"/>
              <a:ext cx="1798297" cy="2568996"/>
            </a:xfrm>
            <a:custGeom>
              <a:avLst/>
              <a:gdLst/>
              <a:ahLst/>
              <a:cxnLst/>
              <a:rect l="l" t="t" r="r" b="b"/>
              <a:pathLst>
                <a:path w="1798297" h="2568996">
                  <a:moveTo>
                    <a:pt x="0" y="0"/>
                  </a:moveTo>
                  <a:lnTo>
                    <a:pt x="1798298" y="0"/>
                  </a:lnTo>
                  <a:lnTo>
                    <a:pt x="1798298" y="2568996"/>
                  </a:lnTo>
                  <a:lnTo>
                    <a:pt x="0" y="25689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448918" y="1293206"/>
              <a:ext cx="1297590" cy="1297590"/>
            </a:xfrm>
            <a:custGeom>
              <a:avLst/>
              <a:gdLst/>
              <a:ahLst/>
              <a:cxnLst/>
              <a:rect l="l" t="t" r="r" b="b"/>
              <a:pathLst>
                <a:path w="1297590" h="1297590">
                  <a:moveTo>
                    <a:pt x="0" y="0"/>
                  </a:moveTo>
                  <a:lnTo>
                    <a:pt x="1297590" y="0"/>
                  </a:lnTo>
                  <a:lnTo>
                    <a:pt x="1297590" y="1297590"/>
                  </a:lnTo>
                  <a:lnTo>
                    <a:pt x="0" y="129759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2" name="Freeform 12"/>
            <p:cNvSpPr/>
            <p:nvPr/>
          </p:nvSpPr>
          <p:spPr>
            <a:xfrm rot="-10800000" flipV="1">
              <a:off x="198564" y="4229100"/>
              <a:ext cx="1798297" cy="2568996"/>
            </a:xfrm>
            <a:custGeom>
              <a:avLst/>
              <a:gdLst/>
              <a:ahLst/>
              <a:cxnLst/>
              <a:rect l="l" t="t" r="r" b="b"/>
              <a:pathLst>
                <a:path w="1798297" h="2568996">
                  <a:moveTo>
                    <a:pt x="0" y="2568996"/>
                  </a:moveTo>
                  <a:lnTo>
                    <a:pt x="1798298" y="2568996"/>
                  </a:lnTo>
                  <a:lnTo>
                    <a:pt x="1798298" y="0"/>
                  </a:lnTo>
                  <a:lnTo>
                    <a:pt x="0" y="0"/>
                  </a:lnTo>
                  <a:lnTo>
                    <a:pt x="0" y="2568996"/>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13"/>
            <p:cNvSpPr/>
            <p:nvPr/>
          </p:nvSpPr>
          <p:spPr>
            <a:xfrm>
              <a:off x="430157" y="4914843"/>
              <a:ext cx="1335112" cy="1268356"/>
            </a:xfrm>
            <a:custGeom>
              <a:avLst/>
              <a:gdLst/>
              <a:ahLst/>
              <a:cxnLst/>
              <a:rect l="l" t="t" r="r" b="b"/>
              <a:pathLst>
                <a:path w="1335112" h="1268356">
                  <a:moveTo>
                    <a:pt x="0" y="0"/>
                  </a:moveTo>
                  <a:lnTo>
                    <a:pt x="1335112" y="0"/>
                  </a:lnTo>
                  <a:lnTo>
                    <a:pt x="1335112" y="1268356"/>
                  </a:lnTo>
                  <a:lnTo>
                    <a:pt x="0" y="126835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4" name="Freeform 14"/>
            <p:cNvSpPr/>
            <p:nvPr/>
          </p:nvSpPr>
          <p:spPr>
            <a:xfrm rot="-10800000" flipV="1">
              <a:off x="10490371" y="4229100"/>
              <a:ext cx="1798297" cy="2568996"/>
            </a:xfrm>
            <a:custGeom>
              <a:avLst/>
              <a:gdLst/>
              <a:ahLst/>
              <a:cxnLst/>
              <a:rect l="l" t="t" r="r" b="b"/>
              <a:pathLst>
                <a:path w="1798297" h="2568996">
                  <a:moveTo>
                    <a:pt x="0" y="2568996"/>
                  </a:moveTo>
                  <a:lnTo>
                    <a:pt x="1798297" y="2568996"/>
                  </a:lnTo>
                  <a:lnTo>
                    <a:pt x="1798297" y="0"/>
                  </a:lnTo>
                  <a:lnTo>
                    <a:pt x="0" y="0"/>
                  </a:lnTo>
                  <a:lnTo>
                    <a:pt x="0" y="2568996"/>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5" name="Freeform 15"/>
            <p:cNvSpPr/>
            <p:nvPr/>
          </p:nvSpPr>
          <p:spPr>
            <a:xfrm>
              <a:off x="10726615" y="4843997"/>
              <a:ext cx="1325810" cy="1339202"/>
            </a:xfrm>
            <a:custGeom>
              <a:avLst/>
              <a:gdLst/>
              <a:ahLst/>
              <a:cxnLst/>
              <a:rect l="l" t="t" r="r" b="b"/>
              <a:pathLst>
                <a:path w="1325810" h="1339202">
                  <a:moveTo>
                    <a:pt x="0" y="0"/>
                  </a:moveTo>
                  <a:lnTo>
                    <a:pt x="1325810" y="0"/>
                  </a:lnTo>
                  <a:lnTo>
                    <a:pt x="1325810" y="1339202"/>
                  </a:lnTo>
                  <a:lnTo>
                    <a:pt x="0" y="133920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6" name="TextBox 16"/>
            <p:cNvSpPr txBox="1"/>
            <p:nvPr/>
          </p:nvSpPr>
          <p:spPr>
            <a:xfrm>
              <a:off x="12720468" y="675854"/>
              <a:ext cx="6049894" cy="911481"/>
            </a:xfrm>
            <a:prstGeom prst="rect">
              <a:avLst/>
            </a:prstGeom>
          </p:spPr>
          <p:txBody>
            <a:bodyPr lIns="0" tIns="0" rIns="0" bIns="0" rtlCol="0" anchor="t">
              <a:spAutoFit/>
            </a:bodyPr>
            <a:lstStyle/>
            <a:p>
              <a:pPr algn="l">
                <a:lnSpc>
                  <a:spcPts val="2697"/>
                </a:lnSpc>
              </a:pPr>
              <a:r>
                <a:rPr lang="en-US" sz="2452" b="1">
                  <a:solidFill>
                    <a:srgbClr val="232B43"/>
                  </a:solidFill>
                  <a:latin typeface="Gotham Bold"/>
                  <a:ea typeface="Gotham Bold"/>
                  <a:cs typeface="Gotham Bold"/>
                  <a:sym typeface="Gotham Bold"/>
                </a:rPr>
                <a:t>LEADERSHIP DEVELOPMENT</a:t>
              </a:r>
            </a:p>
          </p:txBody>
        </p:sp>
        <p:sp>
          <p:nvSpPr>
            <p:cNvPr id="17" name="TextBox 17"/>
            <p:cNvSpPr txBox="1"/>
            <p:nvPr/>
          </p:nvSpPr>
          <p:spPr>
            <a:xfrm>
              <a:off x="12720468" y="1724685"/>
              <a:ext cx="9759432" cy="923828"/>
            </a:xfrm>
            <a:prstGeom prst="rect">
              <a:avLst/>
            </a:prstGeom>
          </p:spPr>
          <p:txBody>
            <a:bodyPr lIns="0" tIns="0" rIns="0" bIns="0" rtlCol="0" anchor="t">
              <a:spAutoFit/>
            </a:bodyPr>
            <a:lstStyle/>
            <a:p>
              <a:pPr marL="363096" lvl="1" indent="-181548" algn="l">
                <a:lnSpc>
                  <a:spcPts val="1849"/>
                </a:lnSpc>
                <a:buFont typeface="Arial"/>
                <a:buChar char="•"/>
              </a:pPr>
              <a:r>
                <a:rPr lang="en-US" sz="1681">
                  <a:solidFill>
                    <a:srgbClr val="737373"/>
                  </a:solidFill>
                  <a:latin typeface="Gotham"/>
                  <a:ea typeface="Gotham"/>
                  <a:cs typeface="Gotham"/>
                  <a:sym typeface="Gotham"/>
                </a:rPr>
                <a:t>Building locally relevant leadership models</a:t>
              </a:r>
            </a:p>
            <a:p>
              <a:pPr marL="363096" lvl="1" indent="-181548" algn="l">
                <a:lnSpc>
                  <a:spcPts val="1849"/>
                </a:lnSpc>
                <a:buFont typeface="Arial"/>
                <a:buChar char="•"/>
              </a:pPr>
              <a:r>
                <a:rPr lang="en-US" sz="1681">
                  <a:solidFill>
                    <a:srgbClr val="737373"/>
                  </a:solidFill>
                  <a:latin typeface="Gotham"/>
                  <a:ea typeface="Gotham"/>
                  <a:cs typeface="Gotham"/>
                  <a:sym typeface="Gotham"/>
                </a:rPr>
                <a:t>Developing adaptive leadership capabilities</a:t>
              </a:r>
            </a:p>
            <a:p>
              <a:pPr marL="363096" lvl="1" indent="-181548" algn="l">
                <a:lnSpc>
                  <a:spcPts val="1849"/>
                </a:lnSpc>
                <a:buFont typeface="Arial"/>
                <a:buChar char="•"/>
              </a:pPr>
              <a:r>
                <a:rPr lang="en-US" sz="1681">
                  <a:solidFill>
                    <a:srgbClr val="737373"/>
                  </a:solidFill>
                  <a:latin typeface="Gotham"/>
                  <a:ea typeface="Gotham"/>
                  <a:cs typeface="Gotham"/>
                  <a:sym typeface="Gotham"/>
                </a:rPr>
                <a:t>Creating Filipino leadership development approaches</a:t>
              </a:r>
            </a:p>
          </p:txBody>
        </p:sp>
        <p:sp>
          <p:nvSpPr>
            <p:cNvPr id="18" name="TextBox 18"/>
            <p:cNvSpPr txBox="1"/>
            <p:nvPr/>
          </p:nvSpPr>
          <p:spPr>
            <a:xfrm>
              <a:off x="2218522" y="5459355"/>
              <a:ext cx="7530891" cy="1228628"/>
            </a:xfrm>
            <a:prstGeom prst="rect">
              <a:avLst/>
            </a:prstGeom>
          </p:spPr>
          <p:txBody>
            <a:bodyPr lIns="0" tIns="0" rIns="0" bIns="0" rtlCol="0" anchor="t">
              <a:spAutoFit/>
            </a:bodyPr>
            <a:lstStyle/>
            <a:p>
              <a:pPr marL="363096" lvl="1" indent="-181548" algn="l">
                <a:lnSpc>
                  <a:spcPts val="1849"/>
                </a:lnSpc>
                <a:buFont typeface="Arial"/>
                <a:buChar char="•"/>
              </a:pPr>
              <a:r>
                <a:rPr lang="en-US" sz="1681">
                  <a:solidFill>
                    <a:srgbClr val="737373"/>
                  </a:solidFill>
                  <a:latin typeface="Gotham"/>
                  <a:ea typeface="Gotham"/>
                  <a:cs typeface="Gotham"/>
                  <a:sym typeface="Gotham"/>
                </a:rPr>
                <a:t>Bridging education-employment gaps</a:t>
              </a:r>
            </a:p>
            <a:p>
              <a:pPr marL="363096" lvl="1" indent="-181548" algn="l">
                <a:lnSpc>
                  <a:spcPts val="1849"/>
                </a:lnSpc>
                <a:buFont typeface="Arial"/>
                <a:buChar char="•"/>
              </a:pPr>
              <a:r>
                <a:rPr lang="en-US" sz="1681">
                  <a:solidFill>
                    <a:srgbClr val="737373"/>
                  </a:solidFill>
                  <a:latin typeface="Gotham"/>
                  <a:ea typeface="Gotham"/>
                  <a:cs typeface="Gotham"/>
                  <a:sym typeface="Gotham"/>
                </a:rPr>
                <a:t>Building workplace readiness in</a:t>
              </a:r>
            </a:p>
            <a:p>
              <a:pPr marL="363096" lvl="1" indent="-181548" algn="l">
                <a:lnSpc>
                  <a:spcPts val="1849"/>
                </a:lnSpc>
                <a:buFont typeface="Arial"/>
                <a:buChar char="•"/>
              </a:pPr>
              <a:r>
                <a:rPr lang="en-US" sz="1681">
                  <a:solidFill>
                    <a:srgbClr val="737373"/>
                  </a:solidFill>
                  <a:latin typeface="Gotham"/>
                  <a:ea typeface="Gotham"/>
                  <a:cs typeface="Gotham"/>
                  <a:sym typeface="Gotham"/>
                </a:rPr>
                <a:t>new graduates</a:t>
              </a:r>
            </a:p>
            <a:p>
              <a:pPr marL="363096" lvl="1" indent="-181548" algn="l">
                <a:lnSpc>
                  <a:spcPts val="1849"/>
                </a:lnSpc>
                <a:buFont typeface="Arial"/>
                <a:buChar char="•"/>
              </a:pPr>
              <a:r>
                <a:rPr lang="en-US" sz="1681">
                  <a:solidFill>
                    <a:srgbClr val="737373"/>
                  </a:solidFill>
                  <a:latin typeface="Gotham"/>
                  <a:ea typeface="Gotham"/>
                  <a:cs typeface="Gotham"/>
                  <a:sym typeface="Gotham"/>
                </a:rPr>
                <a:t>Creating industry-education partnerships</a:t>
              </a:r>
            </a:p>
          </p:txBody>
        </p:sp>
        <p:sp>
          <p:nvSpPr>
            <p:cNvPr id="19" name="TextBox 19"/>
            <p:cNvSpPr txBox="1"/>
            <p:nvPr/>
          </p:nvSpPr>
          <p:spPr>
            <a:xfrm>
              <a:off x="12504568" y="5459355"/>
              <a:ext cx="8919352" cy="1228628"/>
            </a:xfrm>
            <a:prstGeom prst="rect">
              <a:avLst/>
            </a:prstGeom>
          </p:spPr>
          <p:txBody>
            <a:bodyPr lIns="0" tIns="0" rIns="0" bIns="0" rtlCol="0" anchor="t">
              <a:spAutoFit/>
            </a:bodyPr>
            <a:lstStyle/>
            <a:p>
              <a:pPr marL="363096" lvl="1" indent="-181548" algn="l">
                <a:lnSpc>
                  <a:spcPts val="1849"/>
                </a:lnSpc>
                <a:buFont typeface="Arial"/>
                <a:buChar char="•"/>
              </a:pPr>
              <a:r>
                <a:rPr lang="en-US" sz="1681">
                  <a:solidFill>
                    <a:srgbClr val="737373"/>
                  </a:solidFill>
                  <a:latin typeface="Gotham"/>
                  <a:ea typeface="Gotham"/>
                  <a:cs typeface="Gotham"/>
                  <a:sym typeface="Gotham"/>
                </a:rPr>
                <a:t>Developing cost-effective L&amp;D approaches for smaller organizations</a:t>
              </a:r>
            </a:p>
            <a:p>
              <a:pPr marL="363096" lvl="1" indent="-181548" algn="l">
                <a:lnSpc>
                  <a:spcPts val="1849"/>
                </a:lnSpc>
                <a:buFont typeface="Arial"/>
                <a:buChar char="•"/>
              </a:pPr>
              <a:r>
                <a:rPr lang="en-US" sz="1681">
                  <a:solidFill>
                    <a:srgbClr val="737373"/>
                  </a:solidFill>
                  <a:latin typeface="Gotham"/>
                  <a:ea typeface="Gotham"/>
                  <a:cs typeface="Gotham"/>
                  <a:sym typeface="Gotham"/>
                </a:rPr>
                <a:t>Building entrepreneurial capabilities</a:t>
              </a:r>
            </a:p>
            <a:p>
              <a:pPr marL="363096" lvl="1" indent="-181548" algn="l">
                <a:lnSpc>
                  <a:spcPts val="1849"/>
                </a:lnSpc>
                <a:buFont typeface="Arial"/>
                <a:buChar char="•"/>
              </a:pPr>
              <a:r>
                <a:rPr lang="en-US" sz="1681">
                  <a:solidFill>
                    <a:srgbClr val="737373"/>
                  </a:solidFill>
                  <a:latin typeface="Gotham"/>
                  <a:ea typeface="Gotham"/>
                  <a:cs typeface="Gotham"/>
                  <a:sym typeface="Gotham"/>
                </a:rPr>
                <a:t>Creating resource-sharing learning models</a:t>
              </a:r>
            </a:p>
          </p:txBody>
        </p:sp>
        <p:sp>
          <p:nvSpPr>
            <p:cNvPr id="20" name="TextBox 20"/>
            <p:cNvSpPr txBox="1"/>
            <p:nvPr/>
          </p:nvSpPr>
          <p:spPr>
            <a:xfrm>
              <a:off x="2424204" y="4416216"/>
              <a:ext cx="3559763" cy="911481"/>
            </a:xfrm>
            <a:prstGeom prst="rect">
              <a:avLst/>
            </a:prstGeom>
          </p:spPr>
          <p:txBody>
            <a:bodyPr lIns="0" tIns="0" rIns="0" bIns="0" rtlCol="0" anchor="t">
              <a:spAutoFit/>
            </a:bodyPr>
            <a:lstStyle/>
            <a:p>
              <a:pPr algn="l">
                <a:lnSpc>
                  <a:spcPts val="2697"/>
                </a:lnSpc>
              </a:pPr>
              <a:r>
                <a:rPr lang="en-US" sz="2452" b="1">
                  <a:solidFill>
                    <a:srgbClr val="232B43"/>
                  </a:solidFill>
                  <a:latin typeface="Gotham Bold"/>
                  <a:ea typeface="Gotham Bold"/>
                  <a:cs typeface="Gotham Bold"/>
                  <a:sym typeface="Gotham Bold"/>
                </a:rPr>
                <a:t>WORKFORCE READINESS</a:t>
              </a:r>
            </a:p>
          </p:txBody>
        </p:sp>
        <p:sp>
          <p:nvSpPr>
            <p:cNvPr id="21" name="TextBox 21"/>
            <p:cNvSpPr txBox="1"/>
            <p:nvPr/>
          </p:nvSpPr>
          <p:spPr>
            <a:xfrm>
              <a:off x="12720468" y="4416216"/>
              <a:ext cx="5307639" cy="911481"/>
            </a:xfrm>
            <a:prstGeom prst="rect">
              <a:avLst/>
            </a:prstGeom>
          </p:spPr>
          <p:txBody>
            <a:bodyPr lIns="0" tIns="0" rIns="0" bIns="0" rtlCol="0" anchor="t">
              <a:spAutoFit/>
            </a:bodyPr>
            <a:lstStyle/>
            <a:p>
              <a:pPr algn="l">
                <a:lnSpc>
                  <a:spcPts val="2697"/>
                </a:lnSpc>
              </a:pPr>
              <a:r>
                <a:rPr lang="en-US" sz="2452" b="1">
                  <a:solidFill>
                    <a:srgbClr val="232B43"/>
                  </a:solidFill>
                  <a:latin typeface="Gotham Bold"/>
                  <a:ea typeface="Gotham Bold"/>
                  <a:cs typeface="Gotham Bold"/>
                  <a:sym typeface="Gotham Bold"/>
                </a:rPr>
                <a:t>SME CAPABILITY BUILDING</a:t>
              </a:r>
            </a:p>
          </p:txBody>
        </p:sp>
      </p:grpSp>
      <p:sp>
        <p:nvSpPr>
          <p:cNvPr id="22" name="Freeform 22"/>
          <p:cNvSpPr/>
          <p:nvPr/>
        </p:nvSpPr>
        <p:spPr>
          <a:xfrm>
            <a:off x="15352795" y="8935218"/>
            <a:ext cx="1906505" cy="646165"/>
          </a:xfrm>
          <a:custGeom>
            <a:avLst/>
            <a:gdLst/>
            <a:ahLst/>
            <a:cxnLst/>
            <a:rect l="l" t="t" r="r" b="b"/>
            <a:pathLst>
              <a:path w="1906505" h="646165">
                <a:moveTo>
                  <a:pt x="0" y="0"/>
                </a:moveTo>
                <a:lnTo>
                  <a:pt x="1906505" y="0"/>
                </a:lnTo>
                <a:lnTo>
                  <a:pt x="1906505" y="646164"/>
                </a:lnTo>
                <a:lnTo>
                  <a:pt x="0" y="646164"/>
                </a:lnTo>
                <a:lnTo>
                  <a:pt x="0" y="0"/>
                </a:lnTo>
                <a:close/>
              </a:path>
            </a:pathLst>
          </a:custGeom>
          <a:blipFill>
            <a:blip r:embed="rId12"/>
            <a:stretch>
              <a:fillRect/>
            </a:stretch>
          </a:blipFill>
        </p:spPr>
        <p:txBody>
          <a:bodyPr/>
          <a:lstStyle/>
          <a:p>
            <a:endParaRPr lang="en-US"/>
          </a:p>
        </p:txBody>
      </p:sp>
      <p:sp>
        <p:nvSpPr>
          <p:cNvPr id="23" name="TextBox 23"/>
          <p:cNvSpPr txBox="1"/>
          <p:nvPr/>
        </p:nvSpPr>
        <p:spPr>
          <a:xfrm>
            <a:off x="1028700" y="773490"/>
            <a:ext cx="15718574" cy="538996"/>
          </a:xfrm>
          <a:prstGeom prst="rect">
            <a:avLst/>
          </a:prstGeom>
        </p:spPr>
        <p:txBody>
          <a:bodyPr lIns="0" tIns="0" rIns="0" bIns="0" rtlCol="0" anchor="t">
            <a:spAutoFit/>
          </a:bodyPr>
          <a:lstStyle/>
          <a:p>
            <a:pPr algn="l">
              <a:lnSpc>
                <a:spcPts val="4416"/>
              </a:lnSpc>
            </a:pPr>
            <a:r>
              <a:rPr lang="en-US" sz="3154" b="1" spc="-47">
                <a:solidFill>
                  <a:srgbClr val="232B43"/>
                </a:solidFill>
                <a:latin typeface="Gotham Bold"/>
                <a:ea typeface="Gotham Bold"/>
                <a:cs typeface="Gotham Bold"/>
                <a:sym typeface="Gotham Bold"/>
              </a:rPr>
              <a:t>Strategic L&amp;D Opportunities in the Philippine Context</a:t>
            </a:r>
          </a:p>
        </p:txBody>
      </p:sp>
      <p:sp>
        <p:nvSpPr>
          <p:cNvPr id="24" name="TextBox 24"/>
          <p:cNvSpPr txBox="1"/>
          <p:nvPr/>
        </p:nvSpPr>
        <p:spPr>
          <a:xfrm>
            <a:off x="1028700" y="1618658"/>
            <a:ext cx="11775728" cy="339725"/>
          </a:xfrm>
          <a:prstGeom prst="rect">
            <a:avLst/>
          </a:prstGeom>
        </p:spPr>
        <p:txBody>
          <a:bodyPr lIns="0" tIns="0" rIns="0" bIns="0" rtlCol="0" anchor="t">
            <a:spAutoFit/>
          </a:bodyPr>
          <a:lstStyle/>
          <a:p>
            <a:pPr algn="ctr">
              <a:lnSpc>
                <a:spcPts val="2799"/>
              </a:lnSpc>
              <a:spcBef>
                <a:spcPct val="0"/>
              </a:spcBef>
            </a:pPr>
            <a:r>
              <a:rPr lang="en-US" sz="1999" b="1" i="1">
                <a:solidFill>
                  <a:srgbClr val="000000"/>
                </a:solidFill>
                <a:latin typeface="Gotham Bold Italics"/>
                <a:ea typeface="Gotham Bold Italics"/>
                <a:cs typeface="Gotham Bold Italics"/>
                <a:sym typeface="Gotham Bold Italics"/>
              </a:rPr>
              <a:t>Several strategic opportunities exist for advancing L&amp;D practice in Philippine organizations:</a:t>
            </a:r>
          </a:p>
        </p:txBody>
      </p:sp>
      <p:grpSp>
        <p:nvGrpSpPr>
          <p:cNvPr id="25" name="Group 25"/>
          <p:cNvGrpSpPr/>
          <p:nvPr/>
        </p:nvGrpSpPr>
        <p:grpSpPr>
          <a:xfrm>
            <a:off x="1028700" y="1485308"/>
            <a:ext cx="3840435" cy="47625"/>
            <a:chOff x="0" y="0"/>
            <a:chExt cx="1430511" cy="17740"/>
          </a:xfrm>
        </p:grpSpPr>
        <p:sp>
          <p:nvSpPr>
            <p:cNvPr id="26" name="Freeform 26"/>
            <p:cNvSpPr/>
            <p:nvPr/>
          </p:nvSpPr>
          <p:spPr>
            <a:xfrm>
              <a:off x="0" y="0"/>
              <a:ext cx="1430511" cy="17740"/>
            </a:xfrm>
            <a:custGeom>
              <a:avLst/>
              <a:gdLst/>
              <a:ahLst/>
              <a:cxnLst/>
              <a:rect l="l" t="t" r="r" b="b"/>
              <a:pathLst>
                <a:path w="1430511" h="17740">
                  <a:moveTo>
                    <a:pt x="8870" y="0"/>
                  </a:moveTo>
                  <a:lnTo>
                    <a:pt x="1421641" y="0"/>
                  </a:lnTo>
                  <a:cubicBezTo>
                    <a:pt x="1423994" y="0"/>
                    <a:pt x="1426250" y="934"/>
                    <a:pt x="1427913" y="2598"/>
                  </a:cubicBezTo>
                  <a:cubicBezTo>
                    <a:pt x="1429577" y="4261"/>
                    <a:pt x="1430511" y="6517"/>
                    <a:pt x="1430511" y="8870"/>
                  </a:cubicBezTo>
                  <a:lnTo>
                    <a:pt x="1430511" y="8870"/>
                  </a:lnTo>
                  <a:cubicBezTo>
                    <a:pt x="1430511" y="13769"/>
                    <a:pt x="1426540" y="17740"/>
                    <a:pt x="1421641" y="17740"/>
                  </a:cubicBezTo>
                  <a:lnTo>
                    <a:pt x="8870" y="17740"/>
                  </a:lnTo>
                  <a:cubicBezTo>
                    <a:pt x="3971" y="17740"/>
                    <a:pt x="0" y="13769"/>
                    <a:pt x="0" y="8870"/>
                  </a:cubicBezTo>
                  <a:lnTo>
                    <a:pt x="0" y="8870"/>
                  </a:lnTo>
                  <a:cubicBezTo>
                    <a:pt x="0" y="3971"/>
                    <a:pt x="3971" y="0"/>
                    <a:pt x="8870" y="0"/>
                  </a:cubicBezTo>
                  <a:close/>
                </a:path>
              </a:pathLst>
            </a:custGeom>
            <a:solidFill>
              <a:srgbClr val="232B43"/>
            </a:solidFill>
          </p:spPr>
          <p:txBody>
            <a:bodyPr/>
            <a:lstStyle/>
            <a:p>
              <a:endParaRPr lang="en-US"/>
            </a:p>
          </p:txBody>
        </p:sp>
        <p:sp>
          <p:nvSpPr>
            <p:cNvPr id="27" name="TextBox 27"/>
            <p:cNvSpPr txBox="1"/>
            <p:nvPr/>
          </p:nvSpPr>
          <p:spPr>
            <a:xfrm>
              <a:off x="0" y="-28575"/>
              <a:ext cx="1430511" cy="46315"/>
            </a:xfrm>
            <a:prstGeom prst="rect">
              <a:avLst/>
            </a:prstGeom>
          </p:spPr>
          <p:txBody>
            <a:bodyPr lIns="48876" tIns="48876" rIns="48876" bIns="48876" rtlCol="0" anchor="ctr"/>
            <a:lstStyle/>
            <a:p>
              <a:pPr algn="ctr">
                <a:lnSpc>
                  <a:spcPts val="1885"/>
                </a:lnSpc>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D2F54-6A81-7853-44C0-6C5B6D74AA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9ED61BA-8146-0CF6-1D56-796CF115F8B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Tree>
    <p:extLst>
      <p:ext uri="{BB962C8B-B14F-4D97-AF65-F5344CB8AC3E}">
        <p14:creationId xmlns:p14="http://schemas.microsoft.com/office/powerpoint/2010/main" val="18529885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707CD-FD08-CF9E-4CD8-149728A536D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3D9F376-3BCE-ADC8-1E98-95FBF772E09C}"/>
              </a:ext>
            </a:extLst>
          </p:cNvPr>
          <p:cNvGrpSpPr/>
          <p:nvPr/>
        </p:nvGrpSpPr>
        <p:grpSpPr>
          <a:xfrm>
            <a:off x="14554724" y="99552"/>
            <a:ext cx="3733276" cy="1265306"/>
            <a:chOff x="0" y="0"/>
            <a:chExt cx="4977701" cy="1687075"/>
          </a:xfrm>
        </p:grpSpPr>
        <p:sp>
          <p:nvSpPr>
            <p:cNvPr id="3" name="Freeform 3">
              <a:extLst>
                <a:ext uri="{FF2B5EF4-FFF2-40B4-BE49-F238E27FC236}">
                  <a16:creationId xmlns:a16="http://schemas.microsoft.com/office/drawing/2014/main" id="{89AE2677-DA0C-4480-D2E2-B43168C42264}"/>
                </a:ext>
              </a:extLst>
            </p:cNvPr>
            <p:cNvSpPr/>
            <p:nvPr/>
          </p:nvSpPr>
          <p:spPr>
            <a:xfrm>
              <a:off x="0" y="0"/>
              <a:ext cx="4977638" cy="1687068"/>
            </a:xfrm>
            <a:custGeom>
              <a:avLst/>
              <a:gdLst/>
              <a:ahLst/>
              <a:cxnLst/>
              <a:rect l="l" t="t" r="r" b="b"/>
              <a:pathLst>
                <a:path w="4977638" h="1687068">
                  <a:moveTo>
                    <a:pt x="0" y="0"/>
                  </a:moveTo>
                  <a:lnTo>
                    <a:pt x="4977638" y="0"/>
                  </a:lnTo>
                  <a:lnTo>
                    <a:pt x="4977638" y="1687068"/>
                  </a:lnTo>
                  <a:lnTo>
                    <a:pt x="0" y="1687068"/>
                  </a:lnTo>
                  <a:lnTo>
                    <a:pt x="0" y="0"/>
                  </a:lnTo>
                  <a:close/>
                </a:path>
              </a:pathLst>
            </a:custGeom>
            <a:blipFill>
              <a:blip r:embed="rId3"/>
              <a:stretch>
                <a:fillRect t="-102" r="-1" b="-103"/>
              </a:stretch>
            </a:blipFill>
          </p:spPr>
          <p:txBody>
            <a:bodyPr/>
            <a:lstStyle/>
            <a:p>
              <a:endParaRPr lang="en-US"/>
            </a:p>
          </p:txBody>
        </p:sp>
      </p:grpSp>
      <p:grpSp>
        <p:nvGrpSpPr>
          <p:cNvPr id="4" name="Group 4">
            <a:extLst>
              <a:ext uri="{FF2B5EF4-FFF2-40B4-BE49-F238E27FC236}">
                <a16:creationId xmlns:a16="http://schemas.microsoft.com/office/drawing/2014/main" id="{50AD8547-CA5D-4260-6035-B189854BADCE}"/>
              </a:ext>
            </a:extLst>
          </p:cNvPr>
          <p:cNvGrpSpPr/>
          <p:nvPr/>
        </p:nvGrpSpPr>
        <p:grpSpPr>
          <a:xfrm>
            <a:off x="398202" y="3765782"/>
            <a:ext cx="16289598" cy="3862418"/>
            <a:chOff x="0" y="-85725"/>
            <a:chExt cx="21719464" cy="5149890"/>
          </a:xfrm>
        </p:grpSpPr>
        <p:sp>
          <p:nvSpPr>
            <p:cNvPr id="5" name="Freeform 5">
              <a:extLst>
                <a:ext uri="{FF2B5EF4-FFF2-40B4-BE49-F238E27FC236}">
                  <a16:creationId xmlns:a16="http://schemas.microsoft.com/office/drawing/2014/main" id="{24175F45-5F96-7EE9-95E3-269CD430B992}"/>
                </a:ext>
              </a:extLst>
            </p:cNvPr>
            <p:cNvSpPr/>
            <p:nvPr/>
          </p:nvSpPr>
          <p:spPr>
            <a:xfrm>
              <a:off x="0" y="0"/>
              <a:ext cx="16916400" cy="5064165"/>
            </a:xfrm>
            <a:custGeom>
              <a:avLst/>
              <a:gdLst/>
              <a:ahLst/>
              <a:cxnLst/>
              <a:rect l="l" t="t" r="r" b="b"/>
              <a:pathLst>
                <a:path w="16916400" h="5064165">
                  <a:moveTo>
                    <a:pt x="0" y="0"/>
                  </a:moveTo>
                  <a:lnTo>
                    <a:pt x="16916400" y="0"/>
                  </a:lnTo>
                  <a:lnTo>
                    <a:pt x="16916400" y="5064165"/>
                  </a:lnTo>
                  <a:lnTo>
                    <a:pt x="0" y="5064165"/>
                  </a:lnTo>
                  <a:close/>
                </a:path>
              </a:pathLst>
            </a:custGeom>
            <a:solidFill>
              <a:srgbClr val="000000">
                <a:alpha val="0"/>
              </a:srgbClr>
            </a:solidFill>
          </p:spPr>
          <p:txBody>
            <a:bodyPr/>
            <a:lstStyle/>
            <a:p>
              <a:endParaRPr lang="en-US"/>
            </a:p>
          </p:txBody>
        </p:sp>
        <p:sp>
          <p:nvSpPr>
            <p:cNvPr id="6" name="TextBox 6">
              <a:extLst>
                <a:ext uri="{FF2B5EF4-FFF2-40B4-BE49-F238E27FC236}">
                  <a16:creationId xmlns:a16="http://schemas.microsoft.com/office/drawing/2014/main" id="{48A74EAA-B230-38F3-8FF3-9FE589299E67}"/>
                </a:ext>
              </a:extLst>
            </p:cNvPr>
            <p:cNvSpPr txBox="1"/>
            <p:nvPr/>
          </p:nvSpPr>
          <p:spPr>
            <a:xfrm>
              <a:off x="0" y="-85725"/>
              <a:ext cx="21719464" cy="5149890"/>
            </a:xfrm>
            <a:prstGeom prst="rect">
              <a:avLst/>
            </a:prstGeom>
          </p:spPr>
          <p:txBody>
            <a:bodyPr lIns="0" tIns="0" rIns="0" bIns="0" rtlCol="0" anchor="t"/>
            <a:lstStyle/>
            <a:p>
              <a:pPr algn="l">
                <a:lnSpc>
                  <a:spcPts val="9503"/>
                </a:lnSpc>
              </a:pPr>
              <a:r>
                <a:rPr lang="en-US" sz="7200" b="1" dirty="0">
                  <a:solidFill>
                    <a:srgbClr val="232B43"/>
                  </a:solidFill>
                  <a:latin typeface="Gotham Bold"/>
                  <a:ea typeface="Gotham Bold"/>
                  <a:cs typeface="Gotham Bold"/>
                  <a:sym typeface="Gotham Bold"/>
                </a:rPr>
                <a:t>Learning Session 4: </a:t>
              </a:r>
            </a:p>
            <a:p>
              <a:pPr algn="l">
                <a:lnSpc>
                  <a:spcPts val="9503"/>
                </a:lnSpc>
              </a:pPr>
              <a:r>
                <a:rPr lang="en-US" sz="7200" b="1" dirty="0">
                  <a:solidFill>
                    <a:srgbClr val="232B43"/>
                  </a:solidFill>
                  <a:latin typeface="Gotham Bold"/>
                  <a:ea typeface="Gotham Bold"/>
                  <a:cs typeface="Gotham Bold"/>
                  <a:sym typeface="Gotham Bold"/>
                </a:rPr>
                <a:t>Organizational Development</a:t>
              </a:r>
            </a:p>
          </p:txBody>
        </p:sp>
      </p:grpSp>
      <p:grpSp>
        <p:nvGrpSpPr>
          <p:cNvPr id="7" name="Group 7">
            <a:extLst>
              <a:ext uri="{FF2B5EF4-FFF2-40B4-BE49-F238E27FC236}">
                <a16:creationId xmlns:a16="http://schemas.microsoft.com/office/drawing/2014/main" id="{C00FE2E7-EE3E-CEBA-385A-5B74ECCBFFA7}"/>
              </a:ext>
            </a:extLst>
          </p:cNvPr>
          <p:cNvGrpSpPr/>
          <p:nvPr/>
        </p:nvGrpSpPr>
        <p:grpSpPr>
          <a:xfrm>
            <a:off x="14762346" y="9612462"/>
            <a:ext cx="3318034" cy="505485"/>
            <a:chOff x="0" y="0"/>
            <a:chExt cx="4424045" cy="673981"/>
          </a:xfrm>
        </p:grpSpPr>
        <p:sp>
          <p:nvSpPr>
            <p:cNvPr id="8" name="Freeform 8">
              <a:extLst>
                <a:ext uri="{FF2B5EF4-FFF2-40B4-BE49-F238E27FC236}">
                  <a16:creationId xmlns:a16="http://schemas.microsoft.com/office/drawing/2014/main" id="{85D16EC7-070F-278C-55A0-B5F997BB6FBD}"/>
                </a:ext>
              </a:extLst>
            </p:cNvPr>
            <p:cNvSpPr/>
            <p:nvPr/>
          </p:nvSpPr>
          <p:spPr>
            <a:xfrm>
              <a:off x="0" y="0"/>
              <a:ext cx="4424045" cy="673981"/>
            </a:xfrm>
            <a:custGeom>
              <a:avLst/>
              <a:gdLst/>
              <a:ahLst/>
              <a:cxnLst/>
              <a:rect l="l" t="t" r="r" b="b"/>
              <a:pathLst>
                <a:path w="4424045" h="673981">
                  <a:moveTo>
                    <a:pt x="0" y="0"/>
                  </a:moveTo>
                  <a:lnTo>
                    <a:pt x="4424045" y="0"/>
                  </a:lnTo>
                  <a:lnTo>
                    <a:pt x="4424045" y="673981"/>
                  </a:lnTo>
                  <a:lnTo>
                    <a:pt x="0" y="673981"/>
                  </a:lnTo>
                  <a:close/>
                </a:path>
              </a:pathLst>
            </a:custGeom>
            <a:solidFill>
              <a:srgbClr val="000000">
                <a:alpha val="0"/>
              </a:srgbClr>
            </a:solidFill>
          </p:spPr>
          <p:txBody>
            <a:bodyPr/>
            <a:lstStyle/>
            <a:p>
              <a:endParaRPr lang="en-US"/>
            </a:p>
          </p:txBody>
        </p:sp>
        <p:sp>
          <p:nvSpPr>
            <p:cNvPr id="9" name="TextBox 9">
              <a:extLst>
                <a:ext uri="{FF2B5EF4-FFF2-40B4-BE49-F238E27FC236}">
                  <a16:creationId xmlns:a16="http://schemas.microsoft.com/office/drawing/2014/main" id="{7676921C-06BB-C4B3-4269-0E2B839CC066}"/>
                </a:ext>
              </a:extLst>
            </p:cNvPr>
            <p:cNvSpPr txBox="1"/>
            <p:nvPr/>
          </p:nvSpPr>
          <p:spPr>
            <a:xfrm>
              <a:off x="0" y="-123825"/>
              <a:ext cx="4424045" cy="797806"/>
            </a:xfrm>
            <a:prstGeom prst="rect">
              <a:avLst/>
            </a:prstGeom>
          </p:spPr>
          <p:txBody>
            <a:bodyPr lIns="0" tIns="0" rIns="0" bIns="0" rtlCol="0" anchor="t"/>
            <a:lstStyle/>
            <a:p>
              <a:pPr algn="ctr">
                <a:lnSpc>
                  <a:spcPts val="4368"/>
                </a:lnSpc>
              </a:pPr>
              <a:r>
                <a:rPr lang="en-US" sz="2600">
                  <a:solidFill>
                    <a:srgbClr val="232B43"/>
                  </a:solidFill>
                  <a:latin typeface="Gotham"/>
                  <a:ea typeface="Gotham"/>
                  <a:cs typeface="Gotham"/>
                  <a:sym typeface="Gotham"/>
                </a:rPr>
                <a:t>www.phri.com.ph</a:t>
              </a:r>
            </a:p>
          </p:txBody>
        </p:sp>
      </p:grpSp>
      <p:grpSp>
        <p:nvGrpSpPr>
          <p:cNvPr id="10" name="Group 10">
            <a:extLst>
              <a:ext uri="{FF2B5EF4-FFF2-40B4-BE49-F238E27FC236}">
                <a16:creationId xmlns:a16="http://schemas.microsoft.com/office/drawing/2014/main" id="{F4EC392A-36EA-1FB1-9D63-81EEA15EB3EF}"/>
              </a:ext>
            </a:extLst>
          </p:cNvPr>
          <p:cNvGrpSpPr/>
          <p:nvPr/>
        </p:nvGrpSpPr>
        <p:grpSpPr>
          <a:xfrm>
            <a:off x="14563114" y="9683898"/>
            <a:ext cx="360362" cy="360362"/>
            <a:chOff x="0" y="0"/>
            <a:chExt cx="480483" cy="480483"/>
          </a:xfrm>
        </p:grpSpPr>
        <p:sp>
          <p:nvSpPr>
            <p:cNvPr id="11" name="Freeform 11">
              <a:extLst>
                <a:ext uri="{FF2B5EF4-FFF2-40B4-BE49-F238E27FC236}">
                  <a16:creationId xmlns:a16="http://schemas.microsoft.com/office/drawing/2014/main" id="{70CC60F9-F234-DD01-83FD-339100A172A3}"/>
                </a:ext>
              </a:extLst>
            </p:cNvPr>
            <p:cNvSpPr/>
            <p:nvPr/>
          </p:nvSpPr>
          <p:spPr>
            <a:xfrm>
              <a:off x="0" y="0"/>
              <a:ext cx="480441" cy="480441"/>
            </a:xfrm>
            <a:custGeom>
              <a:avLst/>
              <a:gdLst/>
              <a:ahLst/>
              <a:cxnLst/>
              <a:rect l="l" t="t" r="r" b="b"/>
              <a:pathLst>
                <a:path w="480441" h="480441">
                  <a:moveTo>
                    <a:pt x="0" y="0"/>
                  </a:moveTo>
                  <a:lnTo>
                    <a:pt x="480441" y="0"/>
                  </a:lnTo>
                  <a:lnTo>
                    <a:pt x="480441" y="480441"/>
                  </a:lnTo>
                  <a:lnTo>
                    <a:pt x="0" y="480441"/>
                  </a:lnTo>
                  <a:lnTo>
                    <a:pt x="0" y="0"/>
                  </a:lnTo>
                  <a:close/>
                </a:path>
              </a:pathLst>
            </a:custGeom>
            <a:blipFill>
              <a:blip r:embed="rId4"/>
              <a:stretch>
                <a:fillRect r="-8" b="-8"/>
              </a:stretch>
            </a:blipFill>
          </p:spPr>
          <p:txBody>
            <a:bodyPr/>
            <a:lstStyle/>
            <a:p>
              <a:endParaRPr lang="en-US"/>
            </a:p>
          </p:txBody>
        </p:sp>
      </p:grpSp>
    </p:spTree>
    <p:extLst>
      <p:ext uri="{BB962C8B-B14F-4D97-AF65-F5344CB8AC3E}">
        <p14:creationId xmlns:p14="http://schemas.microsoft.com/office/powerpoint/2010/main" val="1338272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32B43"/>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154200"/>
            <a:ext cx="3814101" cy="2692255"/>
            <a:chOff x="0" y="0"/>
            <a:chExt cx="776102" cy="547827"/>
          </a:xfrm>
        </p:grpSpPr>
        <p:sp>
          <p:nvSpPr>
            <p:cNvPr id="3" name="Freeform 3"/>
            <p:cNvSpPr/>
            <p:nvPr/>
          </p:nvSpPr>
          <p:spPr>
            <a:xfrm>
              <a:off x="0" y="0"/>
              <a:ext cx="776102" cy="547827"/>
            </a:xfrm>
            <a:custGeom>
              <a:avLst/>
              <a:gdLst/>
              <a:ahLst/>
              <a:cxnLst/>
              <a:rect l="l" t="t" r="r" b="b"/>
              <a:pathLst>
                <a:path w="776102" h="547827">
                  <a:moveTo>
                    <a:pt x="72258" y="0"/>
                  </a:moveTo>
                  <a:lnTo>
                    <a:pt x="703844" y="0"/>
                  </a:lnTo>
                  <a:cubicBezTo>
                    <a:pt x="743751" y="0"/>
                    <a:pt x="776102" y="32351"/>
                    <a:pt x="776102" y="72258"/>
                  </a:cubicBezTo>
                  <a:lnTo>
                    <a:pt x="776102" y="475568"/>
                  </a:lnTo>
                  <a:cubicBezTo>
                    <a:pt x="776102" y="494732"/>
                    <a:pt x="768490" y="513112"/>
                    <a:pt x="754939" y="526663"/>
                  </a:cubicBezTo>
                  <a:cubicBezTo>
                    <a:pt x="741387" y="540214"/>
                    <a:pt x="723008" y="547827"/>
                    <a:pt x="703844" y="547827"/>
                  </a:cubicBezTo>
                  <a:lnTo>
                    <a:pt x="72258" y="547827"/>
                  </a:lnTo>
                  <a:cubicBezTo>
                    <a:pt x="32351" y="547827"/>
                    <a:pt x="0" y="515475"/>
                    <a:pt x="0" y="475568"/>
                  </a:cubicBezTo>
                  <a:lnTo>
                    <a:pt x="0" y="72258"/>
                  </a:lnTo>
                  <a:cubicBezTo>
                    <a:pt x="0" y="32351"/>
                    <a:pt x="32351" y="0"/>
                    <a:pt x="72258" y="0"/>
                  </a:cubicBezTo>
                  <a:close/>
                </a:path>
              </a:pathLst>
            </a:custGeom>
            <a:solidFill>
              <a:srgbClr val="FFFFFF"/>
            </a:solidFill>
          </p:spPr>
          <p:txBody>
            <a:bodyPr/>
            <a:lstStyle/>
            <a:p>
              <a:endParaRPr lang="en-US"/>
            </a:p>
          </p:txBody>
        </p:sp>
        <p:sp>
          <p:nvSpPr>
            <p:cNvPr id="4" name="TextBox 4"/>
            <p:cNvSpPr txBox="1"/>
            <p:nvPr/>
          </p:nvSpPr>
          <p:spPr>
            <a:xfrm>
              <a:off x="0" y="-28575"/>
              <a:ext cx="776102" cy="576402"/>
            </a:xfrm>
            <a:prstGeom prst="rect">
              <a:avLst/>
            </a:prstGeom>
          </p:spPr>
          <p:txBody>
            <a:bodyPr lIns="48876" tIns="48876" rIns="48876" bIns="48876" rtlCol="0" anchor="ctr"/>
            <a:lstStyle/>
            <a:p>
              <a:pPr algn="ctr">
                <a:lnSpc>
                  <a:spcPts val="1885"/>
                </a:lnSpc>
              </a:pPr>
              <a:endParaRPr/>
            </a:p>
          </p:txBody>
        </p:sp>
      </p:grpSp>
      <p:sp>
        <p:nvSpPr>
          <p:cNvPr id="5" name="Freeform 5"/>
          <p:cNvSpPr/>
          <p:nvPr/>
        </p:nvSpPr>
        <p:spPr>
          <a:xfrm>
            <a:off x="1167794" y="138945"/>
            <a:ext cx="3489972" cy="1182843"/>
          </a:xfrm>
          <a:custGeom>
            <a:avLst/>
            <a:gdLst/>
            <a:ahLst/>
            <a:cxnLst/>
            <a:rect l="l" t="t" r="r" b="b"/>
            <a:pathLst>
              <a:path w="3489972" h="1182843">
                <a:moveTo>
                  <a:pt x="0" y="0"/>
                </a:moveTo>
                <a:lnTo>
                  <a:pt x="3489972" y="0"/>
                </a:lnTo>
                <a:lnTo>
                  <a:pt x="3489972" y="1182843"/>
                </a:lnTo>
                <a:lnTo>
                  <a:pt x="0" y="1182843"/>
                </a:lnTo>
                <a:lnTo>
                  <a:pt x="0" y="0"/>
                </a:lnTo>
                <a:close/>
              </a:path>
            </a:pathLst>
          </a:custGeom>
          <a:blipFill>
            <a:blip r:embed="rId2"/>
            <a:stretch>
              <a:fillRect/>
            </a:stretch>
          </a:blipFill>
        </p:spPr>
        <p:txBody>
          <a:bodyPr/>
          <a:lstStyle/>
          <a:p>
            <a:endParaRPr lang="en-US"/>
          </a:p>
        </p:txBody>
      </p:sp>
      <p:sp>
        <p:nvSpPr>
          <p:cNvPr id="6" name="TextBox 6"/>
          <p:cNvSpPr txBox="1"/>
          <p:nvPr/>
        </p:nvSpPr>
        <p:spPr>
          <a:xfrm>
            <a:off x="2912780" y="2236067"/>
            <a:ext cx="6553771" cy="2094675"/>
          </a:xfrm>
          <a:prstGeom prst="rect">
            <a:avLst/>
          </a:prstGeom>
        </p:spPr>
        <p:txBody>
          <a:bodyPr lIns="0" tIns="0" rIns="0" bIns="0" rtlCol="0" anchor="t">
            <a:spAutoFit/>
          </a:bodyPr>
          <a:lstStyle/>
          <a:p>
            <a:pPr algn="l">
              <a:lnSpc>
                <a:spcPts val="8484"/>
              </a:lnSpc>
            </a:pPr>
            <a:r>
              <a:rPr lang="en-US" sz="6060" b="1">
                <a:solidFill>
                  <a:srgbClr val="FFFFFF"/>
                </a:solidFill>
                <a:latin typeface="Gotham Bold"/>
                <a:ea typeface="Gotham Bold"/>
                <a:cs typeface="Gotham Bold"/>
                <a:sym typeface="Gotham Bold"/>
              </a:rPr>
              <a:t>Learning Objectives</a:t>
            </a:r>
          </a:p>
        </p:txBody>
      </p:sp>
      <p:sp>
        <p:nvSpPr>
          <p:cNvPr id="7" name="TextBox 7"/>
          <p:cNvSpPr txBox="1"/>
          <p:nvPr/>
        </p:nvSpPr>
        <p:spPr>
          <a:xfrm>
            <a:off x="2935750" y="4623507"/>
            <a:ext cx="13448337" cy="1053592"/>
          </a:xfrm>
          <a:prstGeom prst="rect">
            <a:avLst/>
          </a:prstGeom>
        </p:spPr>
        <p:txBody>
          <a:bodyPr lIns="0" tIns="0" rIns="0" bIns="0" rtlCol="0" anchor="t">
            <a:spAutoFit/>
          </a:bodyPr>
          <a:lstStyle/>
          <a:p>
            <a:pPr algn="l">
              <a:lnSpc>
                <a:spcPts val="2827"/>
              </a:lnSpc>
              <a:spcBef>
                <a:spcPct val="0"/>
              </a:spcBef>
            </a:pPr>
            <a:r>
              <a:rPr lang="en-US" sz="2019">
                <a:solidFill>
                  <a:srgbClr val="FFFFFF"/>
                </a:solidFill>
                <a:latin typeface="Gotham"/>
                <a:ea typeface="Gotham"/>
                <a:cs typeface="Gotham"/>
                <a:sym typeface="Gotham"/>
              </a:rPr>
              <a:t>This topic introduces HR professionals to the essential concepts of Organizational Development and how these principles support organizational effectiveness, change management, and strategic human capital initiatives.</a:t>
            </a:r>
          </a:p>
        </p:txBody>
      </p:sp>
      <p:sp>
        <p:nvSpPr>
          <p:cNvPr id="8" name="TextBox 8"/>
          <p:cNvSpPr txBox="1"/>
          <p:nvPr/>
        </p:nvSpPr>
        <p:spPr>
          <a:xfrm>
            <a:off x="2935750" y="5763168"/>
            <a:ext cx="13448337" cy="1758442"/>
          </a:xfrm>
          <a:prstGeom prst="rect">
            <a:avLst/>
          </a:prstGeom>
        </p:spPr>
        <p:txBody>
          <a:bodyPr lIns="0" tIns="0" rIns="0" bIns="0" rtlCol="0" anchor="t">
            <a:spAutoFit/>
          </a:bodyPr>
          <a:lstStyle/>
          <a:p>
            <a:pPr marL="436117" lvl="1" indent="-218059" algn="just">
              <a:lnSpc>
                <a:spcPts val="2827"/>
              </a:lnSpc>
              <a:buFont typeface="Arial"/>
              <a:buChar char="•"/>
            </a:pPr>
            <a:r>
              <a:rPr lang="en-US" sz="2019">
                <a:solidFill>
                  <a:srgbClr val="FFFFFF"/>
                </a:solidFill>
                <a:latin typeface="Gotham"/>
                <a:ea typeface="Gotham"/>
                <a:cs typeface="Gotham"/>
                <a:sym typeface="Gotham"/>
              </a:rPr>
              <a:t>Understand Organizational Development (OD) fundamentals and its strategic role in HR</a:t>
            </a:r>
          </a:p>
          <a:p>
            <a:pPr marL="436117" lvl="1" indent="-218059" algn="just">
              <a:lnSpc>
                <a:spcPts val="2827"/>
              </a:lnSpc>
              <a:buFont typeface="Arial"/>
              <a:buChar char="•"/>
            </a:pPr>
            <a:r>
              <a:rPr lang="en-US" sz="2019">
                <a:solidFill>
                  <a:srgbClr val="FFFFFF"/>
                </a:solidFill>
                <a:latin typeface="Gotham"/>
                <a:ea typeface="Gotham"/>
                <a:cs typeface="Gotham"/>
                <a:sym typeface="Gotham"/>
              </a:rPr>
              <a:t>Recognize key OD frameworks applicable to workplace challenges</a:t>
            </a:r>
          </a:p>
          <a:p>
            <a:pPr marL="436117" lvl="1" indent="-218059" algn="just">
              <a:lnSpc>
                <a:spcPts val="2827"/>
              </a:lnSpc>
              <a:buFont typeface="Arial"/>
              <a:buChar char="•"/>
            </a:pPr>
            <a:r>
              <a:rPr lang="en-US" sz="2019">
                <a:solidFill>
                  <a:srgbClr val="FFFFFF"/>
                </a:solidFill>
                <a:latin typeface="Gotham"/>
                <a:ea typeface="Gotham"/>
                <a:cs typeface="Gotham"/>
                <a:sym typeface="Gotham"/>
              </a:rPr>
              <a:t>Identify appropriate OD interventions for common organizational needs</a:t>
            </a:r>
          </a:p>
          <a:p>
            <a:pPr marL="436117" lvl="1" indent="-218059" algn="just">
              <a:lnSpc>
                <a:spcPts val="2827"/>
              </a:lnSpc>
              <a:buFont typeface="Arial"/>
              <a:buChar char="•"/>
            </a:pPr>
            <a:r>
              <a:rPr lang="en-US" sz="2019">
                <a:solidFill>
                  <a:srgbClr val="FFFFFF"/>
                </a:solidFill>
                <a:latin typeface="Gotham"/>
                <a:ea typeface="Gotham"/>
                <a:cs typeface="Gotham"/>
                <a:sym typeface="Gotham"/>
              </a:rPr>
              <a:t>Connect OD principles with core HR functions and processes</a:t>
            </a:r>
          </a:p>
          <a:p>
            <a:pPr marL="436117" lvl="1" indent="-218059" algn="just">
              <a:lnSpc>
                <a:spcPts val="2827"/>
              </a:lnSpc>
              <a:buFont typeface="Arial"/>
              <a:buChar char="•"/>
            </a:pPr>
            <a:r>
              <a:rPr lang="en-US" sz="2019">
                <a:solidFill>
                  <a:srgbClr val="FFFFFF"/>
                </a:solidFill>
                <a:latin typeface="Gotham"/>
                <a:ea typeface="Gotham"/>
                <a:cs typeface="Gotham"/>
                <a:sym typeface="Gotham"/>
              </a:rPr>
              <a:t>Appreciate how OD approaches can be adapted to Philippine workplace contexts</a:t>
            </a:r>
          </a:p>
        </p:txBody>
      </p:sp>
      <p:sp>
        <p:nvSpPr>
          <p:cNvPr id="9" name="TextBox 9"/>
          <p:cNvSpPr txBox="1"/>
          <p:nvPr/>
        </p:nvSpPr>
        <p:spPr>
          <a:xfrm>
            <a:off x="2912780" y="7975744"/>
            <a:ext cx="13799368" cy="1053592"/>
          </a:xfrm>
          <a:prstGeom prst="rect">
            <a:avLst/>
          </a:prstGeom>
        </p:spPr>
        <p:txBody>
          <a:bodyPr lIns="0" tIns="0" rIns="0" bIns="0" rtlCol="0" anchor="t">
            <a:spAutoFit/>
          </a:bodyPr>
          <a:lstStyle/>
          <a:p>
            <a:pPr algn="l">
              <a:lnSpc>
                <a:spcPts val="2827"/>
              </a:lnSpc>
              <a:spcBef>
                <a:spcPct val="0"/>
              </a:spcBef>
            </a:pPr>
            <a:r>
              <a:rPr lang="en-US" sz="2019">
                <a:solidFill>
                  <a:srgbClr val="FFFFFF"/>
                </a:solidFill>
                <a:latin typeface="Gotham"/>
                <a:ea typeface="Gotham"/>
                <a:cs typeface="Gotham"/>
                <a:sym typeface="Gotham"/>
              </a:rPr>
              <a:t>Upon completion, participants will recognize organizational development opportunities within their workplace and understand how OD perspectives enhance HR's ability to contribute to sustainable business success.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94A49-3B6D-07EE-0CB7-55DC3BBDAC23}"/>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38DC7E0B-0D40-8C67-31F6-D7A72DB344A2}"/>
              </a:ext>
            </a:extLst>
          </p:cNvPr>
          <p:cNvGrpSpPr/>
          <p:nvPr/>
        </p:nvGrpSpPr>
        <p:grpSpPr>
          <a:xfrm>
            <a:off x="476680" y="1061110"/>
            <a:ext cx="7410019" cy="6075080"/>
            <a:chOff x="0" y="0"/>
            <a:chExt cx="9880026" cy="8100107"/>
          </a:xfrm>
        </p:grpSpPr>
        <p:sp>
          <p:nvSpPr>
            <p:cNvPr id="5" name="Freeform 5">
              <a:extLst>
                <a:ext uri="{FF2B5EF4-FFF2-40B4-BE49-F238E27FC236}">
                  <a16:creationId xmlns:a16="http://schemas.microsoft.com/office/drawing/2014/main" id="{4D4A8065-EA25-0BD7-FA7E-94D2C3892E74}"/>
                </a:ext>
              </a:extLst>
            </p:cNvPr>
            <p:cNvSpPr/>
            <p:nvPr/>
          </p:nvSpPr>
          <p:spPr>
            <a:xfrm>
              <a:off x="0" y="0"/>
              <a:ext cx="9880026" cy="1005147"/>
            </a:xfrm>
            <a:custGeom>
              <a:avLst/>
              <a:gdLst/>
              <a:ahLst/>
              <a:cxnLst/>
              <a:rect l="l" t="t" r="r" b="b"/>
              <a:pathLst>
                <a:path w="9880026" h="1005147">
                  <a:moveTo>
                    <a:pt x="0" y="0"/>
                  </a:moveTo>
                  <a:lnTo>
                    <a:pt x="9880026" y="0"/>
                  </a:lnTo>
                  <a:lnTo>
                    <a:pt x="9880026" y="1005147"/>
                  </a:lnTo>
                  <a:lnTo>
                    <a:pt x="0" y="1005147"/>
                  </a:lnTo>
                  <a:close/>
                </a:path>
              </a:pathLst>
            </a:custGeom>
            <a:solidFill>
              <a:srgbClr val="000000">
                <a:alpha val="0"/>
              </a:srgbClr>
            </a:solidFill>
          </p:spPr>
          <p:txBody>
            <a:bodyPr/>
            <a:lstStyle/>
            <a:p>
              <a:endParaRPr lang="en-US"/>
            </a:p>
          </p:txBody>
        </p:sp>
        <p:sp>
          <p:nvSpPr>
            <p:cNvPr id="6" name="TextBox 6">
              <a:extLst>
                <a:ext uri="{FF2B5EF4-FFF2-40B4-BE49-F238E27FC236}">
                  <a16:creationId xmlns:a16="http://schemas.microsoft.com/office/drawing/2014/main" id="{7914E765-C084-ADA9-4164-30A79400BBA9}"/>
                </a:ext>
              </a:extLst>
            </p:cNvPr>
            <p:cNvSpPr txBox="1"/>
            <p:nvPr/>
          </p:nvSpPr>
          <p:spPr>
            <a:xfrm>
              <a:off x="329383" y="3757379"/>
              <a:ext cx="7726943" cy="4342728"/>
            </a:xfrm>
            <a:prstGeom prst="rect">
              <a:avLst/>
            </a:prstGeom>
          </p:spPr>
          <p:txBody>
            <a:bodyPr lIns="0" tIns="0" rIns="0" bIns="0" rtlCol="0" anchor="t"/>
            <a:lstStyle/>
            <a:p>
              <a:pPr algn="l"/>
              <a:r>
                <a:rPr lang="en-US" sz="6600" b="1" dirty="0">
                  <a:solidFill>
                    <a:srgbClr val="232B43"/>
                  </a:solidFill>
                  <a:latin typeface="Gotham Bold"/>
                  <a:ea typeface="Gotham Bold"/>
                  <a:cs typeface="Gotham Bold"/>
                  <a:sym typeface="Gotham Bold"/>
                </a:rPr>
                <a:t>SESSION OVERVIEW</a:t>
              </a:r>
            </a:p>
          </p:txBody>
        </p:sp>
      </p:grpSp>
      <p:sp>
        <p:nvSpPr>
          <p:cNvPr id="7" name="AutoShape 7">
            <a:extLst>
              <a:ext uri="{FF2B5EF4-FFF2-40B4-BE49-F238E27FC236}">
                <a16:creationId xmlns:a16="http://schemas.microsoft.com/office/drawing/2014/main" id="{DBB4F24D-CD75-62F6-DB5B-23C71E0E3096}"/>
              </a:ext>
            </a:extLst>
          </p:cNvPr>
          <p:cNvSpPr/>
          <p:nvPr/>
        </p:nvSpPr>
        <p:spPr>
          <a:xfrm rot="113351">
            <a:off x="1009336" y="2498725"/>
            <a:ext cx="1155714" cy="0"/>
          </a:xfrm>
          <a:prstGeom prst="line">
            <a:avLst/>
          </a:prstGeom>
          <a:ln w="19050" cap="rnd">
            <a:solidFill>
              <a:srgbClr val="FFFFFF"/>
            </a:solidFill>
            <a:prstDash val="solid"/>
            <a:headEnd type="none" w="sm" len="sm"/>
            <a:tailEnd type="none" w="sm" len="sm"/>
          </a:ln>
        </p:spPr>
        <p:txBody>
          <a:bodyPr/>
          <a:lstStyle/>
          <a:p>
            <a:endParaRPr lang="en-US"/>
          </a:p>
        </p:txBody>
      </p:sp>
      <p:grpSp>
        <p:nvGrpSpPr>
          <p:cNvPr id="11" name="Group 11">
            <a:extLst>
              <a:ext uri="{FF2B5EF4-FFF2-40B4-BE49-F238E27FC236}">
                <a16:creationId xmlns:a16="http://schemas.microsoft.com/office/drawing/2014/main" id="{E87826C0-9CF4-AA22-E92C-EC0C703FF62C}"/>
              </a:ext>
            </a:extLst>
          </p:cNvPr>
          <p:cNvGrpSpPr/>
          <p:nvPr/>
        </p:nvGrpSpPr>
        <p:grpSpPr>
          <a:xfrm>
            <a:off x="15913298" y="9391890"/>
            <a:ext cx="2209422" cy="713814"/>
            <a:chOff x="0" y="0"/>
            <a:chExt cx="2945896" cy="951752"/>
          </a:xfrm>
        </p:grpSpPr>
        <p:sp>
          <p:nvSpPr>
            <p:cNvPr id="12" name="Freeform 12">
              <a:extLst>
                <a:ext uri="{FF2B5EF4-FFF2-40B4-BE49-F238E27FC236}">
                  <a16:creationId xmlns:a16="http://schemas.microsoft.com/office/drawing/2014/main" id="{4E9143A6-2829-0A23-A333-99E1B95EA4D5}"/>
                </a:ext>
              </a:extLst>
            </p:cNvPr>
            <p:cNvSpPr/>
            <p:nvPr/>
          </p:nvSpPr>
          <p:spPr>
            <a:xfrm>
              <a:off x="0" y="0"/>
              <a:ext cx="2945892" cy="951738"/>
            </a:xfrm>
            <a:custGeom>
              <a:avLst/>
              <a:gdLst/>
              <a:ahLst/>
              <a:cxnLst/>
              <a:rect l="l" t="t" r="r" b="b"/>
              <a:pathLst>
                <a:path w="2945892" h="951738">
                  <a:moveTo>
                    <a:pt x="0" y="0"/>
                  </a:moveTo>
                  <a:lnTo>
                    <a:pt x="2945892" y="0"/>
                  </a:lnTo>
                  <a:lnTo>
                    <a:pt x="2945892" y="951738"/>
                  </a:lnTo>
                  <a:lnTo>
                    <a:pt x="0" y="951738"/>
                  </a:lnTo>
                  <a:lnTo>
                    <a:pt x="0" y="0"/>
                  </a:lnTo>
                  <a:close/>
                </a:path>
              </a:pathLst>
            </a:custGeom>
            <a:blipFill>
              <a:blip r:embed="rId3"/>
              <a:stretch>
                <a:fillRect t="-223" b="-224"/>
              </a:stretch>
            </a:blipFill>
          </p:spPr>
          <p:txBody>
            <a:bodyPr/>
            <a:lstStyle/>
            <a:p>
              <a:endParaRPr lang="en-US"/>
            </a:p>
          </p:txBody>
        </p:sp>
      </p:grpSp>
      <p:grpSp>
        <p:nvGrpSpPr>
          <p:cNvPr id="13" name="Group 13">
            <a:extLst>
              <a:ext uri="{FF2B5EF4-FFF2-40B4-BE49-F238E27FC236}">
                <a16:creationId xmlns:a16="http://schemas.microsoft.com/office/drawing/2014/main" id="{25D2455E-1355-982D-E707-88BC494A55DF}"/>
              </a:ext>
            </a:extLst>
          </p:cNvPr>
          <p:cNvGrpSpPr/>
          <p:nvPr/>
        </p:nvGrpSpPr>
        <p:grpSpPr>
          <a:xfrm>
            <a:off x="14554724" y="99552"/>
            <a:ext cx="3733276" cy="1265306"/>
            <a:chOff x="0" y="0"/>
            <a:chExt cx="4977701" cy="1687075"/>
          </a:xfrm>
        </p:grpSpPr>
        <p:sp>
          <p:nvSpPr>
            <p:cNvPr id="14" name="Freeform 14">
              <a:extLst>
                <a:ext uri="{FF2B5EF4-FFF2-40B4-BE49-F238E27FC236}">
                  <a16:creationId xmlns:a16="http://schemas.microsoft.com/office/drawing/2014/main" id="{21448191-258B-8B03-4041-3C096034C740}"/>
                </a:ext>
              </a:extLst>
            </p:cNvPr>
            <p:cNvSpPr/>
            <p:nvPr/>
          </p:nvSpPr>
          <p:spPr>
            <a:xfrm>
              <a:off x="0" y="0"/>
              <a:ext cx="4977638" cy="1687068"/>
            </a:xfrm>
            <a:custGeom>
              <a:avLst/>
              <a:gdLst/>
              <a:ahLst/>
              <a:cxnLst/>
              <a:rect l="l" t="t" r="r" b="b"/>
              <a:pathLst>
                <a:path w="4977638" h="1687068">
                  <a:moveTo>
                    <a:pt x="0" y="0"/>
                  </a:moveTo>
                  <a:lnTo>
                    <a:pt x="4977638" y="0"/>
                  </a:lnTo>
                  <a:lnTo>
                    <a:pt x="4977638" y="1687068"/>
                  </a:lnTo>
                  <a:lnTo>
                    <a:pt x="0" y="1687068"/>
                  </a:lnTo>
                  <a:lnTo>
                    <a:pt x="0" y="0"/>
                  </a:lnTo>
                  <a:close/>
                </a:path>
              </a:pathLst>
            </a:custGeom>
            <a:blipFill>
              <a:blip r:embed="rId4"/>
              <a:stretch>
                <a:fillRect t="-102" r="-1" b="-103"/>
              </a:stretch>
            </a:blipFill>
          </p:spPr>
          <p:txBody>
            <a:bodyPr/>
            <a:lstStyle/>
            <a:p>
              <a:endParaRPr lang="en-US"/>
            </a:p>
          </p:txBody>
        </p:sp>
      </p:grpSp>
      <p:grpSp>
        <p:nvGrpSpPr>
          <p:cNvPr id="8" name="Group 8">
            <a:extLst>
              <a:ext uri="{FF2B5EF4-FFF2-40B4-BE49-F238E27FC236}">
                <a16:creationId xmlns:a16="http://schemas.microsoft.com/office/drawing/2014/main" id="{BDD5A45D-E58F-A333-D94E-4B87A1176689}"/>
              </a:ext>
            </a:extLst>
          </p:cNvPr>
          <p:cNvGrpSpPr/>
          <p:nvPr/>
        </p:nvGrpSpPr>
        <p:grpSpPr>
          <a:xfrm>
            <a:off x="6518925" y="2543850"/>
            <a:ext cx="10499082" cy="4421195"/>
            <a:chOff x="0" y="-133349"/>
            <a:chExt cx="20813691" cy="5894928"/>
          </a:xfrm>
        </p:grpSpPr>
        <p:sp>
          <p:nvSpPr>
            <p:cNvPr id="9" name="Freeform 9">
              <a:extLst>
                <a:ext uri="{FF2B5EF4-FFF2-40B4-BE49-F238E27FC236}">
                  <a16:creationId xmlns:a16="http://schemas.microsoft.com/office/drawing/2014/main" id="{D23660D5-BBC8-8086-8349-0110527D7256}"/>
                </a:ext>
              </a:extLst>
            </p:cNvPr>
            <p:cNvSpPr/>
            <p:nvPr/>
          </p:nvSpPr>
          <p:spPr>
            <a:xfrm>
              <a:off x="0" y="0"/>
              <a:ext cx="20813691" cy="5761579"/>
            </a:xfrm>
            <a:custGeom>
              <a:avLst/>
              <a:gdLst/>
              <a:ahLst/>
              <a:cxnLst/>
              <a:rect l="l" t="t" r="r" b="b"/>
              <a:pathLst>
                <a:path w="20813691" h="5761579">
                  <a:moveTo>
                    <a:pt x="0" y="0"/>
                  </a:moveTo>
                  <a:lnTo>
                    <a:pt x="20813691" y="0"/>
                  </a:lnTo>
                  <a:lnTo>
                    <a:pt x="20813691" y="5761579"/>
                  </a:lnTo>
                  <a:lnTo>
                    <a:pt x="0" y="5761579"/>
                  </a:lnTo>
                  <a:close/>
                </a:path>
              </a:pathLst>
            </a:custGeom>
            <a:solidFill>
              <a:srgbClr val="000000">
                <a:alpha val="0"/>
              </a:srgbClr>
            </a:solidFill>
          </p:spPr>
          <p:txBody>
            <a:bodyPr/>
            <a:lstStyle/>
            <a:p>
              <a:endParaRPr lang="en-US" sz="3200"/>
            </a:p>
          </p:txBody>
        </p:sp>
        <p:sp>
          <p:nvSpPr>
            <p:cNvPr id="10" name="TextBox 10">
              <a:extLst>
                <a:ext uri="{FF2B5EF4-FFF2-40B4-BE49-F238E27FC236}">
                  <a16:creationId xmlns:a16="http://schemas.microsoft.com/office/drawing/2014/main" id="{1FC41B37-B090-A5DF-DB90-E366E6A50452}"/>
                </a:ext>
              </a:extLst>
            </p:cNvPr>
            <p:cNvSpPr txBox="1"/>
            <p:nvPr/>
          </p:nvSpPr>
          <p:spPr>
            <a:xfrm>
              <a:off x="0" y="-133349"/>
              <a:ext cx="20813691" cy="5894927"/>
            </a:xfrm>
            <a:prstGeom prst="rect">
              <a:avLst/>
            </a:prstGeom>
          </p:spPr>
          <p:txBody>
            <a:bodyPr lIns="0" tIns="0" rIns="0" bIns="0" rtlCol="0" anchor="t"/>
            <a:lstStyle/>
            <a:p>
              <a:pPr algn="l">
                <a:lnSpc>
                  <a:spcPct val="150000"/>
                </a:lnSpc>
              </a:pPr>
              <a:r>
                <a:rPr lang="en-US" sz="5400" dirty="0">
                  <a:solidFill>
                    <a:srgbClr val="232B43"/>
                  </a:solidFill>
                  <a:latin typeface="Gotham"/>
                  <a:ea typeface="Gotham"/>
                  <a:cs typeface="Gotham"/>
                  <a:sym typeface="Gotham"/>
                </a:rPr>
                <a:t>Understanding OD</a:t>
              </a:r>
            </a:p>
            <a:p>
              <a:pPr algn="l">
                <a:lnSpc>
                  <a:spcPct val="150000"/>
                </a:lnSpc>
              </a:pPr>
              <a:r>
                <a:rPr lang="en-US" sz="5400" dirty="0">
                  <a:solidFill>
                    <a:srgbClr val="232B43"/>
                  </a:solidFill>
                  <a:latin typeface="Gotham"/>
                  <a:ea typeface="Gotham"/>
                  <a:cs typeface="Gotham"/>
                  <a:sym typeface="Gotham"/>
                </a:rPr>
                <a:t>OD Models and Frameworks</a:t>
              </a:r>
            </a:p>
            <a:p>
              <a:pPr algn="l">
                <a:lnSpc>
                  <a:spcPct val="150000"/>
                </a:lnSpc>
              </a:pPr>
              <a:r>
                <a:rPr lang="en-US" sz="5400" dirty="0">
                  <a:solidFill>
                    <a:srgbClr val="232B43"/>
                  </a:solidFill>
                  <a:latin typeface="Gotham"/>
                  <a:ea typeface="Gotham"/>
                  <a:cs typeface="Gotham"/>
                  <a:sym typeface="Gotham"/>
                </a:rPr>
                <a:t>OD and other HR Functions</a:t>
              </a:r>
            </a:p>
            <a:p>
              <a:pPr algn="l">
                <a:lnSpc>
                  <a:spcPct val="150000"/>
                </a:lnSpc>
              </a:pPr>
              <a:r>
                <a:rPr lang="en-US" sz="5400" dirty="0">
                  <a:solidFill>
                    <a:srgbClr val="232B43"/>
                  </a:solidFill>
                  <a:latin typeface="Gotham"/>
                  <a:ea typeface="Gotham"/>
                  <a:cs typeface="Gotham"/>
                  <a:sym typeface="Gotham"/>
                </a:rPr>
                <a:t>OD in the Philippines</a:t>
              </a:r>
            </a:p>
          </p:txBody>
        </p:sp>
      </p:grpSp>
      <p:sp>
        <p:nvSpPr>
          <p:cNvPr id="15" name="Freeform 15">
            <a:extLst>
              <a:ext uri="{FF2B5EF4-FFF2-40B4-BE49-F238E27FC236}">
                <a16:creationId xmlns:a16="http://schemas.microsoft.com/office/drawing/2014/main" id="{B9FD7C38-6FBC-A797-3D34-7E0DBB4D7C4E}"/>
              </a:ext>
            </a:extLst>
          </p:cNvPr>
          <p:cNvSpPr/>
          <p:nvPr/>
        </p:nvSpPr>
        <p:spPr>
          <a:xfrm>
            <a:off x="5963154" y="2987009"/>
            <a:ext cx="429952" cy="412670"/>
          </a:xfrm>
          <a:custGeom>
            <a:avLst/>
            <a:gdLst/>
            <a:ahLst/>
            <a:cxnLst/>
            <a:rect l="l" t="t" r="r" b="b"/>
            <a:pathLst>
              <a:path w="412670" h="412670">
                <a:moveTo>
                  <a:pt x="0" y="0"/>
                </a:moveTo>
                <a:lnTo>
                  <a:pt x="412670" y="0"/>
                </a:lnTo>
                <a:lnTo>
                  <a:pt x="412670" y="412670"/>
                </a:lnTo>
                <a:lnTo>
                  <a:pt x="0" y="41267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sz="3200"/>
          </a:p>
        </p:txBody>
      </p:sp>
      <p:sp>
        <p:nvSpPr>
          <p:cNvPr id="16" name="Freeform 16">
            <a:extLst>
              <a:ext uri="{FF2B5EF4-FFF2-40B4-BE49-F238E27FC236}">
                <a16:creationId xmlns:a16="http://schemas.microsoft.com/office/drawing/2014/main" id="{91C53792-CEBE-EC94-F139-84C5A478ADAD}"/>
              </a:ext>
            </a:extLst>
          </p:cNvPr>
          <p:cNvSpPr/>
          <p:nvPr/>
        </p:nvSpPr>
        <p:spPr>
          <a:xfrm>
            <a:off x="5963154" y="4320245"/>
            <a:ext cx="429952" cy="412670"/>
          </a:xfrm>
          <a:custGeom>
            <a:avLst/>
            <a:gdLst/>
            <a:ahLst/>
            <a:cxnLst/>
            <a:rect l="l" t="t" r="r" b="b"/>
            <a:pathLst>
              <a:path w="412670" h="412670">
                <a:moveTo>
                  <a:pt x="0" y="0"/>
                </a:moveTo>
                <a:lnTo>
                  <a:pt x="412670" y="0"/>
                </a:lnTo>
                <a:lnTo>
                  <a:pt x="412670" y="412670"/>
                </a:lnTo>
                <a:lnTo>
                  <a:pt x="0" y="41267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sz="3200"/>
          </a:p>
        </p:txBody>
      </p:sp>
      <p:sp>
        <p:nvSpPr>
          <p:cNvPr id="17" name="Freeform 17">
            <a:extLst>
              <a:ext uri="{FF2B5EF4-FFF2-40B4-BE49-F238E27FC236}">
                <a16:creationId xmlns:a16="http://schemas.microsoft.com/office/drawing/2014/main" id="{E9F50D9B-35A9-B93B-8A0E-24BDB5C58645}"/>
              </a:ext>
            </a:extLst>
          </p:cNvPr>
          <p:cNvSpPr/>
          <p:nvPr/>
        </p:nvSpPr>
        <p:spPr>
          <a:xfrm>
            <a:off x="5963154" y="5485098"/>
            <a:ext cx="429952" cy="412670"/>
          </a:xfrm>
          <a:custGeom>
            <a:avLst/>
            <a:gdLst/>
            <a:ahLst/>
            <a:cxnLst/>
            <a:rect l="l" t="t" r="r" b="b"/>
            <a:pathLst>
              <a:path w="412670" h="412670">
                <a:moveTo>
                  <a:pt x="0" y="0"/>
                </a:moveTo>
                <a:lnTo>
                  <a:pt x="412670" y="0"/>
                </a:lnTo>
                <a:lnTo>
                  <a:pt x="412670" y="412670"/>
                </a:lnTo>
                <a:lnTo>
                  <a:pt x="0" y="41267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sz="3200"/>
          </a:p>
        </p:txBody>
      </p:sp>
      <p:sp>
        <p:nvSpPr>
          <p:cNvPr id="18" name="Freeform 18">
            <a:extLst>
              <a:ext uri="{FF2B5EF4-FFF2-40B4-BE49-F238E27FC236}">
                <a16:creationId xmlns:a16="http://schemas.microsoft.com/office/drawing/2014/main" id="{CECAEFD8-6C78-E935-DCEE-C2BD0176A9C9}"/>
              </a:ext>
            </a:extLst>
          </p:cNvPr>
          <p:cNvSpPr/>
          <p:nvPr/>
        </p:nvSpPr>
        <p:spPr>
          <a:xfrm>
            <a:off x="5987097" y="6723520"/>
            <a:ext cx="429952" cy="412670"/>
          </a:xfrm>
          <a:custGeom>
            <a:avLst/>
            <a:gdLst/>
            <a:ahLst/>
            <a:cxnLst/>
            <a:rect l="l" t="t" r="r" b="b"/>
            <a:pathLst>
              <a:path w="412670" h="412670">
                <a:moveTo>
                  <a:pt x="0" y="0"/>
                </a:moveTo>
                <a:lnTo>
                  <a:pt x="412670" y="0"/>
                </a:lnTo>
                <a:lnTo>
                  <a:pt x="412670" y="412670"/>
                </a:lnTo>
                <a:lnTo>
                  <a:pt x="0" y="41267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sz="3200"/>
          </a:p>
        </p:txBody>
      </p:sp>
    </p:spTree>
    <p:extLst>
      <p:ext uri="{BB962C8B-B14F-4D97-AF65-F5344CB8AC3E}">
        <p14:creationId xmlns:p14="http://schemas.microsoft.com/office/powerpoint/2010/main" val="11385049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2713" y="825446"/>
            <a:ext cx="14548147" cy="991913"/>
            <a:chOff x="0" y="0"/>
            <a:chExt cx="3309096" cy="225619"/>
          </a:xfrm>
        </p:grpSpPr>
        <p:sp>
          <p:nvSpPr>
            <p:cNvPr id="3" name="Freeform 3"/>
            <p:cNvSpPr/>
            <p:nvPr/>
          </p:nvSpPr>
          <p:spPr>
            <a:xfrm>
              <a:off x="0" y="0"/>
              <a:ext cx="3309096" cy="225619"/>
            </a:xfrm>
            <a:custGeom>
              <a:avLst/>
              <a:gdLst/>
              <a:ahLst/>
              <a:cxnLst/>
              <a:rect l="l" t="t" r="r" b="b"/>
              <a:pathLst>
                <a:path w="3309096" h="225619">
                  <a:moveTo>
                    <a:pt x="19690" y="0"/>
                  </a:moveTo>
                  <a:lnTo>
                    <a:pt x="3289406" y="0"/>
                  </a:lnTo>
                  <a:cubicBezTo>
                    <a:pt x="3294628" y="0"/>
                    <a:pt x="3299636" y="2074"/>
                    <a:pt x="3303329" y="5767"/>
                  </a:cubicBezTo>
                  <a:cubicBezTo>
                    <a:pt x="3307021" y="9460"/>
                    <a:pt x="3309096" y="14468"/>
                    <a:pt x="3309096" y="19690"/>
                  </a:cubicBezTo>
                  <a:lnTo>
                    <a:pt x="3309096" y="205929"/>
                  </a:lnTo>
                  <a:cubicBezTo>
                    <a:pt x="3309096" y="211151"/>
                    <a:pt x="3307021" y="216159"/>
                    <a:pt x="3303329" y="219852"/>
                  </a:cubicBezTo>
                  <a:cubicBezTo>
                    <a:pt x="3299636" y="223544"/>
                    <a:pt x="3294628" y="225619"/>
                    <a:pt x="3289406" y="225619"/>
                  </a:cubicBezTo>
                  <a:lnTo>
                    <a:pt x="19690" y="225619"/>
                  </a:lnTo>
                  <a:cubicBezTo>
                    <a:pt x="14468" y="225619"/>
                    <a:pt x="9460" y="223544"/>
                    <a:pt x="5767" y="219852"/>
                  </a:cubicBezTo>
                  <a:cubicBezTo>
                    <a:pt x="2074" y="216159"/>
                    <a:pt x="0" y="211151"/>
                    <a:pt x="0" y="205929"/>
                  </a:cubicBezTo>
                  <a:lnTo>
                    <a:pt x="0" y="19690"/>
                  </a:lnTo>
                  <a:cubicBezTo>
                    <a:pt x="0" y="14468"/>
                    <a:pt x="2074" y="9460"/>
                    <a:pt x="5767" y="5767"/>
                  </a:cubicBezTo>
                  <a:cubicBezTo>
                    <a:pt x="9460" y="2074"/>
                    <a:pt x="14468" y="0"/>
                    <a:pt x="19690" y="0"/>
                  </a:cubicBezTo>
                  <a:close/>
                </a:path>
              </a:pathLst>
            </a:custGeom>
            <a:solidFill>
              <a:srgbClr val="232B43"/>
            </a:solidFill>
          </p:spPr>
          <p:txBody>
            <a:bodyPr/>
            <a:lstStyle/>
            <a:p>
              <a:endParaRPr lang="en-US"/>
            </a:p>
          </p:txBody>
        </p:sp>
        <p:sp>
          <p:nvSpPr>
            <p:cNvPr id="4" name="TextBox 4"/>
            <p:cNvSpPr txBox="1"/>
            <p:nvPr/>
          </p:nvSpPr>
          <p:spPr>
            <a:xfrm>
              <a:off x="0" y="-28575"/>
              <a:ext cx="3309096" cy="254194"/>
            </a:xfrm>
            <a:prstGeom prst="rect">
              <a:avLst/>
            </a:prstGeom>
          </p:spPr>
          <p:txBody>
            <a:bodyPr lIns="80039" tIns="80039" rIns="80039" bIns="80039" rtlCol="0" anchor="ctr"/>
            <a:lstStyle/>
            <a:p>
              <a:pPr algn="ctr">
                <a:lnSpc>
                  <a:spcPts val="1885"/>
                </a:lnSpc>
              </a:pPr>
              <a:endParaRPr/>
            </a:p>
          </p:txBody>
        </p:sp>
      </p:grpSp>
      <p:grpSp>
        <p:nvGrpSpPr>
          <p:cNvPr id="5" name="Group 5"/>
          <p:cNvGrpSpPr/>
          <p:nvPr/>
        </p:nvGrpSpPr>
        <p:grpSpPr>
          <a:xfrm>
            <a:off x="3517151" y="3145713"/>
            <a:ext cx="4078888" cy="1490274"/>
            <a:chOff x="0" y="0"/>
            <a:chExt cx="2542778" cy="929037"/>
          </a:xfrm>
        </p:grpSpPr>
        <p:sp>
          <p:nvSpPr>
            <p:cNvPr id="6" name="Freeform 6"/>
            <p:cNvSpPr/>
            <p:nvPr/>
          </p:nvSpPr>
          <p:spPr>
            <a:xfrm>
              <a:off x="0" y="0"/>
              <a:ext cx="2542778" cy="929037"/>
            </a:xfrm>
            <a:custGeom>
              <a:avLst/>
              <a:gdLst/>
              <a:ahLst/>
              <a:cxnLst/>
              <a:rect l="l" t="t" r="r" b="b"/>
              <a:pathLst>
                <a:path w="2542778" h="929037">
                  <a:moveTo>
                    <a:pt x="56941" y="0"/>
                  </a:moveTo>
                  <a:lnTo>
                    <a:pt x="2485836" y="0"/>
                  </a:lnTo>
                  <a:cubicBezTo>
                    <a:pt x="2517284" y="0"/>
                    <a:pt x="2542778" y="25494"/>
                    <a:pt x="2542778" y="56941"/>
                  </a:cubicBezTo>
                  <a:lnTo>
                    <a:pt x="2542778" y="872095"/>
                  </a:lnTo>
                  <a:cubicBezTo>
                    <a:pt x="2542778" y="903543"/>
                    <a:pt x="2517284" y="929037"/>
                    <a:pt x="2485836" y="929037"/>
                  </a:cubicBezTo>
                  <a:lnTo>
                    <a:pt x="56941" y="929037"/>
                  </a:lnTo>
                  <a:cubicBezTo>
                    <a:pt x="25494" y="929037"/>
                    <a:pt x="0" y="903543"/>
                    <a:pt x="0" y="872095"/>
                  </a:cubicBezTo>
                  <a:lnTo>
                    <a:pt x="0" y="56941"/>
                  </a:lnTo>
                  <a:cubicBezTo>
                    <a:pt x="0" y="25494"/>
                    <a:pt x="25494" y="0"/>
                    <a:pt x="56941" y="0"/>
                  </a:cubicBezTo>
                  <a:close/>
                </a:path>
              </a:pathLst>
            </a:custGeom>
            <a:solidFill>
              <a:srgbClr val="FFFFFF"/>
            </a:solidFill>
            <a:ln w="19050" cap="rnd">
              <a:solidFill>
                <a:srgbClr val="FFFFFF"/>
              </a:solidFill>
              <a:prstDash val="solid"/>
              <a:round/>
            </a:ln>
          </p:spPr>
          <p:txBody>
            <a:bodyPr/>
            <a:lstStyle/>
            <a:p>
              <a:endParaRPr lang="en-US"/>
            </a:p>
          </p:txBody>
        </p:sp>
        <p:sp>
          <p:nvSpPr>
            <p:cNvPr id="7" name="TextBox 7"/>
            <p:cNvSpPr txBox="1"/>
            <p:nvPr/>
          </p:nvSpPr>
          <p:spPr>
            <a:xfrm>
              <a:off x="0" y="-47625"/>
              <a:ext cx="2542778" cy="976662"/>
            </a:xfrm>
            <a:prstGeom prst="rect">
              <a:avLst/>
            </a:prstGeom>
          </p:spPr>
          <p:txBody>
            <a:bodyPr lIns="31799" tIns="31799" rIns="31799" bIns="31799" rtlCol="0" anchor="ctr"/>
            <a:lstStyle/>
            <a:p>
              <a:pPr marL="0" lvl="0" indent="0" algn="ctr">
                <a:lnSpc>
                  <a:spcPts val="2308"/>
                </a:lnSpc>
                <a:spcBef>
                  <a:spcPct val="0"/>
                </a:spcBef>
              </a:pPr>
              <a:r>
                <a:rPr lang="en-US" sz="1648" b="1">
                  <a:solidFill>
                    <a:srgbClr val="000000"/>
                  </a:solidFill>
                  <a:latin typeface="Gotham Bold"/>
                  <a:ea typeface="Gotham Bold"/>
                  <a:cs typeface="Gotham Bold"/>
                  <a:sym typeface="Gotham Bold"/>
                </a:rPr>
                <a:t>Respect for people</a:t>
              </a:r>
            </a:p>
          </p:txBody>
        </p:sp>
      </p:grpSp>
      <p:grpSp>
        <p:nvGrpSpPr>
          <p:cNvPr id="8" name="Group 8"/>
          <p:cNvGrpSpPr/>
          <p:nvPr/>
        </p:nvGrpSpPr>
        <p:grpSpPr>
          <a:xfrm>
            <a:off x="3517151" y="5017106"/>
            <a:ext cx="4078888" cy="1490274"/>
            <a:chOff x="0" y="0"/>
            <a:chExt cx="2542778" cy="929037"/>
          </a:xfrm>
        </p:grpSpPr>
        <p:sp>
          <p:nvSpPr>
            <p:cNvPr id="9" name="Freeform 9"/>
            <p:cNvSpPr/>
            <p:nvPr/>
          </p:nvSpPr>
          <p:spPr>
            <a:xfrm>
              <a:off x="0" y="0"/>
              <a:ext cx="2542778" cy="929037"/>
            </a:xfrm>
            <a:custGeom>
              <a:avLst/>
              <a:gdLst/>
              <a:ahLst/>
              <a:cxnLst/>
              <a:rect l="l" t="t" r="r" b="b"/>
              <a:pathLst>
                <a:path w="2542778" h="929037">
                  <a:moveTo>
                    <a:pt x="56941" y="0"/>
                  </a:moveTo>
                  <a:lnTo>
                    <a:pt x="2485836" y="0"/>
                  </a:lnTo>
                  <a:cubicBezTo>
                    <a:pt x="2517284" y="0"/>
                    <a:pt x="2542778" y="25494"/>
                    <a:pt x="2542778" y="56941"/>
                  </a:cubicBezTo>
                  <a:lnTo>
                    <a:pt x="2542778" y="872095"/>
                  </a:lnTo>
                  <a:cubicBezTo>
                    <a:pt x="2542778" y="903543"/>
                    <a:pt x="2517284" y="929037"/>
                    <a:pt x="2485836" y="929037"/>
                  </a:cubicBezTo>
                  <a:lnTo>
                    <a:pt x="56941" y="929037"/>
                  </a:lnTo>
                  <a:cubicBezTo>
                    <a:pt x="25494" y="929037"/>
                    <a:pt x="0" y="903543"/>
                    <a:pt x="0" y="872095"/>
                  </a:cubicBezTo>
                  <a:lnTo>
                    <a:pt x="0" y="56941"/>
                  </a:lnTo>
                  <a:cubicBezTo>
                    <a:pt x="0" y="25494"/>
                    <a:pt x="25494" y="0"/>
                    <a:pt x="56941" y="0"/>
                  </a:cubicBezTo>
                  <a:close/>
                </a:path>
              </a:pathLst>
            </a:custGeom>
            <a:solidFill>
              <a:srgbClr val="FFFFFF"/>
            </a:solidFill>
            <a:ln w="19050" cap="rnd">
              <a:solidFill>
                <a:srgbClr val="FFFFFF"/>
              </a:solidFill>
              <a:prstDash val="solid"/>
              <a:round/>
            </a:ln>
          </p:spPr>
          <p:txBody>
            <a:bodyPr/>
            <a:lstStyle/>
            <a:p>
              <a:endParaRPr lang="en-US"/>
            </a:p>
          </p:txBody>
        </p:sp>
        <p:sp>
          <p:nvSpPr>
            <p:cNvPr id="10" name="TextBox 10"/>
            <p:cNvSpPr txBox="1"/>
            <p:nvPr/>
          </p:nvSpPr>
          <p:spPr>
            <a:xfrm>
              <a:off x="0" y="-47625"/>
              <a:ext cx="2542778" cy="976662"/>
            </a:xfrm>
            <a:prstGeom prst="rect">
              <a:avLst/>
            </a:prstGeom>
          </p:spPr>
          <p:txBody>
            <a:bodyPr lIns="31799" tIns="31799" rIns="31799" bIns="31799" rtlCol="0" anchor="ctr"/>
            <a:lstStyle/>
            <a:p>
              <a:pPr marL="0" lvl="0" indent="0" algn="ctr">
                <a:lnSpc>
                  <a:spcPts val="2308"/>
                </a:lnSpc>
                <a:spcBef>
                  <a:spcPct val="0"/>
                </a:spcBef>
              </a:pPr>
              <a:r>
                <a:rPr lang="en-US" sz="1648" b="1">
                  <a:solidFill>
                    <a:srgbClr val="000000"/>
                  </a:solidFill>
                  <a:latin typeface="Gotham Bold"/>
                  <a:ea typeface="Gotham Bold"/>
                  <a:cs typeface="Gotham Bold"/>
                  <a:sym typeface="Gotham Bold"/>
                </a:rPr>
                <a:t>Participation and inclusion</a:t>
              </a:r>
            </a:p>
          </p:txBody>
        </p:sp>
      </p:grpSp>
      <p:grpSp>
        <p:nvGrpSpPr>
          <p:cNvPr id="11" name="Group 11"/>
          <p:cNvGrpSpPr/>
          <p:nvPr/>
        </p:nvGrpSpPr>
        <p:grpSpPr>
          <a:xfrm>
            <a:off x="3517151" y="6888498"/>
            <a:ext cx="4078888" cy="1490274"/>
            <a:chOff x="0" y="0"/>
            <a:chExt cx="2542778" cy="929037"/>
          </a:xfrm>
        </p:grpSpPr>
        <p:sp>
          <p:nvSpPr>
            <p:cNvPr id="12" name="Freeform 12"/>
            <p:cNvSpPr/>
            <p:nvPr/>
          </p:nvSpPr>
          <p:spPr>
            <a:xfrm>
              <a:off x="0" y="0"/>
              <a:ext cx="2542778" cy="929037"/>
            </a:xfrm>
            <a:custGeom>
              <a:avLst/>
              <a:gdLst/>
              <a:ahLst/>
              <a:cxnLst/>
              <a:rect l="l" t="t" r="r" b="b"/>
              <a:pathLst>
                <a:path w="2542778" h="929037">
                  <a:moveTo>
                    <a:pt x="56941" y="0"/>
                  </a:moveTo>
                  <a:lnTo>
                    <a:pt x="2485836" y="0"/>
                  </a:lnTo>
                  <a:cubicBezTo>
                    <a:pt x="2517284" y="0"/>
                    <a:pt x="2542778" y="25494"/>
                    <a:pt x="2542778" y="56941"/>
                  </a:cubicBezTo>
                  <a:lnTo>
                    <a:pt x="2542778" y="872095"/>
                  </a:lnTo>
                  <a:cubicBezTo>
                    <a:pt x="2542778" y="903543"/>
                    <a:pt x="2517284" y="929037"/>
                    <a:pt x="2485836" y="929037"/>
                  </a:cubicBezTo>
                  <a:lnTo>
                    <a:pt x="56941" y="929037"/>
                  </a:lnTo>
                  <a:cubicBezTo>
                    <a:pt x="25494" y="929037"/>
                    <a:pt x="0" y="903543"/>
                    <a:pt x="0" y="872095"/>
                  </a:cubicBezTo>
                  <a:lnTo>
                    <a:pt x="0" y="56941"/>
                  </a:lnTo>
                  <a:cubicBezTo>
                    <a:pt x="0" y="25494"/>
                    <a:pt x="25494" y="0"/>
                    <a:pt x="56941" y="0"/>
                  </a:cubicBezTo>
                  <a:close/>
                </a:path>
              </a:pathLst>
            </a:custGeom>
            <a:solidFill>
              <a:srgbClr val="FFFFFF"/>
            </a:solidFill>
            <a:ln w="19050" cap="rnd">
              <a:solidFill>
                <a:srgbClr val="FFFFFF"/>
              </a:solidFill>
              <a:prstDash val="solid"/>
              <a:round/>
            </a:ln>
          </p:spPr>
          <p:txBody>
            <a:bodyPr/>
            <a:lstStyle/>
            <a:p>
              <a:endParaRPr lang="en-US"/>
            </a:p>
          </p:txBody>
        </p:sp>
        <p:sp>
          <p:nvSpPr>
            <p:cNvPr id="13" name="TextBox 13"/>
            <p:cNvSpPr txBox="1"/>
            <p:nvPr/>
          </p:nvSpPr>
          <p:spPr>
            <a:xfrm>
              <a:off x="0" y="-47625"/>
              <a:ext cx="2542778" cy="976662"/>
            </a:xfrm>
            <a:prstGeom prst="rect">
              <a:avLst/>
            </a:prstGeom>
          </p:spPr>
          <p:txBody>
            <a:bodyPr lIns="31799" tIns="31799" rIns="31799" bIns="31799" rtlCol="0" anchor="ctr"/>
            <a:lstStyle/>
            <a:p>
              <a:pPr marL="0" lvl="0" indent="0" algn="ctr">
                <a:lnSpc>
                  <a:spcPts val="2308"/>
                </a:lnSpc>
                <a:spcBef>
                  <a:spcPct val="0"/>
                </a:spcBef>
              </a:pPr>
              <a:r>
                <a:rPr lang="en-US" sz="1648" b="1">
                  <a:solidFill>
                    <a:srgbClr val="000000"/>
                  </a:solidFill>
                  <a:latin typeface="Gotham Bold"/>
                  <a:ea typeface="Gotham Bold"/>
                  <a:cs typeface="Gotham Bold"/>
                  <a:sym typeface="Gotham Bold"/>
                </a:rPr>
                <a:t>Authenticity and openness</a:t>
              </a:r>
            </a:p>
          </p:txBody>
        </p:sp>
      </p:grpSp>
      <p:grpSp>
        <p:nvGrpSpPr>
          <p:cNvPr id="14" name="Group 14"/>
          <p:cNvGrpSpPr/>
          <p:nvPr/>
        </p:nvGrpSpPr>
        <p:grpSpPr>
          <a:xfrm>
            <a:off x="9237609" y="3154149"/>
            <a:ext cx="4116988" cy="5224623"/>
            <a:chOff x="0" y="0"/>
            <a:chExt cx="5489317" cy="6966164"/>
          </a:xfrm>
        </p:grpSpPr>
        <p:grpSp>
          <p:nvGrpSpPr>
            <p:cNvPr id="15" name="Group 15"/>
            <p:cNvGrpSpPr/>
            <p:nvPr/>
          </p:nvGrpSpPr>
          <p:grpSpPr>
            <a:xfrm>
              <a:off x="0" y="0"/>
              <a:ext cx="5489317" cy="1975784"/>
              <a:chOff x="0" y="0"/>
              <a:chExt cx="2566529" cy="923778"/>
            </a:xfrm>
          </p:grpSpPr>
          <p:sp>
            <p:nvSpPr>
              <p:cNvPr id="16" name="Freeform 16"/>
              <p:cNvSpPr/>
              <p:nvPr/>
            </p:nvSpPr>
            <p:spPr>
              <a:xfrm>
                <a:off x="0" y="0"/>
                <a:ext cx="2566529" cy="923778"/>
              </a:xfrm>
              <a:custGeom>
                <a:avLst/>
                <a:gdLst/>
                <a:ahLst/>
                <a:cxnLst/>
                <a:rect l="l" t="t" r="r" b="b"/>
                <a:pathLst>
                  <a:path w="2566529" h="923778">
                    <a:moveTo>
                      <a:pt x="56414" y="0"/>
                    </a:moveTo>
                    <a:lnTo>
                      <a:pt x="2510115" y="0"/>
                    </a:lnTo>
                    <a:cubicBezTo>
                      <a:pt x="2541272" y="0"/>
                      <a:pt x="2566529" y="25258"/>
                      <a:pt x="2566529" y="56414"/>
                    </a:cubicBezTo>
                    <a:lnTo>
                      <a:pt x="2566529" y="867363"/>
                    </a:lnTo>
                    <a:cubicBezTo>
                      <a:pt x="2566529" y="882325"/>
                      <a:pt x="2560586" y="896674"/>
                      <a:pt x="2550006" y="907254"/>
                    </a:cubicBezTo>
                    <a:cubicBezTo>
                      <a:pt x="2539426" y="917834"/>
                      <a:pt x="2525077" y="923778"/>
                      <a:pt x="2510115" y="923778"/>
                    </a:cubicBezTo>
                    <a:lnTo>
                      <a:pt x="56414" y="923778"/>
                    </a:lnTo>
                    <a:cubicBezTo>
                      <a:pt x="41452" y="923778"/>
                      <a:pt x="27103" y="917834"/>
                      <a:pt x="16523" y="907254"/>
                    </a:cubicBezTo>
                    <a:cubicBezTo>
                      <a:pt x="5944" y="896674"/>
                      <a:pt x="0" y="882325"/>
                      <a:pt x="0" y="867363"/>
                    </a:cubicBezTo>
                    <a:lnTo>
                      <a:pt x="0" y="56414"/>
                    </a:lnTo>
                    <a:cubicBezTo>
                      <a:pt x="0" y="41452"/>
                      <a:pt x="5944" y="27103"/>
                      <a:pt x="16523" y="16523"/>
                    </a:cubicBezTo>
                    <a:cubicBezTo>
                      <a:pt x="27103" y="5944"/>
                      <a:pt x="41452" y="0"/>
                      <a:pt x="56414" y="0"/>
                    </a:cubicBezTo>
                    <a:close/>
                  </a:path>
                </a:pathLst>
              </a:custGeom>
              <a:solidFill>
                <a:srgbClr val="FFFFFF"/>
              </a:solidFill>
              <a:ln w="19050" cap="rnd">
                <a:solidFill>
                  <a:srgbClr val="FFFFFF"/>
                </a:solidFill>
                <a:prstDash val="solid"/>
                <a:round/>
              </a:ln>
            </p:spPr>
            <p:txBody>
              <a:bodyPr/>
              <a:lstStyle/>
              <a:p>
                <a:endParaRPr lang="en-US"/>
              </a:p>
            </p:txBody>
          </p:sp>
          <p:sp>
            <p:nvSpPr>
              <p:cNvPr id="17" name="TextBox 17"/>
              <p:cNvSpPr txBox="1"/>
              <p:nvPr/>
            </p:nvSpPr>
            <p:spPr>
              <a:xfrm>
                <a:off x="0" y="-47625"/>
                <a:ext cx="2566529" cy="971403"/>
              </a:xfrm>
              <a:prstGeom prst="rect">
                <a:avLst/>
              </a:prstGeom>
            </p:spPr>
            <p:txBody>
              <a:bodyPr lIns="26175" tIns="26175" rIns="26175" bIns="26175" rtlCol="0" anchor="ctr"/>
              <a:lstStyle/>
              <a:p>
                <a:pPr marL="0" lvl="0" indent="0" algn="ctr">
                  <a:lnSpc>
                    <a:spcPts val="2308"/>
                  </a:lnSpc>
                  <a:spcBef>
                    <a:spcPct val="0"/>
                  </a:spcBef>
                </a:pPr>
                <a:r>
                  <a:rPr lang="en-US" sz="1648" b="1">
                    <a:solidFill>
                      <a:srgbClr val="000000"/>
                    </a:solidFill>
                    <a:latin typeface="Gotham Bold"/>
                    <a:ea typeface="Gotham Bold"/>
                    <a:cs typeface="Gotham Bold"/>
                    <a:sym typeface="Gotham Bold"/>
                  </a:rPr>
                  <a:t>Systems thinking</a:t>
                </a:r>
              </a:p>
            </p:txBody>
          </p:sp>
        </p:grpSp>
        <p:grpSp>
          <p:nvGrpSpPr>
            <p:cNvPr id="18" name="Group 18"/>
            <p:cNvGrpSpPr/>
            <p:nvPr/>
          </p:nvGrpSpPr>
          <p:grpSpPr>
            <a:xfrm>
              <a:off x="0" y="4990380"/>
              <a:ext cx="5489317" cy="1975784"/>
              <a:chOff x="0" y="0"/>
              <a:chExt cx="2566529" cy="923778"/>
            </a:xfrm>
          </p:grpSpPr>
          <p:sp>
            <p:nvSpPr>
              <p:cNvPr id="19" name="Freeform 19"/>
              <p:cNvSpPr/>
              <p:nvPr/>
            </p:nvSpPr>
            <p:spPr>
              <a:xfrm>
                <a:off x="0" y="0"/>
                <a:ext cx="2566529" cy="923778"/>
              </a:xfrm>
              <a:custGeom>
                <a:avLst/>
                <a:gdLst/>
                <a:ahLst/>
                <a:cxnLst/>
                <a:rect l="l" t="t" r="r" b="b"/>
                <a:pathLst>
                  <a:path w="2566529" h="923778">
                    <a:moveTo>
                      <a:pt x="56414" y="0"/>
                    </a:moveTo>
                    <a:lnTo>
                      <a:pt x="2510115" y="0"/>
                    </a:lnTo>
                    <a:cubicBezTo>
                      <a:pt x="2541272" y="0"/>
                      <a:pt x="2566529" y="25258"/>
                      <a:pt x="2566529" y="56414"/>
                    </a:cubicBezTo>
                    <a:lnTo>
                      <a:pt x="2566529" y="867363"/>
                    </a:lnTo>
                    <a:cubicBezTo>
                      <a:pt x="2566529" y="882325"/>
                      <a:pt x="2560586" y="896674"/>
                      <a:pt x="2550006" y="907254"/>
                    </a:cubicBezTo>
                    <a:cubicBezTo>
                      <a:pt x="2539426" y="917834"/>
                      <a:pt x="2525077" y="923778"/>
                      <a:pt x="2510115" y="923778"/>
                    </a:cubicBezTo>
                    <a:lnTo>
                      <a:pt x="56414" y="923778"/>
                    </a:lnTo>
                    <a:cubicBezTo>
                      <a:pt x="41452" y="923778"/>
                      <a:pt x="27103" y="917834"/>
                      <a:pt x="16523" y="907254"/>
                    </a:cubicBezTo>
                    <a:cubicBezTo>
                      <a:pt x="5944" y="896674"/>
                      <a:pt x="0" y="882325"/>
                      <a:pt x="0" y="867363"/>
                    </a:cubicBezTo>
                    <a:lnTo>
                      <a:pt x="0" y="56414"/>
                    </a:lnTo>
                    <a:cubicBezTo>
                      <a:pt x="0" y="41452"/>
                      <a:pt x="5944" y="27103"/>
                      <a:pt x="16523" y="16523"/>
                    </a:cubicBezTo>
                    <a:cubicBezTo>
                      <a:pt x="27103" y="5944"/>
                      <a:pt x="41452" y="0"/>
                      <a:pt x="56414" y="0"/>
                    </a:cubicBezTo>
                    <a:close/>
                  </a:path>
                </a:pathLst>
              </a:custGeom>
              <a:solidFill>
                <a:srgbClr val="FFFFFF"/>
              </a:solidFill>
              <a:ln w="19050" cap="rnd">
                <a:solidFill>
                  <a:srgbClr val="FFFFFF"/>
                </a:solidFill>
                <a:prstDash val="solid"/>
                <a:round/>
              </a:ln>
            </p:spPr>
            <p:txBody>
              <a:bodyPr/>
              <a:lstStyle/>
              <a:p>
                <a:endParaRPr lang="en-US"/>
              </a:p>
            </p:txBody>
          </p:sp>
          <p:sp>
            <p:nvSpPr>
              <p:cNvPr id="20" name="TextBox 20"/>
              <p:cNvSpPr txBox="1"/>
              <p:nvPr/>
            </p:nvSpPr>
            <p:spPr>
              <a:xfrm>
                <a:off x="0" y="-47625"/>
                <a:ext cx="2566529" cy="971403"/>
              </a:xfrm>
              <a:prstGeom prst="rect">
                <a:avLst/>
              </a:prstGeom>
            </p:spPr>
            <p:txBody>
              <a:bodyPr lIns="26175" tIns="26175" rIns="26175" bIns="26175" rtlCol="0" anchor="ctr"/>
              <a:lstStyle/>
              <a:p>
                <a:pPr marL="0" lvl="0" indent="0" algn="ctr">
                  <a:lnSpc>
                    <a:spcPts val="2308"/>
                  </a:lnSpc>
                  <a:spcBef>
                    <a:spcPct val="0"/>
                  </a:spcBef>
                </a:pPr>
                <a:r>
                  <a:rPr lang="en-US" sz="1648" b="1">
                    <a:solidFill>
                      <a:srgbClr val="000000"/>
                    </a:solidFill>
                    <a:latin typeface="Gotham Bold"/>
                    <a:ea typeface="Gotham Bold"/>
                    <a:cs typeface="Gotham Bold"/>
                    <a:sym typeface="Gotham Bold"/>
                  </a:rPr>
                  <a:t>Continuous learning</a:t>
                </a:r>
              </a:p>
            </p:txBody>
          </p:sp>
        </p:grpSp>
        <p:grpSp>
          <p:nvGrpSpPr>
            <p:cNvPr id="21" name="Group 21"/>
            <p:cNvGrpSpPr/>
            <p:nvPr/>
          </p:nvGrpSpPr>
          <p:grpSpPr>
            <a:xfrm>
              <a:off x="0" y="2489566"/>
              <a:ext cx="5489317" cy="1987033"/>
              <a:chOff x="0" y="0"/>
              <a:chExt cx="2566529" cy="929037"/>
            </a:xfrm>
          </p:grpSpPr>
          <p:sp>
            <p:nvSpPr>
              <p:cNvPr id="22" name="Freeform 22"/>
              <p:cNvSpPr/>
              <p:nvPr/>
            </p:nvSpPr>
            <p:spPr>
              <a:xfrm>
                <a:off x="0" y="0"/>
                <a:ext cx="2566529" cy="929037"/>
              </a:xfrm>
              <a:custGeom>
                <a:avLst/>
                <a:gdLst/>
                <a:ahLst/>
                <a:cxnLst/>
                <a:rect l="l" t="t" r="r" b="b"/>
                <a:pathLst>
                  <a:path w="2566529" h="929037">
                    <a:moveTo>
                      <a:pt x="56414" y="0"/>
                    </a:moveTo>
                    <a:lnTo>
                      <a:pt x="2510115" y="0"/>
                    </a:lnTo>
                    <a:cubicBezTo>
                      <a:pt x="2541272" y="0"/>
                      <a:pt x="2566529" y="25258"/>
                      <a:pt x="2566529" y="56414"/>
                    </a:cubicBezTo>
                    <a:lnTo>
                      <a:pt x="2566529" y="872622"/>
                    </a:lnTo>
                    <a:cubicBezTo>
                      <a:pt x="2566529" y="887584"/>
                      <a:pt x="2560586" y="901934"/>
                      <a:pt x="2550006" y="912513"/>
                    </a:cubicBezTo>
                    <a:cubicBezTo>
                      <a:pt x="2539426" y="923093"/>
                      <a:pt x="2525077" y="929037"/>
                      <a:pt x="2510115" y="929037"/>
                    </a:cubicBezTo>
                    <a:lnTo>
                      <a:pt x="56414" y="929037"/>
                    </a:lnTo>
                    <a:cubicBezTo>
                      <a:pt x="25258" y="929037"/>
                      <a:pt x="0" y="903779"/>
                      <a:pt x="0" y="872622"/>
                    </a:cubicBezTo>
                    <a:lnTo>
                      <a:pt x="0" y="56414"/>
                    </a:lnTo>
                    <a:cubicBezTo>
                      <a:pt x="0" y="41452"/>
                      <a:pt x="5944" y="27103"/>
                      <a:pt x="16523" y="16523"/>
                    </a:cubicBezTo>
                    <a:cubicBezTo>
                      <a:pt x="27103" y="5944"/>
                      <a:pt x="41452" y="0"/>
                      <a:pt x="56414" y="0"/>
                    </a:cubicBezTo>
                    <a:close/>
                  </a:path>
                </a:pathLst>
              </a:custGeom>
              <a:solidFill>
                <a:srgbClr val="FFFFFF"/>
              </a:solidFill>
              <a:ln w="19050" cap="rnd">
                <a:solidFill>
                  <a:srgbClr val="FFFFFF"/>
                </a:solidFill>
                <a:prstDash val="solid"/>
                <a:round/>
              </a:ln>
            </p:spPr>
            <p:txBody>
              <a:bodyPr/>
              <a:lstStyle/>
              <a:p>
                <a:endParaRPr lang="en-US"/>
              </a:p>
            </p:txBody>
          </p:sp>
          <p:sp>
            <p:nvSpPr>
              <p:cNvPr id="23" name="TextBox 23"/>
              <p:cNvSpPr txBox="1"/>
              <p:nvPr/>
            </p:nvSpPr>
            <p:spPr>
              <a:xfrm>
                <a:off x="0" y="-47625"/>
                <a:ext cx="2566529" cy="976662"/>
              </a:xfrm>
              <a:prstGeom prst="rect">
                <a:avLst/>
              </a:prstGeom>
            </p:spPr>
            <p:txBody>
              <a:bodyPr lIns="31799" tIns="31799" rIns="31799" bIns="31799" rtlCol="0" anchor="ctr"/>
              <a:lstStyle/>
              <a:p>
                <a:pPr marL="0" lvl="0" indent="0" algn="ctr">
                  <a:lnSpc>
                    <a:spcPts val="2308"/>
                  </a:lnSpc>
                  <a:spcBef>
                    <a:spcPct val="0"/>
                  </a:spcBef>
                </a:pPr>
                <a:r>
                  <a:rPr lang="en-US" sz="1648" b="1" u="none" strike="noStrike">
                    <a:solidFill>
                      <a:srgbClr val="000000"/>
                    </a:solidFill>
                    <a:latin typeface="Gotham Bold"/>
                    <a:ea typeface="Gotham Bold"/>
                    <a:cs typeface="Gotham Bold"/>
                    <a:sym typeface="Gotham Bold"/>
                  </a:rPr>
                  <a:t>Data-based decision making</a:t>
                </a:r>
              </a:p>
            </p:txBody>
          </p:sp>
        </p:grpSp>
      </p:grpSp>
      <p:sp>
        <p:nvSpPr>
          <p:cNvPr id="24" name="Freeform 24"/>
          <p:cNvSpPr/>
          <p:nvPr/>
        </p:nvSpPr>
        <p:spPr>
          <a:xfrm>
            <a:off x="2107451" y="3154149"/>
            <a:ext cx="1409700" cy="1409700"/>
          </a:xfrm>
          <a:custGeom>
            <a:avLst/>
            <a:gdLst/>
            <a:ahLst/>
            <a:cxnLst/>
            <a:rect l="l" t="t" r="r" b="b"/>
            <a:pathLst>
              <a:path w="1409700" h="1409700">
                <a:moveTo>
                  <a:pt x="0" y="0"/>
                </a:moveTo>
                <a:lnTo>
                  <a:pt x="1409700" y="0"/>
                </a:lnTo>
                <a:lnTo>
                  <a:pt x="1409700" y="1409700"/>
                </a:lnTo>
                <a:lnTo>
                  <a:pt x="0" y="14097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grpSp>
        <p:nvGrpSpPr>
          <p:cNvPr id="25" name="Group 25"/>
          <p:cNvGrpSpPr/>
          <p:nvPr/>
        </p:nvGrpSpPr>
        <p:grpSpPr>
          <a:xfrm>
            <a:off x="13621918" y="5115769"/>
            <a:ext cx="1292949" cy="1292949"/>
            <a:chOff x="0" y="0"/>
            <a:chExt cx="1723932" cy="1723932"/>
          </a:xfrm>
        </p:grpSpPr>
        <p:sp>
          <p:nvSpPr>
            <p:cNvPr id="26" name="Freeform 26"/>
            <p:cNvSpPr/>
            <p:nvPr/>
          </p:nvSpPr>
          <p:spPr>
            <a:xfrm>
              <a:off x="0" y="0"/>
              <a:ext cx="1723932" cy="1723932"/>
            </a:xfrm>
            <a:custGeom>
              <a:avLst/>
              <a:gdLst/>
              <a:ahLst/>
              <a:cxnLst/>
              <a:rect l="l" t="t" r="r" b="b"/>
              <a:pathLst>
                <a:path w="1723932" h="1723932">
                  <a:moveTo>
                    <a:pt x="0" y="0"/>
                  </a:moveTo>
                  <a:lnTo>
                    <a:pt x="1723932" y="0"/>
                  </a:lnTo>
                  <a:lnTo>
                    <a:pt x="1723932" y="1723932"/>
                  </a:lnTo>
                  <a:lnTo>
                    <a:pt x="0" y="17239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7" name="Freeform 27"/>
            <p:cNvSpPr/>
            <p:nvPr/>
          </p:nvSpPr>
          <p:spPr>
            <a:xfrm flipH="1">
              <a:off x="368134" y="305971"/>
              <a:ext cx="1006442" cy="1044297"/>
            </a:xfrm>
            <a:custGeom>
              <a:avLst/>
              <a:gdLst/>
              <a:ahLst/>
              <a:cxnLst/>
              <a:rect l="l" t="t" r="r" b="b"/>
              <a:pathLst>
                <a:path w="1006442" h="1044297">
                  <a:moveTo>
                    <a:pt x="1006442" y="0"/>
                  </a:moveTo>
                  <a:lnTo>
                    <a:pt x="0" y="0"/>
                  </a:lnTo>
                  <a:lnTo>
                    <a:pt x="0" y="1044297"/>
                  </a:lnTo>
                  <a:lnTo>
                    <a:pt x="1006442" y="1044297"/>
                  </a:lnTo>
                  <a:lnTo>
                    <a:pt x="1006442"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sp>
        <p:nvSpPr>
          <p:cNvPr id="28" name="Freeform 28"/>
          <p:cNvSpPr/>
          <p:nvPr/>
        </p:nvSpPr>
        <p:spPr>
          <a:xfrm>
            <a:off x="2207273" y="5107304"/>
            <a:ext cx="1309879" cy="1309879"/>
          </a:xfrm>
          <a:custGeom>
            <a:avLst/>
            <a:gdLst/>
            <a:ahLst/>
            <a:cxnLst/>
            <a:rect l="l" t="t" r="r" b="b"/>
            <a:pathLst>
              <a:path w="1309879" h="1309879">
                <a:moveTo>
                  <a:pt x="0" y="0"/>
                </a:moveTo>
                <a:lnTo>
                  <a:pt x="1309878" y="0"/>
                </a:lnTo>
                <a:lnTo>
                  <a:pt x="1309878" y="1309878"/>
                </a:lnTo>
                <a:lnTo>
                  <a:pt x="0" y="130987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9" name="Freeform 29"/>
          <p:cNvSpPr/>
          <p:nvPr/>
        </p:nvSpPr>
        <p:spPr>
          <a:xfrm>
            <a:off x="13621918" y="6960107"/>
            <a:ext cx="1292949" cy="1292949"/>
          </a:xfrm>
          <a:custGeom>
            <a:avLst/>
            <a:gdLst/>
            <a:ahLst/>
            <a:cxnLst/>
            <a:rect l="l" t="t" r="r" b="b"/>
            <a:pathLst>
              <a:path w="1292949" h="1292949">
                <a:moveTo>
                  <a:pt x="0" y="0"/>
                </a:moveTo>
                <a:lnTo>
                  <a:pt x="1292949" y="0"/>
                </a:lnTo>
                <a:lnTo>
                  <a:pt x="1292949" y="1292949"/>
                </a:lnTo>
                <a:lnTo>
                  <a:pt x="0" y="12929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0" name="Freeform 30"/>
          <p:cNvSpPr/>
          <p:nvPr/>
        </p:nvSpPr>
        <p:spPr>
          <a:xfrm>
            <a:off x="13932257" y="7144179"/>
            <a:ext cx="672270" cy="824871"/>
          </a:xfrm>
          <a:custGeom>
            <a:avLst/>
            <a:gdLst/>
            <a:ahLst/>
            <a:cxnLst/>
            <a:rect l="l" t="t" r="r" b="b"/>
            <a:pathLst>
              <a:path w="672270" h="824871">
                <a:moveTo>
                  <a:pt x="0" y="0"/>
                </a:moveTo>
                <a:lnTo>
                  <a:pt x="672270" y="0"/>
                </a:lnTo>
                <a:lnTo>
                  <a:pt x="672270" y="824871"/>
                </a:lnTo>
                <a:lnTo>
                  <a:pt x="0" y="82487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31" name="Group 31"/>
          <p:cNvGrpSpPr/>
          <p:nvPr/>
        </p:nvGrpSpPr>
        <p:grpSpPr>
          <a:xfrm>
            <a:off x="13628960" y="3212525"/>
            <a:ext cx="1292949" cy="1292949"/>
            <a:chOff x="0" y="0"/>
            <a:chExt cx="1723932" cy="1723932"/>
          </a:xfrm>
        </p:grpSpPr>
        <p:sp>
          <p:nvSpPr>
            <p:cNvPr id="32" name="Freeform 32"/>
            <p:cNvSpPr/>
            <p:nvPr/>
          </p:nvSpPr>
          <p:spPr>
            <a:xfrm>
              <a:off x="0" y="0"/>
              <a:ext cx="1723932" cy="1723932"/>
            </a:xfrm>
            <a:custGeom>
              <a:avLst/>
              <a:gdLst/>
              <a:ahLst/>
              <a:cxnLst/>
              <a:rect l="l" t="t" r="r" b="b"/>
              <a:pathLst>
                <a:path w="1723932" h="1723932">
                  <a:moveTo>
                    <a:pt x="0" y="0"/>
                  </a:moveTo>
                  <a:lnTo>
                    <a:pt x="1723932" y="0"/>
                  </a:lnTo>
                  <a:lnTo>
                    <a:pt x="1723932" y="1723932"/>
                  </a:lnTo>
                  <a:lnTo>
                    <a:pt x="0" y="17239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3" name="Freeform 33"/>
            <p:cNvSpPr/>
            <p:nvPr/>
          </p:nvSpPr>
          <p:spPr>
            <a:xfrm>
              <a:off x="334916" y="334916"/>
              <a:ext cx="1054100" cy="1054100"/>
            </a:xfrm>
            <a:custGeom>
              <a:avLst/>
              <a:gdLst/>
              <a:ahLst/>
              <a:cxnLst/>
              <a:rect l="l" t="t" r="r" b="b"/>
              <a:pathLst>
                <a:path w="1054100" h="1054100">
                  <a:moveTo>
                    <a:pt x="0" y="0"/>
                  </a:moveTo>
                  <a:lnTo>
                    <a:pt x="1054100" y="0"/>
                  </a:lnTo>
                  <a:lnTo>
                    <a:pt x="1054100" y="1054100"/>
                  </a:lnTo>
                  <a:lnTo>
                    <a:pt x="0" y="10541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grpSp>
        <p:nvGrpSpPr>
          <p:cNvPr id="34" name="Group 34"/>
          <p:cNvGrpSpPr/>
          <p:nvPr/>
        </p:nvGrpSpPr>
        <p:grpSpPr>
          <a:xfrm>
            <a:off x="2224202" y="6987161"/>
            <a:ext cx="1292949" cy="1292949"/>
            <a:chOff x="0" y="0"/>
            <a:chExt cx="1723932" cy="1723932"/>
          </a:xfrm>
        </p:grpSpPr>
        <p:sp>
          <p:nvSpPr>
            <p:cNvPr id="35" name="Freeform 35"/>
            <p:cNvSpPr/>
            <p:nvPr/>
          </p:nvSpPr>
          <p:spPr>
            <a:xfrm>
              <a:off x="0" y="0"/>
              <a:ext cx="1723932" cy="1723932"/>
            </a:xfrm>
            <a:custGeom>
              <a:avLst/>
              <a:gdLst/>
              <a:ahLst/>
              <a:cxnLst/>
              <a:rect l="l" t="t" r="r" b="b"/>
              <a:pathLst>
                <a:path w="1723932" h="1723932">
                  <a:moveTo>
                    <a:pt x="0" y="0"/>
                  </a:moveTo>
                  <a:lnTo>
                    <a:pt x="1723932" y="0"/>
                  </a:lnTo>
                  <a:lnTo>
                    <a:pt x="1723932" y="1723932"/>
                  </a:lnTo>
                  <a:lnTo>
                    <a:pt x="0" y="17239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6" name="Freeform 36"/>
            <p:cNvSpPr/>
            <p:nvPr/>
          </p:nvSpPr>
          <p:spPr>
            <a:xfrm>
              <a:off x="402493" y="323784"/>
              <a:ext cx="918946" cy="1076364"/>
            </a:xfrm>
            <a:custGeom>
              <a:avLst/>
              <a:gdLst/>
              <a:ahLst/>
              <a:cxnLst/>
              <a:rect l="l" t="t" r="r" b="b"/>
              <a:pathLst>
                <a:path w="918946" h="1076364">
                  <a:moveTo>
                    <a:pt x="0" y="0"/>
                  </a:moveTo>
                  <a:lnTo>
                    <a:pt x="918946" y="0"/>
                  </a:lnTo>
                  <a:lnTo>
                    <a:pt x="918946" y="1076364"/>
                  </a:lnTo>
                  <a:lnTo>
                    <a:pt x="0" y="107636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grpSp>
      <p:sp>
        <p:nvSpPr>
          <p:cNvPr id="37" name="TextBox 37"/>
          <p:cNvSpPr txBox="1"/>
          <p:nvPr/>
        </p:nvSpPr>
        <p:spPr>
          <a:xfrm>
            <a:off x="802149" y="2541258"/>
            <a:ext cx="15943263" cy="671267"/>
          </a:xfrm>
          <a:prstGeom prst="rect">
            <a:avLst/>
          </a:prstGeom>
        </p:spPr>
        <p:txBody>
          <a:bodyPr lIns="0" tIns="0" rIns="0" bIns="0" rtlCol="0" anchor="t">
            <a:spAutoFit/>
          </a:bodyPr>
          <a:lstStyle/>
          <a:p>
            <a:pPr algn="l">
              <a:lnSpc>
                <a:spcPts val="2376"/>
              </a:lnSpc>
              <a:spcBef>
                <a:spcPct val="0"/>
              </a:spcBef>
            </a:pPr>
            <a:r>
              <a:rPr lang="en-US" sz="1697">
                <a:solidFill>
                  <a:srgbClr val="000000"/>
                </a:solidFill>
                <a:latin typeface="Gotham"/>
                <a:ea typeface="Gotham"/>
                <a:cs typeface="Gotham"/>
                <a:sym typeface="Gotham"/>
              </a:rPr>
              <a:t>The practice of OD is guided by several key values that distinguish it from mechanistic approaches to organizational change:</a:t>
            </a:r>
          </a:p>
          <a:p>
            <a:pPr algn="l">
              <a:lnSpc>
                <a:spcPts val="2376"/>
              </a:lnSpc>
              <a:spcBef>
                <a:spcPct val="0"/>
              </a:spcBef>
            </a:pPr>
            <a:endParaRPr lang="en-US" sz="1697">
              <a:solidFill>
                <a:srgbClr val="000000"/>
              </a:solidFill>
              <a:latin typeface="Gotham"/>
              <a:ea typeface="Gotham"/>
              <a:cs typeface="Gotham"/>
              <a:sym typeface="Gotham"/>
            </a:endParaRPr>
          </a:p>
        </p:txBody>
      </p:sp>
      <p:sp>
        <p:nvSpPr>
          <p:cNvPr id="38" name="TextBox 38"/>
          <p:cNvSpPr txBox="1"/>
          <p:nvPr/>
        </p:nvSpPr>
        <p:spPr>
          <a:xfrm>
            <a:off x="291130" y="952500"/>
            <a:ext cx="12019212" cy="577079"/>
          </a:xfrm>
          <a:prstGeom prst="rect">
            <a:avLst/>
          </a:prstGeom>
        </p:spPr>
        <p:txBody>
          <a:bodyPr lIns="0" tIns="0" rIns="0" bIns="0" rtlCol="0" anchor="t">
            <a:spAutoFit/>
          </a:bodyPr>
          <a:lstStyle/>
          <a:p>
            <a:pPr algn="l">
              <a:lnSpc>
                <a:spcPts val="4652"/>
              </a:lnSpc>
            </a:pPr>
            <a:r>
              <a:rPr lang="en-US" sz="3323" b="1" spc="-49">
                <a:solidFill>
                  <a:srgbClr val="FFFFFF"/>
                </a:solidFill>
                <a:latin typeface="Gotham Bold"/>
                <a:ea typeface="Gotham Bold"/>
                <a:cs typeface="Gotham Bold"/>
                <a:sym typeface="Gotham Bold"/>
              </a:rPr>
              <a:t>Understanding OD: Core Values and Principles</a:t>
            </a:r>
          </a:p>
        </p:txBody>
      </p:sp>
      <p:sp>
        <p:nvSpPr>
          <p:cNvPr id="39" name="TextBox 39"/>
          <p:cNvSpPr txBox="1"/>
          <p:nvPr/>
        </p:nvSpPr>
        <p:spPr>
          <a:xfrm>
            <a:off x="1335385" y="8674048"/>
            <a:ext cx="15923915" cy="691545"/>
          </a:xfrm>
          <a:prstGeom prst="rect">
            <a:avLst/>
          </a:prstGeom>
        </p:spPr>
        <p:txBody>
          <a:bodyPr lIns="0" tIns="0" rIns="0" bIns="0" rtlCol="0" anchor="t">
            <a:spAutoFit/>
          </a:bodyPr>
          <a:lstStyle/>
          <a:p>
            <a:pPr algn="l">
              <a:lnSpc>
                <a:spcPts val="2308"/>
              </a:lnSpc>
              <a:spcBef>
                <a:spcPct val="0"/>
              </a:spcBef>
            </a:pPr>
            <a:r>
              <a:rPr lang="en-US" sz="1648">
                <a:solidFill>
                  <a:srgbClr val="000000"/>
                </a:solidFill>
                <a:latin typeface="Gotham"/>
                <a:ea typeface="Gotham"/>
                <a:cs typeface="Gotham"/>
                <a:sym typeface="Gotham"/>
              </a:rPr>
              <a:t>These values shape how OD practitioners approach their work and influence the kinds of interventions they design. For HR professionals, these values provide ethical guardrails for organizational change efforts.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5918694"/>
            <a:ext cx="15965460" cy="3339606"/>
          </a:xfrm>
          <a:custGeom>
            <a:avLst/>
            <a:gdLst/>
            <a:ahLst/>
            <a:cxnLst/>
            <a:rect l="l" t="t" r="r" b="b"/>
            <a:pathLst>
              <a:path w="15965460" h="3339606">
                <a:moveTo>
                  <a:pt x="0" y="0"/>
                </a:moveTo>
                <a:lnTo>
                  <a:pt x="15965460" y="0"/>
                </a:lnTo>
                <a:lnTo>
                  <a:pt x="15965460" y="3339606"/>
                </a:lnTo>
                <a:lnTo>
                  <a:pt x="0" y="3339606"/>
                </a:lnTo>
                <a:lnTo>
                  <a:pt x="0" y="0"/>
                </a:lnTo>
                <a:close/>
              </a:path>
            </a:pathLst>
          </a:custGeom>
          <a:blipFill>
            <a:blip r:embed="rId2">
              <a:alphaModFix amt="6000"/>
            </a:blip>
            <a:stretch>
              <a:fillRect t="-208175" r="-16143" b="-61751"/>
            </a:stretch>
          </a:blipFill>
        </p:spPr>
        <p:txBody>
          <a:bodyPr/>
          <a:lstStyle/>
          <a:p>
            <a:endParaRPr lang="en-US"/>
          </a:p>
        </p:txBody>
      </p:sp>
      <p:grpSp>
        <p:nvGrpSpPr>
          <p:cNvPr id="3" name="Group 3"/>
          <p:cNvGrpSpPr/>
          <p:nvPr/>
        </p:nvGrpSpPr>
        <p:grpSpPr>
          <a:xfrm>
            <a:off x="5509508" y="3342886"/>
            <a:ext cx="6683429" cy="4623321"/>
            <a:chOff x="0" y="0"/>
            <a:chExt cx="8911239" cy="6164427"/>
          </a:xfrm>
        </p:grpSpPr>
        <p:grpSp>
          <p:nvGrpSpPr>
            <p:cNvPr id="4" name="Group 4"/>
            <p:cNvGrpSpPr/>
            <p:nvPr/>
          </p:nvGrpSpPr>
          <p:grpSpPr>
            <a:xfrm>
              <a:off x="3371273" y="1148000"/>
              <a:ext cx="2464459" cy="2314164"/>
              <a:chOff x="0" y="0"/>
              <a:chExt cx="1129901" cy="1060994"/>
            </a:xfrm>
          </p:grpSpPr>
          <p:sp>
            <p:nvSpPr>
              <p:cNvPr id="5" name="Freeform 5"/>
              <p:cNvSpPr/>
              <p:nvPr/>
            </p:nvSpPr>
            <p:spPr>
              <a:xfrm>
                <a:off x="0" y="0"/>
                <a:ext cx="1129901" cy="1060994"/>
              </a:xfrm>
              <a:custGeom>
                <a:avLst/>
                <a:gdLst/>
                <a:ahLst/>
                <a:cxnLst/>
                <a:rect l="l" t="t" r="r" b="b"/>
                <a:pathLst>
                  <a:path w="1129901" h="1060994">
                    <a:moveTo>
                      <a:pt x="564950" y="0"/>
                    </a:moveTo>
                    <a:cubicBezTo>
                      <a:pt x="252937" y="0"/>
                      <a:pt x="0" y="237512"/>
                      <a:pt x="0" y="530497"/>
                    </a:cubicBezTo>
                    <a:cubicBezTo>
                      <a:pt x="0" y="823482"/>
                      <a:pt x="252937" y="1060994"/>
                      <a:pt x="564950" y="1060994"/>
                    </a:cubicBezTo>
                    <a:cubicBezTo>
                      <a:pt x="876964" y="1060994"/>
                      <a:pt x="1129901" y="823482"/>
                      <a:pt x="1129901" y="530497"/>
                    </a:cubicBezTo>
                    <a:cubicBezTo>
                      <a:pt x="1129901" y="237512"/>
                      <a:pt x="876964" y="0"/>
                      <a:pt x="564950" y="0"/>
                    </a:cubicBezTo>
                    <a:close/>
                  </a:path>
                </a:pathLst>
              </a:custGeom>
              <a:solidFill>
                <a:srgbClr val="232B43"/>
              </a:solidFill>
            </p:spPr>
            <p:txBody>
              <a:bodyPr/>
              <a:lstStyle/>
              <a:p>
                <a:endParaRPr lang="en-US"/>
              </a:p>
            </p:txBody>
          </p:sp>
          <p:sp>
            <p:nvSpPr>
              <p:cNvPr id="6" name="TextBox 6"/>
              <p:cNvSpPr txBox="1"/>
              <p:nvPr/>
            </p:nvSpPr>
            <p:spPr>
              <a:xfrm>
                <a:off x="105928" y="70893"/>
                <a:ext cx="918044" cy="890632"/>
              </a:xfrm>
              <a:prstGeom prst="rect">
                <a:avLst/>
              </a:prstGeom>
            </p:spPr>
            <p:txBody>
              <a:bodyPr lIns="12107" tIns="12107" rIns="12107" bIns="12107" rtlCol="0" anchor="ctr"/>
              <a:lstStyle/>
              <a:p>
                <a:pPr algn="ctr">
                  <a:lnSpc>
                    <a:spcPts val="1680"/>
                  </a:lnSpc>
                </a:pPr>
                <a:r>
                  <a:rPr lang="en-US" sz="1200" b="1">
                    <a:solidFill>
                      <a:srgbClr val="FFFFFF"/>
                    </a:solidFill>
                    <a:latin typeface="Gotham Bold"/>
                    <a:ea typeface="Gotham Bold"/>
                    <a:cs typeface="Gotham Bold"/>
                    <a:sym typeface="Gotham Bold"/>
                  </a:rPr>
                  <a:t>Organization</a:t>
                </a:r>
              </a:p>
              <a:p>
                <a:pPr algn="ctr">
                  <a:lnSpc>
                    <a:spcPts val="1680"/>
                  </a:lnSpc>
                </a:pPr>
                <a:r>
                  <a:rPr lang="en-US" sz="1200" b="1">
                    <a:solidFill>
                      <a:srgbClr val="FFFFFF"/>
                    </a:solidFill>
                    <a:latin typeface="Gotham Bold"/>
                    <a:ea typeface="Gotham Bold"/>
                    <a:cs typeface="Gotham Bold"/>
                    <a:sym typeface="Gotham Bold"/>
                  </a:rPr>
                  <a:t>Characteristics</a:t>
                </a:r>
              </a:p>
            </p:txBody>
          </p:sp>
        </p:grpSp>
        <p:grpSp>
          <p:nvGrpSpPr>
            <p:cNvPr id="7" name="Group 7"/>
            <p:cNvGrpSpPr/>
            <p:nvPr/>
          </p:nvGrpSpPr>
          <p:grpSpPr>
            <a:xfrm>
              <a:off x="0" y="0"/>
              <a:ext cx="2229416" cy="2156006"/>
              <a:chOff x="0" y="0"/>
              <a:chExt cx="1408421" cy="1362045"/>
            </a:xfrm>
          </p:grpSpPr>
          <p:sp>
            <p:nvSpPr>
              <p:cNvPr id="8" name="Freeform 8"/>
              <p:cNvSpPr/>
              <p:nvPr/>
            </p:nvSpPr>
            <p:spPr>
              <a:xfrm>
                <a:off x="0" y="0"/>
                <a:ext cx="1408421" cy="1362045"/>
              </a:xfrm>
              <a:custGeom>
                <a:avLst/>
                <a:gdLst/>
                <a:ahLst/>
                <a:cxnLst/>
                <a:rect l="l" t="t" r="r" b="b"/>
                <a:pathLst>
                  <a:path w="1408421" h="1362045">
                    <a:moveTo>
                      <a:pt x="704211" y="0"/>
                    </a:moveTo>
                    <a:cubicBezTo>
                      <a:pt x="315286" y="0"/>
                      <a:pt x="0" y="304904"/>
                      <a:pt x="0" y="681022"/>
                    </a:cubicBezTo>
                    <a:cubicBezTo>
                      <a:pt x="0" y="1057141"/>
                      <a:pt x="315286" y="1362045"/>
                      <a:pt x="704211" y="1362045"/>
                    </a:cubicBezTo>
                    <a:cubicBezTo>
                      <a:pt x="1093136" y="1362045"/>
                      <a:pt x="1408421" y="1057141"/>
                      <a:pt x="1408421" y="681022"/>
                    </a:cubicBezTo>
                    <a:cubicBezTo>
                      <a:pt x="1408421" y="304904"/>
                      <a:pt x="1093136" y="0"/>
                      <a:pt x="704211" y="0"/>
                    </a:cubicBezTo>
                    <a:close/>
                  </a:path>
                </a:pathLst>
              </a:custGeom>
              <a:solidFill>
                <a:srgbClr val="232B43"/>
              </a:solidFill>
            </p:spPr>
            <p:txBody>
              <a:bodyPr/>
              <a:lstStyle/>
              <a:p>
                <a:endParaRPr lang="en-US"/>
              </a:p>
            </p:txBody>
          </p:sp>
          <p:sp>
            <p:nvSpPr>
              <p:cNvPr id="9" name="TextBox 9"/>
              <p:cNvSpPr txBox="1"/>
              <p:nvPr/>
            </p:nvSpPr>
            <p:spPr>
              <a:xfrm>
                <a:off x="132040" y="99117"/>
                <a:ext cx="1144342" cy="1135236"/>
              </a:xfrm>
              <a:prstGeom prst="rect">
                <a:avLst/>
              </a:prstGeom>
            </p:spPr>
            <p:txBody>
              <a:bodyPr lIns="12107" tIns="12107" rIns="12107" bIns="12107" rtlCol="0" anchor="ctr"/>
              <a:lstStyle/>
              <a:p>
                <a:pPr algn="ctr">
                  <a:lnSpc>
                    <a:spcPts val="1820"/>
                  </a:lnSpc>
                </a:pPr>
                <a:r>
                  <a:rPr lang="en-US" sz="1300" b="1">
                    <a:solidFill>
                      <a:srgbClr val="FFFFFF"/>
                    </a:solidFill>
                    <a:latin typeface="Gotham Bold"/>
                    <a:ea typeface="Gotham Bold"/>
                    <a:cs typeface="Gotham Bold"/>
                    <a:sym typeface="Gotham Bold"/>
                  </a:rPr>
                  <a:t>Interconnected Parts</a:t>
                </a:r>
              </a:p>
            </p:txBody>
          </p:sp>
        </p:grpSp>
        <p:grpSp>
          <p:nvGrpSpPr>
            <p:cNvPr id="10" name="Group 10"/>
            <p:cNvGrpSpPr/>
            <p:nvPr/>
          </p:nvGrpSpPr>
          <p:grpSpPr>
            <a:xfrm>
              <a:off x="155216" y="3107915"/>
              <a:ext cx="2074200" cy="1992679"/>
              <a:chOff x="0" y="0"/>
              <a:chExt cx="962975" cy="925128"/>
            </a:xfrm>
          </p:grpSpPr>
          <p:sp>
            <p:nvSpPr>
              <p:cNvPr id="11" name="Freeform 11"/>
              <p:cNvSpPr/>
              <p:nvPr/>
            </p:nvSpPr>
            <p:spPr>
              <a:xfrm>
                <a:off x="0" y="0"/>
                <a:ext cx="962975" cy="925128"/>
              </a:xfrm>
              <a:custGeom>
                <a:avLst/>
                <a:gdLst/>
                <a:ahLst/>
                <a:cxnLst/>
                <a:rect l="l" t="t" r="r" b="b"/>
                <a:pathLst>
                  <a:path w="962975" h="925128">
                    <a:moveTo>
                      <a:pt x="481488" y="0"/>
                    </a:moveTo>
                    <a:cubicBezTo>
                      <a:pt x="215569" y="0"/>
                      <a:pt x="0" y="207097"/>
                      <a:pt x="0" y="462564"/>
                    </a:cubicBezTo>
                    <a:cubicBezTo>
                      <a:pt x="0" y="718031"/>
                      <a:pt x="215569" y="925128"/>
                      <a:pt x="481488" y="925128"/>
                    </a:cubicBezTo>
                    <a:cubicBezTo>
                      <a:pt x="747406" y="925128"/>
                      <a:pt x="962975" y="718031"/>
                      <a:pt x="962975" y="462564"/>
                    </a:cubicBezTo>
                    <a:cubicBezTo>
                      <a:pt x="962975" y="207097"/>
                      <a:pt x="747406" y="0"/>
                      <a:pt x="481488" y="0"/>
                    </a:cubicBezTo>
                    <a:close/>
                  </a:path>
                </a:pathLst>
              </a:custGeom>
              <a:solidFill>
                <a:srgbClr val="232B43"/>
              </a:solidFill>
            </p:spPr>
            <p:txBody>
              <a:bodyPr/>
              <a:lstStyle/>
              <a:p>
                <a:endParaRPr lang="en-US"/>
              </a:p>
            </p:txBody>
          </p:sp>
          <p:sp>
            <p:nvSpPr>
              <p:cNvPr id="12" name="TextBox 12"/>
              <p:cNvSpPr txBox="1"/>
              <p:nvPr/>
            </p:nvSpPr>
            <p:spPr>
              <a:xfrm>
                <a:off x="90279" y="58156"/>
                <a:ext cx="782417" cy="780241"/>
              </a:xfrm>
              <a:prstGeom prst="rect">
                <a:avLst/>
              </a:prstGeom>
            </p:spPr>
            <p:txBody>
              <a:bodyPr lIns="12107" tIns="12107" rIns="12107" bIns="12107" rtlCol="0" anchor="ctr"/>
              <a:lstStyle/>
              <a:p>
                <a:pPr algn="ctr">
                  <a:lnSpc>
                    <a:spcPts val="2099"/>
                  </a:lnSpc>
                </a:pPr>
                <a:r>
                  <a:rPr lang="en-US" sz="1499" b="1">
                    <a:solidFill>
                      <a:srgbClr val="FFFFFF"/>
                    </a:solidFill>
                    <a:latin typeface="Gotham Bold"/>
                    <a:ea typeface="Gotham Bold"/>
                    <a:cs typeface="Gotham Bold"/>
                    <a:sym typeface="Gotham Bold"/>
                  </a:rPr>
                  <a:t>Multiple Subsystems</a:t>
                </a:r>
              </a:p>
            </p:txBody>
          </p:sp>
        </p:grpSp>
        <p:grpSp>
          <p:nvGrpSpPr>
            <p:cNvPr id="13" name="Group 13"/>
            <p:cNvGrpSpPr/>
            <p:nvPr/>
          </p:nvGrpSpPr>
          <p:grpSpPr>
            <a:xfrm>
              <a:off x="6537304" y="368861"/>
              <a:ext cx="2080203" cy="1988903"/>
              <a:chOff x="0" y="0"/>
              <a:chExt cx="1983894" cy="1896822"/>
            </a:xfrm>
          </p:grpSpPr>
          <p:sp>
            <p:nvSpPr>
              <p:cNvPr id="14" name="Freeform 14"/>
              <p:cNvSpPr/>
              <p:nvPr/>
            </p:nvSpPr>
            <p:spPr>
              <a:xfrm>
                <a:off x="0" y="0"/>
                <a:ext cx="1983894" cy="1896821"/>
              </a:xfrm>
              <a:custGeom>
                <a:avLst/>
                <a:gdLst/>
                <a:ahLst/>
                <a:cxnLst/>
                <a:rect l="l" t="t" r="r" b="b"/>
                <a:pathLst>
                  <a:path w="1983894" h="1896821">
                    <a:moveTo>
                      <a:pt x="991947" y="0"/>
                    </a:moveTo>
                    <a:cubicBezTo>
                      <a:pt x="444110" y="0"/>
                      <a:pt x="0" y="424618"/>
                      <a:pt x="0" y="948411"/>
                    </a:cubicBezTo>
                    <a:cubicBezTo>
                      <a:pt x="0" y="1472204"/>
                      <a:pt x="444110" y="1896821"/>
                      <a:pt x="991947" y="1896821"/>
                    </a:cubicBezTo>
                    <a:cubicBezTo>
                      <a:pt x="1539785" y="1896821"/>
                      <a:pt x="1983894" y="1472204"/>
                      <a:pt x="1983894" y="948411"/>
                    </a:cubicBezTo>
                    <a:cubicBezTo>
                      <a:pt x="1983894" y="424618"/>
                      <a:pt x="1539785" y="0"/>
                      <a:pt x="991947" y="0"/>
                    </a:cubicBezTo>
                    <a:close/>
                  </a:path>
                </a:pathLst>
              </a:custGeom>
              <a:solidFill>
                <a:srgbClr val="232B43"/>
              </a:solidFill>
            </p:spPr>
            <p:txBody>
              <a:bodyPr/>
              <a:lstStyle/>
              <a:p>
                <a:endParaRPr lang="en-US"/>
              </a:p>
            </p:txBody>
          </p:sp>
          <p:sp>
            <p:nvSpPr>
              <p:cNvPr id="15" name="TextBox 15"/>
              <p:cNvSpPr txBox="1"/>
              <p:nvPr/>
            </p:nvSpPr>
            <p:spPr>
              <a:xfrm>
                <a:off x="185990" y="149252"/>
                <a:ext cx="1611914" cy="1569742"/>
              </a:xfrm>
              <a:prstGeom prst="rect">
                <a:avLst/>
              </a:prstGeom>
            </p:spPr>
            <p:txBody>
              <a:bodyPr lIns="12107" tIns="12107" rIns="12107" bIns="12107" rtlCol="0" anchor="ctr"/>
              <a:lstStyle/>
              <a:p>
                <a:pPr algn="ctr">
                  <a:lnSpc>
                    <a:spcPts val="2099"/>
                  </a:lnSpc>
                </a:pPr>
                <a:r>
                  <a:rPr lang="en-US" sz="1499" b="1">
                    <a:solidFill>
                      <a:srgbClr val="FFFFFF"/>
                    </a:solidFill>
                    <a:latin typeface="Gotham Bold"/>
                    <a:ea typeface="Gotham Bold"/>
                    <a:cs typeface="Gotham Bold"/>
                    <a:sym typeface="Gotham Bold"/>
                  </a:rPr>
                  <a:t>Feedback Loops</a:t>
                </a:r>
              </a:p>
            </p:txBody>
          </p:sp>
        </p:grpSp>
        <p:grpSp>
          <p:nvGrpSpPr>
            <p:cNvPr id="16" name="Group 16"/>
            <p:cNvGrpSpPr/>
            <p:nvPr/>
          </p:nvGrpSpPr>
          <p:grpSpPr>
            <a:xfrm>
              <a:off x="6667617" y="3067092"/>
              <a:ext cx="2243622" cy="2125658"/>
              <a:chOff x="0" y="0"/>
              <a:chExt cx="976468" cy="925128"/>
            </a:xfrm>
          </p:grpSpPr>
          <p:sp>
            <p:nvSpPr>
              <p:cNvPr id="17" name="Freeform 17"/>
              <p:cNvSpPr/>
              <p:nvPr/>
            </p:nvSpPr>
            <p:spPr>
              <a:xfrm>
                <a:off x="0" y="0"/>
                <a:ext cx="976468" cy="925128"/>
              </a:xfrm>
              <a:custGeom>
                <a:avLst/>
                <a:gdLst/>
                <a:ahLst/>
                <a:cxnLst/>
                <a:rect l="l" t="t" r="r" b="b"/>
                <a:pathLst>
                  <a:path w="976468" h="925128">
                    <a:moveTo>
                      <a:pt x="488234" y="0"/>
                    </a:moveTo>
                    <a:cubicBezTo>
                      <a:pt x="218590" y="0"/>
                      <a:pt x="0" y="207097"/>
                      <a:pt x="0" y="462564"/>
                    </a:cubicBezTo>
                    <a:cubicBezTo>
                      <a:pt x="0" y="718031"/>
                      <a:pt x="218590" y="925128"/>
                      <a:pt x="488234" y="925128"/>
                    </a:cubicBezTo>
                    <a:cubicBezTo>
                      <a:pt x="757878" y="925128"/>
                      <a:pt x="976468" y="718031"/>
                      <a:pt x="976468" y="462564"/>
                    </a:cubicBezTo>
                    <a:cubicBezTo>
                      <a:pt x="976468" y="207097"/>
                      <a:pt x="757878" y="0"/>
                      <a:pt x="488234" y="0"/>
                    </a:cubicBezTo>
                    <a:close/>
                  </a:path>
                </a:pathLst>
              </a:custGeom>
              <a:solidFill>
                <a:srgbClr val="232B43"/>
              </a:solidFill>
            </p:spPr>
            <p:txBody>
              <a:bodyPr/>
              <a:lstStyle/>
              <a:p>
                <a:endParaRPr lang="en-US"/>
              </a:p>
            </p:txBody>
          </p:sp>
          <p:sp>
            <p:nvSpPr>
              <p:cNvPr id="18" name="TextBox 18"/>
              <p:cNvSpPr txBox="1"/>
              <p:nvPr/>
            </p:nvSpPr>
            <p:spPr>
              <a:xfrm>
                <a:off x="91544" y="58156"/>
                <a:ext cx="793380" cy="780241"/>
              </a:xfrm>
              <a:prstGeom prst="rect">
                <a:avLst/>
              </a:prstGeom>
            </p:spPr>
            <p:txBody>
              <a:bodyPr lIns="12107" tIns="12107" rIns="12107" bIns="12107" rtlCol="0" anchor="ctr"/>
              <a:lstStyle/>
              <a:p>
                <a:pPr algn="ctr">
                  <a:lnSpc>
                    <a:spcPts val="2099"/>
                  </a:lnSpc>
                </a:pPr>
                <a:r>
                  <a:rPr lang="en-US" sz="1499" b="1">
                    <a:solidFill>
                      <a:srgbClr val="FFFFFF"/>
                    </a:solidFill>
                    <a:latin typeface="Gotham Bold"/>
                    <a:ea typeface="Gotham Bold"/>
                    <a:cs typeface="Gotham Bold"/>
                    <a:sym typeface="Gotham Bold"/>
                  </a:rPr>
                  <a:t>Emergent</a:t>
                </a:r>
              </a:p>
              <a:p>
                <a:pPr algn="ctr">
                  <a:lnSpc>
                    <a:spcPts val="2099"/>
                  </a:lnSpc>
                </a:pPr>
                <a:r>
                  <a:rPr lang="en-US" sz="1499" b="1">
                    <a:solidFill>
                      <a:srgbClr val="FFFFFF"/>
                    </a:solidFill>
                    <a:latin typeface="Gotham Bold"/>
                    <a:ea typeface="Gotham Bold"/>
                    <a:cs typeface="Gotham Bold"/>
                    <a:sym typeface="Gotham Bold"/>
                  </a:rPr>
                  <a:t>Properties</a:t>
                </a:r>
              </a:p>
            </p:txBody>
          </p:sp>
        </p:grpSp>
        <p:sp>
          <p:nvSpPr>
            <p:cNvPr id="19" name="AutoShape 19"/>
            <p:cNvSpPr/>
            <p:nvPr/>
          </p:nvSpPr>
          <p:spPr>
            <a:xfrm flipV="1">
              <a:off x="5835732" y="1363312"/>
              <a:ext cx="701572" cy="941770"/>
            </a:xfrm>
            <a:prstGeom prst="line">
              <a:avLst/>
            </a:prstGeom>
            <a:ln w="8980" cap="flat">
              <a:solidFill>
                <a:srgbClr val="000000"/>
              </a:solidFill>
              <a:prstDash val="solid"/>
              <a:headEnd type="none" w="sm" len="sm"/>
              <a:tailEnd type="none" w="sm" len="sm"/>
            </a:ln>
          </p:spPr>
          <p:txBody>
            <a:bodyPr/>
            <a:lstStyle/>
            <a:p>
              <a:endParaRPr lang="en-US"/>
            </a:p>
          </p:txBody>
        </p:sp>
        <p:sp>
          <p:nvSpPr>
            <p:cNvPr id="20" name="AutoShape 20"/>
            <p:cNvSpPr/>
            <p:nvPr/>
          </p:nvSpPr>
          <p:spPr>
            <a:xfrm flipH="1" flipV="1">
              <a:off x="2229416" y="1078003"/>
              <a:ext cx="1141857" cy="1227079"/>
            </a:xfrm>
            <a:prstGeom prst="line">
              <a:avLst/>
            </a:prstGeom>
            <a:ln w="8980" cap="flat">
              <a:solidFill>
                <a:srgbClr val="000000"/>
              </a:solidFill>
              <a:prstDash val="solid"/>
              <a:headEnd type="none" w="sm" len="sm"/>
              <a:tailEnd type="none" w="sm" len="sm"/>
            </a:ln>
          </p:spPr>
          <p:txBody>
            <a:bodyPr/>
            <a:lstStyle/>
            <a:p>
              <a:endParaRPr lang="en-US"/>
            </a:p>
          </p:txBody>
        </p:sp>
        <p:sp>
          <p:nvSpPr>
            <p:cNvPr id="21" name="AutoShape 21"/>
            <p:cNvSpPr/>
            <p:nvPr/>
          </p:nvSpPr>
          <p:spPr>
            <a:xfrm>
              <a:off x="5835732" y="2305082"/>
              <a:ext cx="831886" cy="1824839"/>
            </a:xfrm>
            <a:prstGeom prst="line">
              <a:avLst/>
            </a:prstGeom>
            <a:ln w="8980" cap="flat">
              <a:solidFill>
                <a:srgbClr val="000000"/>
              </a:solidFill>
              <a:prstDash val="solid"/>
              <a:headEnd type="none" w="sm" len="sm"/>
              <a:tailEnd type="none" w="sm" len="sm"/>
            </a:ln>
          </p:spPr>
          <p:txBody>
            <a:bodyPr/>
            <a:lstStyle/>
            <a:p>
              <a:endParaRPr lang="en-US"/>
            </a:p>
          </p:txBody>
        </p:sp>
        <p:sp>
          <p:nvSpPr>
            <p:cNvPr id="22" name="AutoShape 22"/>
            <p:cNvSpPr/>
            <p:nvPr/>
          </p:nvSpPr>
          <p:spPr>
            <a:xfrm flipV="1">
              <a:off x="2229416" y="2305082"/>
              <a:ext cx="1141857" cy="1799173"/>
            </a:xfrm>
            <a:prstGeom prst="line">
              <a:avLst/>
            </a:prstGeom>
            <a:ln w="8980" cap="flat">
              <a:solidFill>
                <a:srgbClr val="000000"/>
              </a:solidFill>
              <a:prstDash val="solid"/>
              <a:headEnd type="none" w="sm" len="sm"/>
              <a:tailEnd type="none" w="sm" len="sm"/>
            </a:ln>
          </p:spPr>
          <p:txBody>
            <a:bodyPr/>
            <a:lstStyle/>
            <a:p>
              <a:endParaRPr lang="en-US"/>
            </a:p>
          </p:txBody>
        </p:sp>
        <p:grpSp>
          <p:nvGrpSpPr>
            <p:cNvPr id="23" name="Group 23"/>
            <p:cNvGrpSpPr/>
            <p:nvPr/>
          </p:nvGrpSpPr>
          <p:grpSpPr>
            <a:xfrm>
              <a:off x="3533363" y="4036760"/>
              <a:ext cx="2208928" cy="2127667"/>
              <a:chOff x="0" y="0"/>
              <a:chExt cx="960461" cy="925128"/>
            </a:xfrm>
          </p:grpSpPr>
          <p:sp>
            <p:nvSpPr>
              <p:cNvPr id="24" name="Freeform 24"/>
              <p:cNvSpPr/>
              <p:nvPr/>
            </p:nvSpPr>
            <p:spPr>
              <a:xfrm>
                <a:off x="0" y="0"/>
                <a:ext cx="960461" cy="925128"/>
              </a:xfrm>
              <a:custGeom>
                <a:avLst/>
                <a:gdLst/>
                <a:ahLst/>
                <a:cxnLst/>
                <a:rect l="l" t="t" r="r" b="b"/>
                <a:pathLst>
                  <a:path w="960461" h="925128">
                    <a:moveTo>
                      <a:pt x="480230" y="0"/>
                    </a:moveTo>
                    <a:cubicBezTo>
                      <a:pt x="215006" y="0"/>
                      <a:pt x="0" y="207097"/>
                      <a:pt x="0" y="462564"/>
                    </a:cubicBezTo>
                    <a:cubicBezTo>
                      <a:pt x="0" y="718031"/>
                      <a:pt x="215006" y="925128"/>
                      <a:pt x="480230" y="925128"/>
                    </a:cubicBezTo>
                    <a:cubicBezTo>
                      <a:pt x="745454" y="925128"/>
                      <a:pt x="960461" y="718031"/>
                      <a:pt x="960461" y="462564"/>
                    </a:cubicBezTo>
                    <a:cubicBezTo>
                      <a:pt x="960461" y="207097"/>
                      <a:pt x="745454" y="0"/>
                      <a:pt x="480230" y="0"/>
                    </a:cubicBezTo>
                    <a:close/>
                  </a:path>
                </a:pathLst>
              </a:custGeom>
              <a:solidFill>
                <a:srgbClr val="232B43"/>
              </a:solidFill>
            </p:spPr>
            <p:txBody>
              <a:bodyPr/>
              <a:lstStyle/>
              <a:p>
                <a:endParaRPr lang="en-US"/>
              </a:p>
            </p:txBody>
          </p:sp>
          <p:sp>
            <p:nvSpPr>
              <p:cNvPr id="25" name="TextBox 25"/>
              <p:cNvSpPr txBox="1"/>
              <p:nvPr/>
            </p:nvSpPr>
            <p:spPr>
              <a:xfrm>
                <a:off x="90043" y="58156"/>
                <a:ext cx="780374" cy="780241"/>
              </a:xfrm>
              <a:prstGeom prst="rect">
                <a:avLst/>
              </a:prstGeom>
            </p:spPr>
            <p:txBody>
              <a:bodyPr lIns="12107" tIns="12107" rIns="12107" bIns="12107" rtlCol="0" anchor="ctr"/>
              <a:lstStyle/>
              <a:p>
                <a:pPr algn="ctr">
                  <a:lnSpc>
                    <a:spcPts val="1959"/>
                  </a:lnSpc>
                </a:pPr>
                <a:r>
                  <a:rPr lang="en-US" sz="1399" b="1">
                    <a:solidFill>
                      <a:srgbClr val="FFFFFF"/>
                    </a:solidFill>
                    <a:latin typeface="Gotham Bold"/>
                    <a:ea typeface="Gotham Bold"/>
                    <a:cs typeface="Gotham Bold"/>
                    <a:sym typeface="Gotham Bold"/>
                  </a:rPr>
                  <a:t>External Environment Interaction</a:t>
                </a:r>
              </a:p>
            </p:txBody>
          </p:sp>
        </p:grpSp>
        <p:sp>
          <p:nvSpPr>
            <p:cNvPr id="26" name="AutoShape 26"/>
            <p:cNvSpPr/>
            <p:nvPr/>
          </p:nvSpPr>
          <p:spPr>
            <a:xfrm flipH="1">
              <a:off x="4637827" y="3246852"/>
              <a:ext cx="0" cy="789908"/>
            </a:xfrm>
            <a:prstGeom prst="line">
              <a:avLst/>
            </a:prstGeom>
            <a:ln w="8980" cap="flat">
              <a:solidFill>
                <a:srgbClr val="000000"/>
              </a:solidFill>
              <a:prstDash val="solid"/>
              <a:headEnd type="none" w="sm" len="sm"/>
              <a:tailEnd type="none" w="sm" len="sm"/>
            </a:ln>
          </p:spPr>
          <p:txBody>
            <a:bodyPr/>
            <a:lstStyle/>
            <a:p>
              <a:endParaRPr lang="en-US"/>
            </a:p>
          </p:txBody>
        </p:sp>
      </p:grpSp>
      <p:sp>
        <p:nvSpPr>
          <p:cNvPr id="27" name="Freeform 27"/>
          <p:cNvSpPr/>
          <p:nvPr/>
        </p:nvSpPr>
        <p:spPr>
          <a:xfrm>
            <a:off x="14223168" y="514188"/>
            <a:ext cx="3036132" cy="1029025"/>
          </a:xfrm>
          <a:custGeom>
            <a:avLst/>
            <a:gdLst/>
            <a:ahLst/>
            <a:cxnLst/>
            <a:rect l="l" t="t" r="r" b="b"/>
            <a:pathLst>
              <a:path w="3036132" h="1029025">
                <a:moveTo>
                  <a:pt x="0" y="0"/>
                </a:moveTo>
                <a:lnTo>
                  <a:pt x="3036132" y="0"/>
                </a:lnTo>
                <a:lnTo>
                  <a:pt x="3036132" y="1029024"/>
                </a:lnTo>
                <a:lnTo>
                  <a:pt x="0" y="1029024"/>
                </a:lnTo>
                <a:lnTo>
                  <a:pt x="0" y="0"/>
                </a:lnTo>
                <a:close/>
              </a:path>
            </a:pathLst>
          </a:custGeom>
          <a:blipFill>
            <a:blip r:embed="rId3"/>
            <a:stretch>
              <a:fillRect/>
            </a:stretch>
          </a:blipFill>
        </p:spPr>
        <p:txBody>
          <a:bodyPr/>
          <a:lstStyle/>
          <a:p>
            <a:endParaRPr lang="en-US"/>
          </a:p>
        </p:txBody>
      </p:sp>
      <p:sp>
        <p:nvSpPr>
          <p:cNvPr id="28" name="TextBox 28"/>
          <p:cNvSpPr txBox="1"/>
          <p:nvPr/>
        </p:nvSpPr>
        <p:spPr>
          <a:xfrm>
            <a:off x="1528609" y="8155940"/>
            <a:ext cx="15230781" cy="1102360"/>
          </a:xfrm>
          <a:prstGeom prst="rect">
            <a:avLst/>
          </a:prstGeom>
        </p:spPr>
        <p:txBody>
          <a:bodyPr lIns="0" tIns="0" rIns="0" bIns="0" rtlCol="0" anchor="t">
            <a:spAutoFit/>
          </a:bodyPr>
          <a:lstStyle/>
          <a:p>
            <a:pPr algn="just">
              <a:lnSpc>
                <a:spcPts val="2239"/>
              </a:lnSpc>
              <a:spcBef>
                <a:spcPct val="0"/>
              </a:spcBef>
            </a:pPr>
            <a:endParaRPr/>
          </a:p>
          <a:p>
            <a:pPr algn="just">
              <a:lnSpc>
                <a:spcPts val="2239"/>
              </a:lnSpc>
              <a:spcBef>
                <a:spcPct val="0"/>
              </a:spcBef>
            </a:pPr>
            <a:r>
              <a:rPr lang="en-US" sz="1599">
                <a:solidFill>
                  <a:srgbClr val="232B43"/>
                </a:solidFill>
                <a:latin typeface="Gotham"/>
                <a:ea typeface="Gotham"/>
                <a:cs typeface="Gotham"/>
                <a:sym typeface="Gotham"/>
              </a:rPr>
              <a:t>Systems thinking helps HR professionals avoid the common pitfall of implementing changes that solve one problem while inadvertently creating others elsewhere in the organization. It encourages holistic diagnosis that considers multiple perspectives and levels of analysis.</a:t>
            </a:r>
          </a:p>
          <a:p>
            <a:pPr algn="just">
              <a:lnSpc>
                <a:spcPts val="2239"/>
              </a:lnSpc>
              <a:spcBef>
                <a:spcPct val="0"/>
              </a:spcBef>
            </a:pPr>
            <a:endParaRPr lang="en-US" sz="1599">
              <a:solidFill>
                <a:srgbClr val="232B43"/>
              </a:solidFill>
              <a:latin typeface="Gotham"/>
              <a:ea typeface="Gotham"/>
              <a:cs typeface="Gotham"/>
              <a:sym typeface="Gotham"/>
            </a:endParaRPr>
          </a:p>
        </p:txBody>
      </p:sp>
      <p:sp>
        <p:nvSpPr>
          <p:cNvPr id="29" name="TextBox 29"/>
          <p:cNvSpPr txBox="1"/>
          <p:nvPr/>
        </p:nvSpPr>
        <p:spPr>
          <a:xfrm>
            <a:off x="1460394" y="1654283"/>
            <a:ext cx="15367211" cy="2321365"/>
          </a:xfrm>
          <a:prstGeom prst="rect">
            <a:avLst/>
          </a:prstGeom>
        </p:spPr>
        <p:txBody>
          <a:bodyPr lIns="0" tIns="0" rIns="0" bIns="0" rtlCol="0" anchor="t">
            <a:spAutoFit/>
          </a:bodyPr>
          <a:lstStyle/>
          <a:p>
            <a:pPr algn="just">
              <a:lnSpc>
                <a:spcPts val="4480"/>
              </a:lnSpc>
              <a:spcBef>
                <a:spcPct val="0"/>
              </a:spcBef>
            </a:pPr>
            <a:r>
              <a:rPr lang="en-US" sz="3200" b="1" i="1">
                <a:solidFill>
                  <a:srgbClr val="232B43"/>
                </a:solidFill>
                <a:latin typeface="Gotham Bold Italics"/>
                <a:ea typeface="Gotham Bold Italics"/>
                <a:cs typeface="Gotham Bold Italics"/>
                <a:sym typeface="Gotham Bold Italics"/>
              </a:rPr>
              <a:t>Systems Thinking: The Foundation of OD</a:t>
            </a:r>
          </a:p>
          <a:p>
            <a:pPr algn="just">
              <a:lnSpc>
                <a:spcPts val="2430"/>
              </a:lnSpc>
              <a:spcBef>
                <a:spcPct val="0"/>
              </a:spcBef>
            </a:pPr>
            <a:endParaRPr lang="en-US" sz="3200" b="1" i="1">
              <a:solidFill>
                <a:srgbClr val="232B43"/>
              </a:solidFill>
              <a:latin typeface="Gotham Bold Italics"/>
              <a:ea typeface="Gotham Bold Italics"/>
              <a:cs typeface="Gotham Bold Italics"/>
              <a:sym typeface="Gotham Bold Italics"/>
            </a:endParaRPr>
          </a:p>
          <a:p>
            <a:pPr algn="just">
              <a:lnSpc>
                <a:spcPts val="2430"/>
              </a:lnSpc>
              <a:spcBef>
                <a:spcPct val="0"/>
              </a:spcBef>
            </a:pPr>
            <a:r>
              <a:rPr lang="en-US" sz="1736">
                <a:solidFill>
                  <a:srgbClr val="232B43"/>
                </a:solidFill>
                <a:latin typeface="Gotham"/>
                <a:ea typeface="Gotham"/>
                <a:cs typeface="Gotham"/>
                <a:sym typeface="Gotham"/>
              </a:rPr>
              <a:t>Before exploring specific models, it's important to understand the systems perspective that underlies all OD work. Systems thinking represents a fundamental shift from linear cause-and-effect reasoning to understanding organizations as complex webs of interdependent elements.</a:t>
            </a:r>
          </a:p>
          <a:p>
            <a:pPr algn="just">
              <a:lnSpc>
                <a:spcPts val="2121"/>
              </a:lnSpc>
              <a:spcBef>
                <a:spcPct val="0"/>
              </a:spcBef>
            </a:pPr>
            <a:endParaRPr lang="en-US" sz="1736">
              <a:solidFill>
                <a:srgbClr val="232B43"/>
              </a:solidFill>
              <a:latin typeface="Gotham"/>
              <a:ea typeface="Gotham"/>
              <a:cs typeface="Gotham"/>
              <a:sym typeface="Gotham"/>
            </a:endParaRPr>
          </a:p>
          <a:p>
            <a:pPr algn="just">
              <a:lnSpc>
                <a:spcPts val="2121"/>
              </a:lnSpc>
              <a:spcBef>
                <a:spcPct val="0"/>
              </a:spcBef>
            </a:pPr>
            <a:endParaRPr lang="en-US" sz="1736">
              <a:solidFill>
                <a:srgbClr val="232B43"/>
              </a:solidFill>
              <a:latin typeface="Gotham"/>
              <a:ea typeface="Gotham"/>
              <a:cs typeface="Gotham"/>
              <a:sym typeface="Gotham"/>
            </a:endParaRPr>
          </a:p>
        </p:txBody>
      </p:sp>
      <p:sp>
        <p:nvSpPr>
          <p:cNvPr id="30" name="TextBox 30"/>
          <p:cNvSpPr txBox="1"/>
          <p:nvPr/>
        </p:nvSpPr>
        <p:spPr>
          <a:xfrm>
            <a:off x="739864" y="657537"/>
            <a:ext cx="12387856" cy="679450"/>
          </a:xfrm>
          <a:prstGeom prst="rect">
            <a:avLst/>
          </a:prstGeom>
        </p:spPr>
        <p:txBody>
          <a:bodyPr lIns="0" tIns="0" rIns="0" bIns="0" rtlCol="0" anchor="t">
            <a:spAutoFit/>
          </a:bodyPr>
          <a:lstStyle/>
          <a:p>
            <a:pPr algn="l">
              <a:lnSpc>
                <a:spcPts val="5599"/>
              </a:lnSpc>
              <a:spcBef>
                <a:spcPct val="0"/>
              </a:spcBef>
            </a:pPr>
            <a:r>
              <a:rPr lang="en-US" sz="3999" b="1">
                <a:solidFill>
                  <a:srgbClr val="232B43"/>
                </a:solidFill>
                <a:latin typeface="Gotham Bold"/>
                <a:ea typeface="Gotham Bold"/>
                <a:cs typeface="Gotham Bold"/>
                <a:sym typeface="Gotham Bold"/>
              </a:rPr>
              <a:t>OD Models and Frameworks</a:t>
            </a:r>
          </a:p>
        </p:txBody>
      </p:sp>
      <p:sp>
        <p:nvSpPr>
          <p:cNvPr id="31" name="AutoShape 31"/>
          <p:cNvSpPr/>
          <p:nvPr/>
        </p:nvSpPr>
        <p:spPr>
          <a:xfrm>
            <a:off x="739864" y="1524162"/>
            <a:ext cx="6492240" cy="0"/>
          </a:xfrm>
          <a:prstGeom prst="line">
            <a:avLst/>
          </a:prstGeom>
          <a:ln w="38100" cap="flat">
            <a:solidFill>
              <a:srgbClr val="000000"/>
            </a:solidFill>
            <a:prstDash val="solid"/>
            <a:headEnd type="none" w="sm" len="sm"/>
            <a:tailEnd type="none" w="sm" len="sm"/>
          </a:ln>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791" y="1693492"/>
            <a:ext cx="12574417" cy="985060"/>
            <a:chOff x="0" y="0"/>
            <a:chExt cx="16765889" cy="1313413"/>
          </a:xfrm>
        </p:grpSpPr>
        <p:grpSp>
          <p:nvGrpSpPr>
            <p:cNvPr id="3" name="Group 3"/>
            <p:cNvGrpSpPr/>
            <p:nvPr/>
          </p:nvGrpSpPr>
          <p:grpSpPr>
            <a:xfrm>
              <a:off x="0" y="0"/>
              <a:ext cx="16765889" cy="1313413"/>
              <a:chOff x="0" y="0"/>
              <a:chExt cx="2896813" cy="226932"/>
            </a:xfrm>
          </p:grpSpPr>
          <p:sp>
            <p:nvSpPr>
              <p:cNvPr id="4" name="Freeform 4"/>
              <p:cNvSpPr/>
              <p:nvPr/>
            </p:nvSpPr>
            <p:spPr>
              <a:xfrm>
                <a:off x="0" y="0"/>
                <a:ext cx="2896813" cy="226932"/>
              </a:xfrm>
              <a:custGeom>
                <a:avLst/>
                <a:gdLst/>
                <a:ahLst/>
                <a:cxnLst/>
                <a:rect l="l" t="t" r="r" b="b"/>
                <a:pathLst>
                  <a:path w="2896813" h="226932">
                    <a:moveTo>
                      <a:pt x="23651" y="0"/>
                    </a:moveTo>
                    <a:lnTo>
                      <a:pt x="2873162" y="0"/>
                    </a:lnTo>
                    <a:cubicBezTo>
                      <a:pt x="2879435" y="0"/>
                      <a:pt x="2885450" y="2492"/>
                      <a:pt x="2889886" y="6927"/>
                    </a:cubicBezTo>
                    <a:cubicBezTo>
                      <a:pt x="2894321" y="11363"/>
                      <a:pt x="2896813" y="17379"/>
                      <a:pt x="2896813" y="23651"/>
                    </a:cubicBezTo>
                    <a:lnTo>
                      <a:pt x="2896813" y="203280"/>
                    </a:lnTo>
                    <a:cubicBezTo>
                      <a:pt x="2896813" y="216343"/>
                      <a:pt x="2886224" y="226932"/>
                      <a:pt x="2873162" y="226932"/>
                    </a:cubicBezTo>
                    <a:lnTo>
                      <a:pt x="23651" y="226932"/>
                    </a:lnTo>
                    <a:cubicBezTo>
                      <a:pt x="17379" y="226932"/>
                      <a:pt x="11363" y="224440"/>
                      <a:pt x="6927" y="220004"/>
                    </a:cubicBezTo>
                    <a:cubicBezTo>
                      <a:pt x="2492" y="215569"/>
                      <a:pt x="0" y="209553"/>
                      <a:pt x="0" y="203280"/>
                    </a:cubicBezTo>
                    <a:lnTo>
                      <a:pt x="0" y="23651"/>
                    </a:lnTo>
                    <a:cubicBezTo>
                      <a:pt x="0" y="17379"/>
                      <a:pt x="2492" y="11363"/>
                      <a:pt x="6927" y="6927"/>
                    </a:cubicBezTo>
                    <a:cubicBezTo>
                      <a:pt x="11363" y="2492"/>
                      <a:pt x="17379" y="0"/>
                      <a:pt x="23651" y="0"/>
                    </a:cubicBezTo>
                    <a:close/>
                  </a:path>
                </a:pathLst>
              </a:custGeom>
              <a:solidFill>
                <a:srgbClr val="232B43"/>
              </a:solidFill>
            </p:spPr>
            <p:txBody>
              <a:bodyPr/>
              <a:lstStyle/>
              <a:p>
                <a:endParaRPr lang="en-US"/>
              </a:p>
            </p:txBody>
          </p:sp>
          <p:sp>
            <p:nvSpPr>
              <p:cNvPr id="5" name="TextBox 5"/>
              <p:cNvSpPr txBox="1"/>
              <p:nvPr/>
            </p:nvSpPr>
            <p:spPr>
              <a:xfrm>
                <a:off x="0" y="-28575"/>
                <a:ext cx="2896813" cy="255507"/>
              </a:xfrm>
              <a:prstGeom prst="rect">
                <a:avLst/>
              </a:prstGeom>
            </p:spPr>
            <p:txBody>
              <a:bodyPr lIns="48876" tIns="48876" rIns="48876" bIns="48876" rtlCol="0" anchor="ctr"/>
              <a:lstStyle/>
              <a:p>
                <a:pPr algn="ctr">
                  <a:lnSpc>
                    <a:spcPts val="1885"/>
                  </a:lnSpc>
                </a:pPr>
                <a:endParaRPr/>
              </a:p>
            </p:txBody>
          </p:sp>
        </p:grpSp>
        <p:sp>
          <p:nvSpPr>
            <p:cNvPr id="6" name="TextBox 6"/>
            <p:cNvSpPr txBox="1"/>
            <p:nvPr/>
          </p:nvSpPr>
          <p:spPr>
            <a:xfrm>
              <a:off x="594029" y="335708"/>
              <a:ext cx="15787009" cy="632472"/>
            </a:xfrm>
            <a:prstGeom prst="rect">
              <a:avLst/>
            </a:prstGeom>
          </p:spPr>
          <p:txBody>
            <a:bodyPr lIns="0" tIns="0" rIns="0" bIns="0" rtlCol="0" anchor="t">
              <a:spAutoFit/>
            </a:bodyPr>
            <a:lstStyle/>
            <a:p>
              <a:pPr algn="l">
                <a:lnSpc>
                  <a:spcPts val="3875"/>
                </a:lnSpc>
              </a:pPr>
              <a:r>
                <a:rPr lang="en-US" sz="3125" b="1" spc="-46">
                  <a:solidFill>
                    <a:srgbClr val="FFFFFF"/>
                  </a:solidFill>
                  <a:latin typeface="Gotham Bold"/>
                  <a:ea typeface="Gotham Bold"/>
                  <a:cs typeface="Gotham Bold"/>
                  <a:sym typeface="Gotham Bold"/>
                </a:rPr>
                <a:t>Lewin's Change Model: Understanding the Change Process</a:t>
              </a:r>
            </a:p>
          </p:txBody>
        </p:sp>
      </p:grpSp>
      <p:sp>
        <p:nvSpPr>
          <p:cNvPr id="7" name="TextBox 7"/>
          <p:cNvSpPr txBox="1"/>
          <p:nvPr/>
        </p:nvSpPr>
        <p:spPr>
          <a:xfrm>
            <a:off x="1055380" y="3223879"/>
            <a:ext cx="16230600" cy="860148"/>
          </a:xfrm>
          <a:prstGeom prst="rect">
            <a:avLst/>
          </a:prstGeom>
        </p:spPr>
        <p:txBody>
          <a:bodyPr lIns="0" tIns="0" rIns="0" bIns="0" rtlCol="0" anchor="t">
            <a:spAutoFit/>
          </a:bodyPr>
          <a:lstStyle/>
          <a:p>
            <a:pPr algn="l">
              <a:lnSpc>
                <a:spcPts val="3515"/>
              </a:lnSpc>
              <a:spcBef>
                <a:spcPct val="0"/>
              </a:spcBef>
            </a:pPr>
            <a:r>
              <a:rPr lang="en-US" sz="2510">
                <a:solidFill>
                  <a:srgbClr val="232B43"/>
                </a:solidFill>
                <a:latin typeface="Gotham"/>
                <a:ea typeface="Gotham"/>
                <a:cs typeface="Gotham"/>
                <a:sym typeface="Gotham"/>
              </a:rPr>
              <a:t>Kurt Lewin's three-stage model remains one of the most influential frameworks for understanding organizational change. </a:t>
            </a:r>
          </a:p>
        </p:txBody>
      </p:sp>
      <p:grpSp>
        <p:nvGrpSpPr>
          <p:cNvPr id="8" name="Group 8"/>
          <p:cNvGrpSpPr/>
          <p:nvPr/>
        </p:nvGrpSpPr>
        <p:grpSpPr>
          <a:xfrm>
            <a:off x="1055380" y="4676979"/>
            <a:ext cx="16177241" cy="1744196"/>
            <a:chOff x="0" y="0"/>
            <a:chExt cx="21569654" cy="2325595"/>
          </a:xfrm>
        </p:grpSpPr>
        <p:grpSp>
          <p:nvGrpSpPr>
            <p:cNvPr id="9" name="Group 9"/>
            <p:cNvGrpSpPr/>
            <p:nvPr/>
          </p:nvGrpSpPr>
          <p:grpSpPr>
            <a:xfrm>
              <a:off x="0" y="138244"/>
              <a:ext cx="2187351" cy="218735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414141"/>
                </a:solidFill>
                <a:prstDash val="solid"/>
                <a:miter/>
              </a:ln>
            </p:spPr>
            <p:txBody>
              <a:bodyPr/>
              <a:lstStyle/>
              <a:p>
                <a:endParaRPr lang="en-US"/>
              </a:p>
            </p:txBody>
          </p:sp>
          <p:sp>
            <p:nvSpPr>
              <p:cNvPr id="11" name="TextBox 11"/>
              <p:cNvSpPr txBox="1"/>
              <p:nvPr/>
            </p:nvSpPr>
            <p:spPr>
              <a:xfrm>
                <a:off x="76200" y="66675"/>
                <a:ext cx="660400" cy="669925"/>
              </a:xfrm>
              <a:prstGeom prst="rect">
                <a:avLst/>
              </a:prstGeom>
            </p:spPr>
            <p:txBody>
              <a:bodyPr lIns="51875" tIns="51875" rIns="51875" bIns="51875" rtlCol="0" anchor="ctr"/>
              <a:lstStyle/>
              <a:p>
                <a:pPr marL="0" lvl="0" indent="0" algn="ctr">
                  <a:lnSpc>
                    <a:spcPts val="1189"/>
                  </a:lnSpc>
                  <a:spcBef>
                    <a:spcPct val="0"/>
                  </a:spcBef>
                </a:pPr>
                <a:endParaRPr/>
              </a:p>
            </p:txBody>
          </p:sp>
        </p:grpSp>
        <p:sp>
          <p:nvSpPr>
            <p:cNvPr id="12" name="Freeform 12"/>
            <p:cNvSpPr/>
            <p:nvPr/>
          </p:nvSpPr>
          <p:spPr>
            <a:xfrm>
              <a:off x="529048" y="761356"/>
              <a:ext cx="1129255" cy="997979"/>
            </a:xfrm>
            <a:custGeom>
              <a:avLst/>
              <a:gdLst/>
              <a:ahLst/>
              <a:cxnLst/>
              <a:rect l="l" t="t" r="r" b="b"/>
              <a:pathLst>
                <a:path w="1129255" h="997979">
                  <a:moveTo>
                    <a:pt x="0" y="0"/>
                  </a:moveTo>
                  <a:lnTo>
                    <a:pt x="1129255" y="0"/>
                  </a:lnTo>
                  <a:lnTo>
                    <a:pt x="1129255" y="997979"/>
                  </a:lnTo>
                  <a:lnTo>
                    <a:pt x="0" y="9979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3" name="Group 13"/>
            <p:cNvGrpSpPr/>
            <p:nvPr/>
          </p:nvGrpSpPr>
          <p:grpSpPr>
            <a:xfrm>
              <a:off x="6913621" y="63932"/>
              <a:ext cx="2187351" cy="218735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414141"/>
                </a:solidFill>
                <a:prstDash val="solid"/>
                <a:miter/>
              </a:ln>
            </p:spPr>
            <p:txBody>
              <a:bodyPr/>
              <a:lstStyle/>
              <a:p>
                <a:endParaRPr lang="en-US"/>
              </a:p>
            </p:txBody>
          </p:sp>
          <p:sp>
            <p:nvSpPr>
              <p:cNvPr id="15" name="TextBox 15"/>
              <p:cNvSpPr txBox="1"/>
              <p:nvPr/>
            </p:nvSpPr>
            <p:spPr>
              <a:xfrm>
                <a:off x="76200" y="66675"/>
                <a:ext cx="660400" cy="669925"/>
              </a:xfrm>
              <a:prstGeom prst="rect">
                <a:avLst/>
              </a:prstGeom>
            </p:spPr>
            <p:txBody>
              <a:bodyPr lIns="51875" tIns="51875" rIns="51875" bIns="51875" rtlCol="0" anchor="ctr"/>
              <a:lstStyle/>
              <a:p>
                <a:pPr marL="0" lvl="0" indent="0" algn="ctr">
                  <a:lnSpc>
                    <a:spcPts val="1189"/>
                  </a:lnSpc>
                  <a:spcBef>
                    <a:spcPct val="0"/>
                  </a:spcBef>
                </a:pPr>
                <a:endParaRPr/>
              </a:p>
            </p:txBody>
          </p:sp>
        </p:grpSp>
        <p:sp>
          <p:nvSpPr>
            <p:cNvPr id="16" name="Freeform 16"/>
            <p:cNvSpPr/>
            <p:nvPr/>
          </p:nvSpPr>
          <p:spPr>
            <a:xfrm>
              <a:off x="7490734" y="577113"/>
              <a:ext cx="1033124" cy="1033124"/>
            </a:xfrm>
            <a:custGeom>
              <a:avLst/>
              <a:gdLst/>
              <a:ahLst/>
              <a:cxnLst/>
              <a:rect l="l" t="t" r="r" b="b"/>
              <a:pathLst>
                <a:path w="1033124" h="1033124">
                  <a:moveTo>
                    <a:pt x="0" y="0"/>
                  </a:moveTo>
                  <a:lnTo>
                    <a:pt x="1033124" y="0"/>
                  </a:lnTo>
                  <a:lnTo>
                    <a:pt x="1033124" y="1033124"/>
                  </a:lnTo>
                  <a:lnTo>
                    <a:pt x="0" y="103312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TextBox 17"/>
            <p:cNvSpPr txBox="1"/>
            <p:nvPr/>
          </p:nvSpPr>
          <p:spPr>
            <a:xfrm>
              <a:off x="9372070" y="827177"/>
              <a:ext cx="6394493" cy="670385"/>
            </a:xfrm>
            <a:prstGeom prst="rect">
              <a:avLst/>
            </a:prstGeom>
          </p:spPr>
          <p:txBody>
            <a:bodyPr lIns="0" tIns="0" rIns="0" bIns="0" rtlCol="0" anchor="t">
              <a:spAutoFit/>
            </a:bodyPr>
            <a:lstStyle/>
            <a:p>
              <a:pPr algn="l">
                <a:lnSpc>
                  <a:spcPts val="3909"/>
                </a:lnSpc>
              </a:pPr>
              <a:r>
                <a:rPr lang="en-US" sz="3369" b="1">
                  <a:solidFill>
                    <a:srgbClr val="232B43"/>
                  </a:solidFill>
                  <a:latin typeface="Gotham Bold"/>
                  <a:ea typeface="Gotham Bold"/>
                  <a:cs typeface="Gotham Bold"/>
                  <a:sym typeface="Gotham Bold"/>
                </a:rPr>
                <a:t>Moving/Changing</a:t>
              </a:r>
            </a:p>
          </p:txBody>
        </p:sp>
        <p:grpSp>
          <p:nvGrpSpPr>
            <p:cNvPr id="18" name="Group 18"/>
            <p:cNvGrpSpPr/>
            <p:nvPr/>
          </p:nvGrpSpPr>
          <p:grpSpPr>
            <a:xfrm>
              <a:off x="15637662" y="0"/>
              <a:ext cx="2187351" cy="218735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414141"/>
                </a:solidFill>
                <a:prstDash val="solid"/>
                <a:miter/>
              </a:ln>
            </p:spPr>
            <p:txBody>
              <a:bodyPr/>
              <a:lstStyle/>
              <a:p>
                <a:endParaRPr lang="en-US"/>
              </a:p>
            </p:txBody>
          </p:sp>
          <p:sp>
            <p:nvSpPr>
              <p:cNvPr id="20" name="TextBox 20"/>
              <p:cNvSpPr txBox="1"/>
              <p:nvPr/>
            </p:nvSpPr>
            <p:spPr>
              <a:xfrm>
                <a:off x="76200" y="66675"/>
                <a:ext cx="660400" cy="669925"/>
              </a:xfrm>
              <a:prstGeom prst="rect">
                <a:avLst/>
              </a:prstGeom>
            </p:spPr>
            <p:txBody>
              <a:bodyPr lIns="51875" tIns="51875" rIns="51875" bIns="51875" rtlCol="0" anchor="ctr"/>
              <a:lstStyle/>
              <a:p>
                <a:pPr marL="0" lvl="0" indent="0" algn="ctr">
                  <a:lnSpc>
                    <a:spcPts val="1189"/>
                  </a:lnSpc>
                  <a:spcBef>
                    <a:spcPct val="0"/>
                  </a:spcBef>
                </a:pPr>
                <a:endParaRPr/>
              </a:p>
            </p:txBody>
          </p:sp>
        </p:grpSp>
        <p:sp>
          <p:nvSpPr>
            <p:cNvPr id="21" name="Freeform 21"/>
            <p:cNvSpPr/>
            <p:nvPr/>
          </p:nvSpPr>
          <p:spPr>
            <a:xfrm>
              <a:off x="16175968" y="538306"/>
              <a:ext cx="1110738" cy="1110738"/>
            </a:xfrm>
            <a:custGeom>
              <a:avLst/>
              <a:gdLst/>
              <a:ahLst/>
              <a:cxnLst/>
              <a:rect l="l" t="t" r="r" b="b"/>
              <a:pathLst>
                <a:path w="1110738" h="1110738">
                  <a:moveTo>
                    <a:pt x="0" y="0"/>
                  </a:moveTo>
                  <a:lnTo>
                    <a:pt x="1110738" y="0"/>
                  </a:lnTo>
                  <a:lnTo>
                    <a:pt x="1110738" y="1110738"/>
                  </a:lnTo>
                  <a:lnTo>
                    <a:pt x="0" y="111073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2" name="TextBox 22"/>
            <p:cNvSpPr txBox="1"/>
            <p:nvPr/>
          </p:nvSpPr>
          <p:spPr>
            <a:xfrm>
              <a:off x="18096111" y="763245"/>
              <a:ext cx="3473544" cy="674708"/>
            </a:xfrm>
            <a:prstGeom prst="rect">
              <a:avLst/>
            </a:prstGeom>
          </p:spPr>
          <p:txBody>
            <a:bodyPr lIns="0" tIns="0" rIns="0" bIns="0" rtlCol="0" anchor="t">
              <a:spAutoFit/>
            </a:bodyPr>
            <a:lstStyle/>
            <a:p>
              <a:pPr algn="l">
                <a:lnSpc>
                  <a:spcPts val="3909"/>
                </a:lnSpc>
              </a:pPr>
              <a:r>
                <a:rPr lang="en-US" sz="3369" b="1">
                  <a:solidFill>
                    <a:srgbClr val="232B43"/>
                  </a:solidFill>
                  <a:latin typeface="Gotham Bold"/>
                  <a:ea typeface="Gotham Bold"/>
                  <a:cs typeface="Gotham Bold"/>
                  <a:sym typeface="Gotham Bold"/>
                </a:rPr>
                <a:t>Refreezing</a:t>
              </a:r>
            </a:p>
          </p:txBody>
        </p:sp>
        <p:sp>
          <p:nvSpPr>
            <p:cNvPr id="23" name="Freeform 23"/>
            <p:cNvSpPr/>
            <p:nvPr/>
          </p:nvSpPr>
          <p:spPr>
            <a:xfrm>
              <a:off x="5946086" y="761356"/>
              <a:ext cx="587028" cy="941127"/>
            </a:xfrm>
            <a:custGeom>
              <a:avLst/>
              <a:gdLst/>
              <a:ahLst/>
              <a:cxnLst/>
              <a:rect l="l" t="t" r="r" b="b"/>
              <a:pathLst>
                <a:path w="587028" h="941127">
                  <a:moveTo>
                    <a:pt x="0" y="0"/>
                  </a:moveTo>
                  <a:lnTo>
                    <a:pt x="587028" y="0"/>
                  </a:lnTo>
                  <a:lnTo>
                    <a:pt x="587028" y="941127"/>
                  </a:lnTo>
                  <a:lnTo>
                    <a:pt x="0" y="94112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4" name="TextBox 24"/>
            <p:cNvSpPr txBox="1"/>
            <p:nvPr/>
          </p:nvSpPr>
          <p:spPr>
            <a:xfrm>
              <a:off x="2452526" y="827177"/>
              <a:ext cx="6394493" cy="670385"/>
            </a:xfrm>
            <a:prstGeom prst="rect">
              <a:avLst/>
            </a:prstGeom>
          </p:spPr>
          <p:txBody>
            <a:bodyPr lIns="0" tIns="0" rIns="0" bIns="0" rtlCol="0" anchor="t">
              <a:spAutoFit/>
            </a:bodyPr>
            <a:lstStyle/>
            <a:p>
              <a:pPr algn="l">
                <a:lnSpc>
                  <a:spcPts val="3909"/>
                </a:lnSpc>
              </a:pPr>
              <a:r>
                <a:rPr lang="en-US" sz="3369" b="1">
                  <a:solidFill>
                    <a:srgbClr val="232B43"/>
                  </a:solidFill>
                  <a:latin typeface="Gotham Bold"/>
                  <a:ea typeface="Gotham Bold"/>
                  <a:cs typeface="Gotham Bold"/>
                  <a:sym typeface="Gotham Bold"/>
                </a:rPr>
                <a:t>Unfreezing</a:t>
              </a:r>
            </a:p>
          </p:txBody>
        </p:sp>
        <p:sp>
          <p:nvSpPr>
            <p:cNvPr id="25" name="Freeform 25"/>
            <p:cNvSpPr/>
            <p:nvPr/>
          </p:nvSpPr>
          <p:spPr>
            <a:xfrm>
              <a:off x="14785458" y="641045"/>
              <a:ext cx="587028" cy="941127"/>
            </a:xfrm>
            <a:custGeom>
              <a:avLst/>
              <a:gdLst/>
              <a:ahLst/>
              <a:cxnLst/>
              <a:rect l="l" t="t" r="r" b="b"/>
              <a:pathLst>
                <a:path w="587028" h="941127">
                  <a:moveTo>
                    <a:pt x="0" y="0"/>
                  </a:moveTo>
                  <a:lnTo>
                    <a:pt x="587028" y="0"/>
                  </a:lnTo>
                  <a:lnTo>
                    <a:pt x="587028" y="941127"/>
                  </a:lnTo>
                  <a:lnTo>
                    <a:pt x="0" y="94112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grpSp>
      <p:sp>
        <p:nvSpPr>
          <p:cNvPr id="26" name="Freeform 26"/>
          <p:cNvSpPr/>
          <p:nvPr/>
        </p:nvSpPr>
        <p:spPr>
          <a:xfrm>
            <a:off x="15369962" y="335593"/>
            <a:ext cx="2389980" cy="810027"/>
          </a:xfrm>
          <a:custGeom>
            <a:avLst/>
            <a:gdLst/>
            <a:ahLst/>
            <a:cxnLst/>
            <a:rect l="l" t="t" r="r" b="b"/>
            <a:pathLst>
              <a:path w="2389980" h="810027">
                <a:moveTo>
                  <a:pt x="0" y="0"/>
                </a:moveTo>
                <a:lnTo>
                  <a:pt x="2389980" y="0"/>
                </a:lnTo>
                <a:lnTo>
                  <a:pt x="2389980" y="810027"/>
                </a:lnTo>
                <a:lnTo>
                  <a:pt x="0" y="810027"/>
                </a:lnTo>
                <a:lnTo>
                  <a:pt x="0" y="0"/>
                </a:lnTo>
                <a:close/>
              </a:path>
            </a:pathLst>
          </a:custGeom>
          <a:blipFill>
            <a:blip r:embed="rId10"/>
            <a:stretch>
              <a:fillRect/>
            </a:stretch>
          </a:blipFill>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981050"/>
            <a:ext cx="15164127" cy="2938145"/>
          </a:xfrm>
          <a:prstGeom prst="rect">
            <a:avLst/>
          </a:prstGeom>
        </p:spPr>
        <p:txBody>
          <a:bodyPr lIns="0" tIns="0" rIns="0" bIns="0" rtlCol="0" anchor="t">
            <a:spAutoFit/>
          </a:bodyPr>
          <a:lstStyle/>
          <a:p>
            <a:pPr algn="l">
              <a:lnSpc>
                <a:spcPts val="2380"/>
              </a:lnSpc>
              <a:spcBef>
                <a:spcPct val="0"/>
              </a:spcBef>
            </a:pPr>
            <a:endParaRPr/>
          </a:p>
          <a:p>
            <a:pPr algn="l">
              <a:lnSpc>
                <a:spcPts val="2380"/>
              </a:lnSpc>
              <a:spcBef>
                <a:spcPct val="0"/>
              </a:spcBef>
            </a:pPr>
            <a:r>
              <a:rPr lang="en-US" sz="1700" b="1" i="1">
                <a:solidFill>
                  <a:srgbClr val="232B43"/>
                </a:solidFill>
                <a:latin typeface="Gotham Bold Italics"/>
                <a:ea typeface="Gotham Bold Italics"/>
                <a:cs typeface="Gotham Bold Italics"/>
                <a:sym typeface="Gotham Bold Italics"/>
              </a:rPr>
              <a:t>OD and Recruitment/Selection</a:t>
            </a:r>
          </a:p>
          <a:p>
            <a:pPr algn="l">
              <a:lnSpc>
                <a:spcPts val="2380"/>
              </a:lnSpc>
              <a:spcBef>
                <a:spcPct val="0"/>
              </a:spcBef>
            </a:pPr>
            <a:endParaRPr lang="en-US" sz="1700" b="1" i="1">
              <a:solidFill>
                <a:srgbClr val="232B43"/>
              </a:solidFill>
              <a:latin typeface="Gotham Bold Italics"/>
              <a:ea typeface="Gotham Bold Italics"/>
              <a:cs typeface="Gotham Bold Italics"/>
              <a:sym typeface="Gotham Bold Italics"/>
            </a:endParaRPr>
          </a:p>
          <a:p>
            <a:pPr algn="l">
              <a:lnSpc>
                <a:spcPts val="2380"/>
              </a:lnSpc>
              <a:spcBef>
                <a:spcPct val="0"/>
              </a:spcBef>
            </a:pPr>
            <a:r>
              <a:rPr lang="en-US" sz="1700">
                <a:solidFill>
                  <a:srgbClr val="232B43"/>
                </a:solidFill>
                <a:latin typeface="Gotham"/>
                <a:ea typeface="Gotham"/>
                <a:cs typeface="Gotham"/>
                <a:sym typeface="Gotham"/>
              </a:rPr>
              <a:t>The people you bring into an organization significantly impact its capabilities and culture. OD principles can enhance recruitment and selection by:</a:t>
            </a:r>
          </a:p>
          <a:p>
            <a:pPr algn="l">
              <a:lnSpc>
                <a:spcPts val="2380"/>
              </a:lnSpc>
              <a:spcBef>
                <a:spcPct val="0"/>
              </a:spcBef>
            </a:pPr>
            <a:endParaRPr lang="en-US" sz="1700">
              <a:solidFill>
                <a:srgbClr val="232B43"/>
              </a:solidFill>
              <a:latin typeface="Gotham"/>
              <a:ea typeface="Gotham"/>
              <a:cs typeface="Gotham"/>
              <a:sym typeface="Gotham"/>
            </a:endParaRPr>
          </a:p>
          <a:p>
            <a:pPr marL="367031" lvl="1" indent="-183515" algn="l">
              <a:lnSpc>
                <a:spcPts val="2380"/>
              </a:lnSpc>
              <a:spcBef>
                <a:spcPct val="0"/>
              </a:spcBef>
              <a:buFont typeface="Arial"/>
              <a:buChar char="•"/>
            </a:pPr>
            <a:r>
              <a:rPr lang="en-US" sz="1700">
                <a:solidFill>
                  <a:srgbClr val="232B43"/>
                </a:solidFill>
                <a:latin typeface="Gotham"/>
                <a:ea typeface="Gotham"/>
                <a:cs typeface="Gotham"/>
                <a:sym typeface="Gotham"/>
              </a:rPr>
              <a:t>Aligning selection criteria with organizational values and strategic capabilities</a:t>
            </a:r>
          </a:p>
          <a:p>
            <a:pPr marL="367031" lvl="1" indent="-183515" algn="l">
              <a:lnSpc>
                <a:spcPts val="2380"/>
              </a:lnSpc>
              <a:spcBef>
                <a:spcPct val="0"/>
              </a:spcBef>
              <a:buFont typeface="Arial"/>
              <a:buChar char="•"/>
            </a:pPr>
            <a:r>
              <a:rPr lang="en-US" sz="1700">
                <a:solidFill>
                  <a:srgbClr val="232B43"/>
                </a:solidFill>
                <a:latin typeface="Gotham"/>
                <a:ea typeface="Gotham"/>
                <a:cs typeface="Gotham"/>
                <a:sym typeface="Gotham"/>
              </a:rPr>
              <a:t>Designing hiring processes that assess cultural fit alongside technical skills</a:t>
            </a:r>
          </a:p>
          <a:p>
            <a:pPr marL="367031" lvl="1" indent="-183515" algn="l">
              <a:lnSpc>
                <a:spcPts val="2380"/>
              </a:lnSpc>
              <a:spcBef>
                <a:spcPct val="0"/>
              </a:spcBef>
              <a:buFont typeface="Arial"/>
              <a:buChar char="•"/>
            </a:pPr>
            <a:r>
              <a:rPr lang="en-US" sz="1700">
                <a:solidFill>
                  <a:srgbClr val="232B43"/>
                </a:solidFill>
                <a:latin typeface="Gotham"/>
                <a:ea typeface="Gotham"/>
                <a:cs typeface="Gotham"/>
                <a:sym typeface="Gotham"/>
              </a:rPr>
              <a:t>Creating onboarding experiences that effectively socialize new hires into organizational culture</a:t>
            </a:r>
          </a:p>
          <a:p>
            <a:pPr marL="367031" lvl="1" indent="-183515" algn="l">
              <a:lnSpc>
                <a:spcPts val="2380"/>
              </a:lnSpc>
              <a:spcBef>
                <a:spcPct val="0"/>
              </a:spcBef>
              <a:buFont typeface="Arial"/>
              <a:buChar char="•"/>
            </a:pPr>
            <a:r>
              <a:rPr lang="en-US" sz="1700">
                <a:solidFill>
                  <a:srgbClr val="232B43"/>
                </a:solidFill>
                <a:latin typeface="Gotham"/>
                <a:ea typeface="Gotham"/>
                <a:cs typeface="Gotham"/>
                <a:sym typeface="Gotham"/>
              </a:rPr>
              <a:t>Using selection data to identify organizational patterns and development needs</a:t>
            </a:r>
          </a:p>
        </p:txBody>
      </p:sp>
      <p:sp>
        <p:nvSpPr>
          <p:cNvPr id="3" name="Freeform 3"/>
          <p:cNvSpPr/>
          <p:nvPr/>
        </p:nvSpPr>
        <p:spPr>
          <a:xfrm>
            <a:off x="14284424" y="623687"/>
            <a:ext cx="2974876" cy="1008263"/>
          </a:xfrm>
          <a:custGeom>
            <a:avLst/>
            <a:gdLst/>
            <a:ahLst/>
            <a:cxnLst/>
            <a:rect l="l" t="t" r="r" b="b"/>
            <a:pathLst>
              <a:path w="2974876" h="1008263">
                <a:moveTo>
                  <a:pt x="0" y="0"/>
                </a:moveTo>
                <a:lnTo>
                  <a:pt x="2974876" y="0"/>
                </a:lnTo>
                <a:lnTo>
                  <a:pt x="2974876" y="1008263"/>
                </a:lnTo>
                <a:lnTo>
                  <a:pt x="0" y="1008263"/>
                </a:lnTo>
                <a:lnTo>
                  <a:pt x="0" y="0"/>
                </a:lnTo>
                <a:close/>
              </a:path>
            </a:pathLst>
          </a:custGeom>
          <a:blipFill>
            <a:blip r:embed="rId2"/>
            <a:stretch>
              <a:fillRect/>
            </a:stretch>
          </a:blipFill>
        </p:spPr>
        <p:txBody>
          <a:bodyPr/>
          <a:lstStyle/>
          <a:p>
            <a:endParaRPr lang="en-US"/>
          </a:p>
        </p:txBody>
      </p:sp>
      <p:sp>
        <p:nvSpPr>
          <p:cNvPr id="4" name="TextBox 4"/>
          <p:cNvSpPr txBox="1"/>
          <p:nvPr/>
        </p:nvSpPr>
        <p:spPr>
          <a:xfrm>
            <a:off x="1028700" y="952500"/>
            <a:ext cx="12387856" cy="679450"/>
          </a:xfrm>
          <a:prstGeom prst="rect">
            <a:avLst/>
          </a:prstGeom>
        </p:spPr>
        <p:txBody>
          <a:bodyPr lIns="0" tIns="0" rIns="0" bIns="0" rtlCol="0" anchor="t">
            <a:spAutoFit/>
          </a:bodyPr>
          <a:lstStyle/>
          <a:p>
            <a:pPr algn="l">
              <a:lnSpc>
                <a:spcPts val="5599"/>
              </a:lnSpc>
              <a:spcBef>
                <a:spcPct val="0"/>
              </a:spcBef>
            </a:pPr>
            <a:r>
              <a:rPr lang="en-US" sz="3999" b="1">
                <a:solidFill>
                  <a:srgbClr val="232B43"/>
                </a:solidFill>
                <a:latin typeface="Gotham Bold"/>
                <a:ea typeface="Gotham Bold"/>
                <a:cs typeface="Gotham Bold"/>
                <a:sym typeface="Gotham Bold"/>
              </a:rPr>
              <a:t>Connecting OD with other HR functions</a:t>
            </a:r>
          </a:p>
        </p:txBody>
      </p:sp>
      <p:sp>
        <p:nvSpPr>
          <p:cNvPr id="5" name="AutoShape 5"/>
          <p:cNvSpPr/>
          <p:nvPr/>
        </p:nvSpPr>
        <p:spPr>
          <a:xfrm>
            <a:off x="1028700" y="1819125"/>
            <a:ext cx="6492240" cy="0"/>
          </a:xfrm>
          <a:prstGeom prst="line">
            <a:avLst/>
          </a:prstGeom>
          <a:ln w="38100" cap="flat">
            <a:solidFill>
              <a:srgbClr val="000000"/>
            </a:solidFill>
            <a:prstDash val="solid"/>
            <a:headEnd type="none" w="sm" len="sm"/>
            <a:tailEnd type="none" w="sm" len="sm"/>
          </a:ln>
        </p:spPr>
        <p:txBody>
          <a:bodyPr/>
          <a:lstStyle/>
          <a:p>
            <a:endParaRPr lang="en-US"/>
          </a:p>
        </p:txBody>
      </p:sp>
      <p:sp>
        <p:nvSpPr>
          <p:cNvPr id="6" name="TextBox 6"/>
          <p:cNvSpPr txBox="1"/>
          <p:nvPr/>
        </p:nvSpPr>
        <p:spPr>
          <a:xfrm>
            <a:off x="1028700" y="5252570"/>
            <a:ext cx="15164127" cy="2662823"/>
          </a:xfrm>
          <a:prstGeom prst="rect">
            <a:avLst/>
          </a:prstGeom>
        </p:spPr>
        <p:txBody>
          <a:bodyPr lIns="0" tIns="0" rIns="0" bIns="0" rtlCol="0" anchor="t">
            <a:spAutoFit/>
          </a:bodyPr>
          <a:lstStyle/>
          <a:p>
            <a:pPr algn="l">
              <a:lnSpc>
                <a:spcPts val="2330"/>
              </a:lnSpc>
            </a:pPr>
            <a:r>
              <a:rPr lang="en-US" sz="1664" b="1" i="1">
                <a:solidFill>
                  <a:srgbClr val="232B43"/>
                </a:solidFill>
                <a:latin typeface="Gotham Bold Italics"/>
                <a:ea typeface="Gotham Bold Italics"/>
                <a:cs typeface="Gotham Bold Italics"/>
                <a:sym typeface="Gotham Bold Italics"/>
              </a:rPr>
              <a:t>OD and Performance Management</a:t>
            </a:r>
          </a:p>
          <a:p>
            <a:pPr algn="l">
              <a:lnSpc>
                <a:spcPts val="2330"/>
              </a:lnSpc>
            </a:pPr>
            <a:endParaRPr lang="en-US" sz="1664" b="1" i="1">
              <a:solidFill>
                <a:srgbClr val="232B43"/>
              </a:solidFill>
              <a:latin typeface="Gotham Bold Italics"/>
              <a:ea typeface="Gotham Bold Italics"/>
              <a:cs typeface="Gotham Bold Italics"/>
              <a:sym typeface="Gotham Bold Italics"/>
            </a:endParaRPr>
          </a:p>
          <a:p>
            <a:pPr algn="l">
              <a:lnSpc>
                <a:spcPts val="2330"/>
              </a:lnSpc>
            </a:pPr>
            <a:r>
              <a:rPr lang="en-US" sz="1664">
                <a:solidFill>
                  <a:srgbClr val="232B43"/>
                </a:solidFill>
                <a:latin typeface="Gotham"/>
                <a:ea typeface="Gotham"/>
                <a:cs typeface="Gotham"/>
                <a:sym typeface="Gotham"/>
              </a:rPr>
              <a:t>Performance management systems significantly influence organizational behavior and results. OD approaches improve performance management by:</a:t>
            </a:r>
          </a:p>
          <a:p>
            <a:pPr algn="l">
              <a:lnSpc>
                <a:spcPts val="2330"/>
              </a:lnSpc>
            </a:pPr>
            <a:endParaRPr lang="en-US" sz="1664">
              <a:solidFill>
                <a:srgbClr val="232B43"/>
              </a:solidFill>
              <a:latin typeface="Gotham"/>
              <a:ea typeface="Gotham"/>
              <a:cs typeface="Gotham"/>
              <a:sym typeface="Gotham"/>
            </a:endParaRPr>
          </a:p>
          <a:p>
            <a:pPr marL="359350" lvl="1" indent="-179675" algn="l">
              <a:lnSpc>
                <a:spcPts val="2330"/>
              </a:lnSpc>
              <a:buFont typeface="Arial"/>
              <a:buChar char="•"/>
            </a:pPr>
            <a:r>
              <a:rPr lang="en-US" sz="1664">
                <a:solidFill>
                  <a:srgbClr val="232B43"/>
                </a:solidFill>
                <a:latin typeface="Gotham"/>
                <a:ea typeface="Gotham"/>
                <a:cs typeface="Gotham"/>
                <a:sym typeface="Gotham"/>
              </a:rPr>
              <a:t>Ensuring performance criteria align with organizational strategy and values</a:t>
            </a:r>
          </a:p>
          <a:p>
            <a:pPr marL="359350" lvl="1" indent="-179675" algn="l">
              <a:lnSpc>
                <a:spcPts val="2330"/>
              </a:lnSpc>
              <a:buFont typeface="Arial"/>
              <a:buChar char="•"/>
            </a:pPr>
            <a:r>
              <a:rPr lang="en-US" sz="1664">
                <a:solidFill>
                  <a:srgbClr val="232B43"/>
                </a:solidFill>
                <a:latin typeface="Gotham"/>
                <a:ea typeface="Gotham"/>
                <a:cs typeface="Gotham"/>
                <a:sym typeface="Gotham"/>
              </a:rPr>
              <a:t>Designing feedback processes that promote development rather than just evaluation</a:t>
            </a:r>
          </a:p>
          <a:p>
            <a:pPr marL="359350" lvl="1" indent="-179675" algn="l">
              <a:lnSpc>
                <a:spcPts val="2330"/>
              </a:lnSpc>
              <a:buFont typeface="Arial"/>
              <a:buChar char="•"/>
            </a:pPr>
            <a:r>
              <a:rPr lang="en-US" sz="1664">
                <a:solidFill>
                  <a:srgbClr val="232B43"/>
                </a:solidFill>
                <a:latin typeface="Gotham"/>
                <a:ea typeface="Gotham"/>
                <a:cs typeface="Gotham"/>
                <a:sym typeface="Gotham"/>
              </a:rPr>
              <a:t>Creating performance conversations that enhance rather than undermine engagement</a:t>
            </a:r>
          </a:p>
          <a:p>
            <a:pPr marL="359350" lvl="1" indent="-179675" algn="l">
              <a:lnSpc>
                <a:spcPts val="2330"/>
              </a:lnSpc>
              <a:spcBef>
                <a:spcPct val="0"/>
              </a:spcBef>
              <a:buFont typeface="Arial"/>
              <a:buChar char="•"/>
            </a:pPr>
            <a:r>
              <a:rPr lang="en-US" sz="1664">
                <a:solidFill>
                  <a:srgbClr val="232B43"/>
                </a:solidFill>
                <a:latin typeface="Gotham"/>
                <a:ea typeface="Gotham"/>
                <a:cs typeface="Gotham"/>
                <a:sym typeface="Gotham"/>
              </a:rPr>
              <a:t>Building manager capabilities to have effective performance discussions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2336541"/>
            <a:ext cx="15164127" cy="2642870"/>
          </a:xfrm>
          <a:prstGeom prst="rect">
            <a:avLst/>
          </a:prstGeom>
        </p:spPr>
        <p:txBody>
          <a:bodyPr lIns="0" tIns="0" rIns="0" bIns="0" rtlCol="0" anchor="t">
            <a:spAutoFit/>
          </a:bodyPr>
          <a:lstStyle/>
          <a:p>
            <a:pPr algn="l">
              <a:lnSpc>
                <a:spcPts val="2380"/>
              </a:lnSpc>
              <a:spcBef>
                <a:spcPct val="0"/>
              </a:spcBef>
            </a:pPr>
            <a:r>
              <a:rPr lang="en-US" sz="1700" b="1" i="1">
                <a:solidFill>
                  <a:srgbClr val="232B43"/>
                </a:solidFill>
                <a:latin typeface="Gotham Bold Italics"/>
                <a:ea typeface="Gotham Bold Italics"/>
                <a:cs typeface="Gotham Bold Italics"/>
                <a:sym typeface="Gotham Bold Italics"/>
              </a:rPr>
              <a:t>OD and Learning &amp; Development</a:t>
            </a:r>
          </a:p>
          <a:p>
            <a:pPr algn="l">
              <a:lnSpc>
                <a:spcPts val="2380"/>
              </a:lnSpc>
              <a:spcBef>
                <a:spcPct val="0"/>
              </a:spcBef>
            </a:pPr>
            <a:endParaRPr lang="en-US" sz="1700" b="1" i="1">
              <a:solidFill>
                <a:srgbClr val="232B43"/>
              </a:solidFill>
              <a:latin typeface="Gotham Bold Italics"/>
              <a:ea typeface="Gotham Bold Italics"/>
              <a:cs typeface="Gotham Bold Italics"/>
              <a:sym typeface="Gotham Bold Italics"/>
            </a:endParaRPr>
          </a:p>
          <a:p>
            <a:pPr algn="l">
              <a:lnSpc>
                <a:spcPts val="2380"/>
              </a:lnSpc>
              <a:spcBef>
                <a:spcPct val="0"/>
              </a:spcBef>
            </a:pPr>
            <a:r>
              <a:rPr lang="en-US" sz="1700">
                <a:solidFill>
                  <a:srgbClr val="232B43"/>
                </a:solidFill>
                <a:latin typeface="Gotham"/>
                <a:ea typeface="Gotham"/>
                <a:cs typeface="Gotham"/>
                <a:sym typeface="Gotham"/>
              </a:rPr>
              <a:t>Learning and development functions naturally complement OD initiatives. The connection </a:t>
            </a:r>
          </a:p>
          <a:p>
            <a:pPr algn="l">
              <a:lnSpc>
                <a:spcPts val="2380"/>
              </a:lnSpc>
              <a:spcBef>
                <a:spcPct val="0"/>
              </a:spcBef>
            </a:pPr>
            <a:r>
              <a:rPr lang="en-US" sz="1700">
                <a:solidFill>
                  <a:srgbClr val="232B43"/>
                </a:solidFill>
                <a:latin typeface="Gotham"/>
                <a:ea typeface="Gotham"/>
                <a:cs typeface="Gotham"/>
                <a:sym typeface="Gotham"/>
              </a:rPr>
              <a:t>works in both directions:</a:t>
            </a:r>
          </a:p>
          <a:p>
            <a:pPr algn="l">
              <a:lnSpc>
                <a:spcPts val="2380"/>
              </a:lnSpc>
              <a:spcBef>
                <a:spcPct val="0"/>
              </a:spcBef>
            </a:pPr>
            <a:endParaRPr lang="en-US" sz="1700">
              <a:solidFill>
                <a:srgbClr val="232B43"/>
              </a:solidFill>
              <a:latin typeface="Gotham"/>
              <a:ea typeface="Gotham"/>
              <a:cs typeface="Gotham"/>
              <a:sym typeface="Gotham"/>
            </a:endParaRPr>
          </a:p>
          <a:p>
            <a:pPr marL="367031" lvl="1" indent="-183515" algn="l">
              <a:lnSpc>
                <a:spcPts val="2380"/>
              </a:lnSpc>
              <a:spcBef>
                <a:spcPct val="0"/>
              </a:spcBef>
              <a:buFont typeface="Arial"/>
              <a:buChar char="•"/>
            </a:pPr>
            <a:r>
              <a:rPr lang="en-US" sz="1700">
                <a:solidFill>
                  <a:srgbClr val="232B43"/>
                </a:solidFill>
                <a:latin typeface="Gotham"/>
                <a:ea typeface="Gotham"/>
                <a:cs typeface="Gotham"/>
                <a:sym typeface="Gotham"/>
              </a:rPr>
              <a:t>OD assessments identify learning needs at individual, team, and organizational levels</a:t>
            </a:r>
          </a:p>
          <a:p>
            <a:pPr marL="367031" lvl="1" indent="-183515" algn="l">
              <a:lnSpc>
                <a:spcPts val="2380"/>
              </a:lnSpc>
              <a:spcBef>
                <a:spcPct val="0"/>
              </a:spcBef>
              <a:buFont typeface="Arial"/>
              <a:buChar char="•"/>
            </a:pPr>
            <a:r>
              <a:rPr lang="en-US" sz="1700">
                <a:solidFill>
                  <a:srgbClr val="232B43"/>
                </a:solidFill>
                <a:latin typeface="Gotham"/>
                <a:ea typeface="Gotham"/>
                <a:cs typeface="Gotham"/>
                <a:sym typeface="Gotham"/>
              </a:rPr>
              <a:t>Learning initiatives build capabilities needed for organizational change</a:t>
            </a:r>
          </a:p>
          <a:p>
            <a:pPr marL="367031" lvl="1" indent="-183515" algn="l">
              <a:lnSpc>
                <a:spcPts val="2380"/>
              </a:lnSpc>
              <a:spcBef>
                <a:spcPct val="0"/>
              </a:spcBef>
              <a:buFont typeface="Arial"/>
              <a:buChar char="•"/>
            </a:pPr>
            <a:r>
              <a:rPr lang="en-US" sz="1700">
                <a:solidFill>
                  <a:srgbClr val="232B43"/>
                </a:solidFill>
                <a:latin typeface="Gotham"/>
                <a:ea typeface="Gotham"/>
                <a:cs typeface="Gotham"/>
                <a:sym typeface="Gotham"/>
              </a:rPr>
              <a:t>OD principles improve learning design through greater participation and application</a:t>
            </a:r>
          </a:p>
          <a:p>
            <a:pPr marL="367031" lvl="1" indent="-183515" algn="l">
              <a:lnSpc>
                <a:spcPts val="2380"/>
              </a:lnSpc>
              <a:spcBef>
                <a:spcPct val="0"/>
              </a:spcBef>
              <a:buFont typeface="Arial"/>
              <a:buChar char="•"/>
            </a:pPr>
            <a:r>
              <a:rPr lang="en-US" sz="1700">
                <a:solidFill>
                  <a:srgbClr val="232B43"/>
                </a:solidFill>
                <a:latin typeface="Gotham"/>
                <a:ea typeface="Gotham"/>
                <a:cs typeface="Gotham"/>
                <a:sym typeface="Gotham"/>
              </a:rPr>
              <a:t>Learning evaluation connects to broader organizational impact</a:t>
            </a:r>
          </a:p>
        </p:txBody>
      </p:sp>
      <p:sp>
        <p:nvSpPr>
          <p:cNvPr id="3" name="Freeform 3"/>
          <p:cNvSpPr/>
          <p:nvPr/>
        </p:nvSpPr>
        <p:spPr>
          <a:xfrm>
            <a:off x="14284424" y="623687"/>
            <a:ext cx="2974876" cy="1008263"/>
          </a:xfrm>
          <a:custGeom>
            <a:avLst/>
            <a:gdLst/>
            <a:ahLst/>
            <a:cxnLst/>
            <a:rect l="l" t="t" r="r" b="b"/>
            <a:pathLst>
              <a:path w="2974876" h="1008263">
                <a:moveTo>
                  <a:pt x="0" y="0"/>
                </a:moveTo>
                <a:lnTo>
                  <a:pt x="2974876" y="0"/>
                </a:lnTo>
                <a:lnTo>
                  <a:pt x="2974876" y="1008263"/>
                </a:lnTo>
                <a:lnTo>
                  <a:pt x="0" y="1008263"/>
                </a:lnTo>
                <a:lnTo>
                  <a:pt x="0" y="0"/>
                </a:lnTo>
                <a:close/>
              </a:path>
            </a:pathLst>
          </a:custGeom>
          <a:blipFill>
            <a:blip r:embed="rId2"/>
            <a:stretch>
              <a:fillRect/>
            </a:stretch>
          </a:blipFill>
        </p:spPr>
        <p:txBody>
          <a:bodyPr/>
          <a:lstStyle/>
          <a:p>
            <a:endParaRPr lang="en-US"/>
          </a:p>
        </p:txBody>
      </p:sp>
      <p:sp>
        <p:nvSpPr>
          <p:cNvPr id="4" name="TextBox 4"/>
          <p:cNvSpPr txBox="1"/>
          <p:nvPr/>
        </p:nvSpPr>
        <p:spPr>
          <a:xfrm>
            <a:off x="1028700" y="952500"/>
            <a:ext cx="12387856" cy="679450"/>
          </a:xfrm>
          <a:prstGeom prst="rect">
            <a:avLst/>
          </a:prstGeom>
        </p:spPr>
        <p:txBody>
          <a:bodyPr lIns="0" tIns="0" rIns="0" bIns="0" rtlCol="0" anchor="t">
            <a:spAutoFit/>
          </a:bodyPr>
          <a:lstStyle/>
          <a:p>
            <a:pPr algn="l">
              <a:lnSpc>
                <a:spcPts val="5599"/>
              </a:lnSpc>
              <a:spcBef>
                <a:spcPct val="0"/>
              </a:spcBef>
            </a:pPr>
            <a:r>
              <a:rPr lang="en-US" sz="3999" b="1">
                <a:solidFill>
                  <a:srgbClr val="232B43"/>
                </a:solidFill>
                <a:latin typeface="Gotham Bold"/>
                <a:ea typeface="Gotham Bold"/>
                <a:cs typeface="Gotham Bold"/>
                <a:sym typeface="Gotham Bold"/>
              </a:rPr>
              <a:t>Connecting OD with other HR functions</a:t>
            </a:r>
          </a:p>
        </p:txBody>
      </p:sp>
      <p:sp>
        <p:nvSpPr>
          <p:cNvPr id="5" name="AutoShape 5"/>
          <p:cNvSpPr/>
          <p:nvPr/>
        </p:nvSpPr>
        <p:spPr>
          <a:xfrm>
            <a:off x="1028700" y="1819125"/>
            <a:ext cx="6492240" cy="0"/>
          </a:xfrm>
          <a:prstGeom prst="line">
            <a:avLst/>
          </a:prstGeom>
          <a:ln w="38100" cap="flat">
            <a:solidFill>
              <a:srgbClr val="000000"/>
            </a:solidFill>
            <a:prstDash val="solid"/>
            <a:headEnd type="none" w="sm" len="sm"/>
            <a:tailEnd type="none" w="sm" len="sm"/>
          </a:ln>
        </p:spPr>
        <p:txBody>
          <a:bodyPr/>
          <a:lstStyle/>
          <a:p>
            <a:endParaRPr lang="en-US"/>
          </a:p>
        </p:txBody>
      </p:sp>
      <p:sp>
        <p:nvSpPr>
          <p:cNvPr id="6" name="TextBox 6"/>
          <p:cNvSpPr txBox="1"/>
          <p:nvPr/>
        </p:nvSpPr>
        <p:spPr>
          <a:xfrm>
            <a:off x="1028700" y="5455661"/>
            <a:ext cx="15164127" cy="2662823"/>
          </a:xfrm>
          <a:prstGeom prst="rect">
            <a:avLst/>
          </a:prstGeom>
        </p:spPr>
        <p:txBody>
          <a:bodyPr lIns="0" tIns="0" rIns="0" bIns="0" rtlCol="0" anchor="t">
            <a:spAutoFit/>
          </a:bodyPr>
          <a:lstStyle/>
          <a:p>
            <a:pPr algn="l">
              <a:lnSpc>
                <a:spcPts val="2330"/>
              </a:lnSpc>
            </a:pPr>
            <a:r>
              <a:rPr lang="en-US" sz="1664" b="1" i="1">
                <a:solidFill>
                  <a:srgbClr val="232B43"/>
                </a:solidFill>
                <a:latin typeface="Gotham Bold Italics"/>
                <a:ea typeface="Gotham Bold Italics"/>
                <a:cs typeface="Gotham Bold Italics"/>
                <a:sym typeface="Gotham Bold Italics"/>
              </a:rPr>
              <a:t>OD and Compensation/Benefits</a:t>
            </a:r>
          </a:p>
          <a:p>
            <a:pPr algn="l">
              <a:lnSpc>
                <a:spcPts val="2330"/>
              </a:lnSpc>
            </a:pPr>
            <a:endParaRPr lang="en-US" sz="1664" b="1" i="1">
              <a:solidFill>
                <a:srgbClr val="232B43"/>
              </a:solidFill>
              <a:latin typeface="Gotham Bold Italics"/>
              <a:ea typeface="Gotham Bold Italics"/>
              <a:cs typeface="Gotham Bold Italics"/>
              <a:sym typeface="Gotham Bold Italics"/>
            </a:endParaRPr>
          </a:p>
          <a:p>
            <a:pPr algn="l">
              <a:lnSpc>
                <a:spcPts val="2330"/>
              </a:lnSpc>
            </a:pPr>
            <a:r>
              <a:rPr lang="en-US" sz="1664">
                <a:solidFill>
                  <a:srgbClr val="232B43"/>
                </a:solidFill>
                <a:latin typeface="Gotham"/>
                <a:ea typeface="Gotham"/>
                <a:cs typeface="Gotham"/>
                <a:sym typeface="Gotham"/>
              </a:rPr>
              <a:t>Reward systems powerfully influence behavior and can either support or undermine change efforts. OD perspectives enhance compensation and benefits by:</a:t>
            </a:r>
          </a:p>
          <a:p>
            <a:pPr algn="l">
              <a:lnSpc>
                <a:spcPts val="2330"/>
              </a:lnSpc>
            </a:pPr>
            <a:endParaRPr lang="en-US" sz="1664">
              <a:solidFill>
                <a:srgbClr val="232B43"/>
              </a:solidFill>
              <a:latin typeface="Gotham"/>
              <a:ea typeface="Gotham"/>
              <a:cs typeface="Gotham"/>
              <a:sym typeface="Gotham"/>
            </a:endParaRPr>
          </a:p>
          <a:p>
            <a:pPr marL="359350" lvl="1" indent="-179675" algn="l">
              <a:lnSpc>
                <a:spcPts val="2330"/>
              </a:lnSpc>
              <a:buFont typeface="Arial"/>
              <a:buChar char="•"/>
            </a:pPr>
            <a:r>
              <a:rPr lang="en-US" sz="1664">
                <a:solidFill>
                  <a:srgbClr val="232B43"/>
                </a:solidFill>
                <a:latin typeface="Gotham"/>
                <a:ea typeface="Gotham"/>
                <a:cs typeface="Gotham"/>
                <a:sym typeface="Gotham"/>
              </a:rPr>
              <a:t>Ensuring reward systems reinforce desired behaviors and culture</a:t>
            </a:r>
          </a:p>
          <a:p>
            <a:pPr marL="359350" lvl="1" indent="-179675" algn="l">
              <a:lnSpc>
                <a:spcPts val="2330"/>
              </a:lnSpc>
              <a:buFont typeface="Arial"/>
              <a:buChar char="•"/>
            </a:pPr>
            <a:r>
              <a:rPr lang="en-US" sz="1664">
                <a:solidFill>
                  <a:srgbClr val="232B43"/>
                </a:solidFill>
                <a:latin typeface="Gotham"/>
                <a:ea typeface="Gotham"/>
                <a:cs typeface="Gotham"/>
                <a:sym typeface="Gotham"/>
              </a:rPr>
              <a:t>Aligning incentives with strategic priorities</a:t>
            </a:r>
          </a:p>
          <a:p>
            <a:pPr marL="359350" lvl="1" indent="-179675" algn="l">
              <a:lnSpc>
                <a:spcPts val="2330"/>
              </a:lnSpc>
              <a:buFont typeface="Arial"/>
              <a:buChar char="•"/>
            </a:pPr>
            <a:r>
              <a:rPr lang="en-US" sz="1664">
                <a:solidFill>
                  <a:srgbClr val="232B43"/>
                </a:solidFill>
                <a:latin typeface="Gotham"/>
                <a:ea typeface="Gotham"/>
                <a:cs typeface="Gotham"/>
                <a:sym typeface="Gotham"/>
              </a:rPr>
              <a:t>Creating compensation approaches that support collaboration rather than just individual achievement</a:t>
            </a:r>
          </a:p>
          <a:p>
            <a:pPr marL="359350" lvl="1" indent="-179675" algn="l">
              <a:lnSpc>
                <a:spcPts val="2330"/>
              </a:lnSpc>
              <a:spcBef>
                <a:spcPct val="0"/>
              </a:spcBef>
              <a:buFont typeface="Arial"/>
              <a:buChar char="•"/>
            </a:pPr>
            <a:r>
              <a:rPr lang="en-US" sz="1664">
                <a:solidFill>
                  <a:srgbClr val="232B43"/>
                </a:solidFill>
                <a:latin typeface="Gotham"/>
                <a:ea typeface="Gotham"/>
                <a:cs typeface="Gotham"/>
                <a:sym typeface="Gotham"/>
              </a:rPr>
              <a:t>Designing benefits that reflect organizational values and employee needs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525" y="0"/>
            <a:ext cx="18490944" cy="12319591"/>
          </a:xfrm>
          <a:custGeom>
            <a:avLst/>
            <a:gdLst/>
            <a:ahLst/>
            <a:cxnLst/>
            <a:rect l="l" t="t" r="r" b="b"/>
            <a:pathLst>
              <a:path w="18490944" h="12319591">
                <a:moveTo>
                  <a:pt x="0" y="0"/>
                </a:moveTo>
                <a:lnTo>
                  <a:pt x="18490944" y="0"/>
                </a:lnTo>
                <a:lnTo>
                  <a:pt x="18490944" y="12319591"/>
                </a:lnTo>
                <a:lnTo>
                  <a:pt x="0" y="12319591"/>
                </a:lnTo>
                <a:lnTo>
                  <a:pt x="0" y="0"/>
                </a:lnTo>
                <a:close/>
              </a:path>
            </a:pathLst>
          </a:custGeom>
          <a:blipFill>
            <a:blip r:embed="rId2">
              <a:alphaModFix amt="12000"/>
            </a:blip>
            <a:stretch>
              <a:fillRect/>
            </a:stretch>
          </a:blipFill>
        </p:spPr>
        <p:txBody>
          <a:bodyPr/>
          <a:lstStyle/>
          <a:p>
            <a:endParaRPr lang="en-US"/>
          </a:p>
        </p:txBody>
      </p:sp>
      <p:sp>
        <p:nvSpPr>
          <p:cNvPr id="3" name="TextBox 3"/>
          <p:cNvSpPr txBox="1"/>
          <p:nvPr/>
        </p:nvSpPr>
        <p:spPr>
          <a:xfrm>
            <a:off x="802969" y="5261308"/>
            <a:ext cx="15586653" cy="3739714"/>
          </a:xfrm>
          <a:prstGeom prst="rect">
            <a:avLst/>
          </a:prstGeom>
        </p:spPr>
        <p:txBody>
          <a:bodyPr lIns="0" tIns="0" rIns="0" bIns="0" rtlCol="0" anchor="t">
            <a:spAutoFit/>
          </a:bodyPr>
          <a:lstStyle/>
          <a:p>
            <a:pPr algn="l">
              <a:lnSpc>
                <a:spcPts val="3658"/>
              </a:lnSpc>
              <a:spcBef>
                <a:spcPct val="0"/>
              </a:spcBef>
            </a:pPr>
            <a:r>
              <a:rPr lang="en-US" sz="2612" b="1">
                <a:solidFill>
                  <a:srgbClr val="232B43"/>
                </a:solidFill>
                <a:latin typeface="Gotham Bold"/>
                <a:ea typeface="Gotham Bold"/>
                <a:cs typeface="Gotham Bold"/>
                <a:sym typeface="Gotham Bold"/>
              </a:rPr>
              <a:t>Contemporary OD Challenges in Philippine Organizations</a:t>
            </a:r>
          </a:p>
          <a:p>
            <a:pPr algn="l">
              <a:lnSpc>
                <a:spcPts val="2180"/>
              </a:lnSpc>
              <a:spcBef>
                <a:spcPct val="0"/>
              </a:spcBef>
            </a:pPr>
            <a:endParaRPr lang="en-US" sz="2612" b="1">
              <a:solidFill>
                <a:srgbClr val="232B43"/>
              </a:solidFill>
              <a:latin typeface="Gotham Bold"/>
              <a:ea typeface="Gotham Bold"/>
              <a:cs typeface="Gotham Bold"/>
              <a:sym typeface="Gotham Bold"/>
            </a:endParaRPr>
          </a:p>
          <a:p>
            <a:pPr algn="l">
              <a:lnSpc>
                <a:spcPts val="2180"/>
              </a:lnSpc>
              <a:spcBef>
                <a:spcPct val="0"/>
              </a:spcBef>
            </a:pPr>
            <a:r>
              <a:rPr lang="en-US" sz="1557">
                <a:solidFill>
                  <a:srgbClr val="232B43"/>
                </a:solidFill>
                <a:latin typeface="Gotham"/>
                <a:ea typeface="Gotham"/>
                <a:cs typeface="Gotham"/>
                <a:sym typeface="Gotham"/>
              </a:rPr>
              <a:t>Philippine organizations face unique organizational development challenges as they navigate the intersection of traditional cultural values, rapid technological change, and increasing global integration in an evolving business landscape. </a:t>
            </a:r>
          </a:p>
          <a:p>
            <a:pPr algn="l">
              <a:lnSpc>
                <a:spcPts val="2180"/>
              </a:lnSpc>
              <a:spcBef>
                <a:spcPct val="0"/>
              </a:spcBef>
            </a:pPr>
            <a:endParaRPr lang="en-US" sz="1557">
              <a:solidFill>
                <a:srgbClr val="232B43"/>
              </a:solidFill>
              <a:latin typeface="Gotham"/>
              <a:ea typeface="Gotham"/>
              <a:cs typeface="Gotham"/>
              <a:sym typeface="Gotham"/>
            </a:endParaRPr>
          </a:p>
          <a:p>
            <a:pPr marL="336308" lvl="1" indent="-168154" algn="l">
              <a:lnSpc>
                <a:spcPts val="2679"/>
              </a:lnSpc>
              <a:buFont typeface="Arial"/>
              <a:buChar char="•"/>
            </a:pPr>
            <a:r>
              <a:rPr lang="en-US" sz="1557" b="1">
                <a:solidFill>
                  <a:srgbClr val="232B43"/>
                </a:solidFill>
                <a:latin typeface="Gotham Bold"/>
                <a:ea typeface="Gotham Bold"/>
                <a:cs typeface="Gotham Bold"/>
                <a:sym typeface="Gotham Bold"/>
              </a:rPr>
              <a:t>Digital Transformation</a:t>
            </a:r>
          </a:p>
          <a:p>
            <a:pPr marL="336308" lvl="1" indent="-168154" algn="l">
              <a:lnSpc>
                <a:spcPts val="2679"/>
              </a:lnSpc>
              <a:buFont typeface="Arial"/>
              <a:buChar char="•"/>
            </a:pPr>
            <a:r>
              <a:rPr lang="en-US" sz="1557" b="1">
                <a:solidFill>
                  <a:srgbClr val="232B43"/>
                </a:solidFill>
                <a:latin typeface="Gotham Bold"/>
                <a:ea typeface="Gotham Bold"/>
                <a:cs typeface="Gotham Bold"/>
                <a:sym typeface="Gotham Bold"/>
              </a:rPr>
              <a:t>Multigenerational Workforce</a:t>
            </a:r>
          </a:p>
          <a:p>
            <a:pPr marL="336308" lvl="1" indent="-168154" algn="l">
              <a:lnSpc>
                <a:spcPts val="2679"/>
              </a:lnSpc>
              <a:buFont typeface="Arial"/>
              <a:buChar char="•"/>
            </a:pPr>
            <a:r>
              <a:rPr lang="en-US" sz="1557" b="1">
                <a:solidFill>
                  <a:srgbClr val="232B43"/>
                </a:solidFill>
                <a:latin typeface="Gotham Bold"/>
                <a:ea typeface="Gotham Bold"/>
                <a:cs typeface="Gotham Bold"/>
                <a:sym typeface="Gotham Bold"/>
              </a:rPr>
              <a:t>Global Integration</a:t>
            </a:r>
          </a:p>
          <a:p>
            <a:pPr marL="336308" lvl="1" indent="-168154" algn="l">
              <a:lnSpc>
                <a:spcPts val="2679"/>
              </a:lnSpc>
              <a:buFont typeface="Arial"/>
              <a:buChar char="•"/>
            </a:pPr>
            <a:r>
              <a:rPr lang="en-US" sz="1557" b="1">
                <a:solidFill>
                  <a:srgbClr val="232B43"/>
                </a:solidFill>
                <a:latin typeface="Gotham Bold"/>
                <a:ea typeface="Gotham Bold"/>
                <a:cs typeface="Gotham Bold"/>
                <a:sym typeface="Gotham Bold"/>
              </a:rPr>
              <a:t>Pandemic-Accelerated Changes</a:t>
            </a:r>
          </a:p>
          <a:p>
            <a:pPr algn="l">
              <a:lnSpc>
                <a:spcPts val="2180"/>
              </a:lnSpc>
              <a:spcBef>
                <a:spcPct val="0"/>
              </a:spcBef>
            </a:pPr>
            <a:endParaRPr lang="en-US" sz="1557" b="1">
              <a:solidFill>
                <a:srgbClr val="232B43"/>
              </a:solidFill>
              <a:latin typeface="Gotham Bold"/>
              <a:ea typeface="Gotham Bold"/>
              <a:cs typeface="Gotham Bold"/>
              <a:sym typeface="Gotham Bold"/>
            </a:endParaRPr>
          </a:p>
          <a:p>
            <a:pPr algn="l">
              <a:lnSpc>
                <a:spcPts val="2180"/>
              </a:lnSpc>
              <a:spcBef>
                <a:spcPct val="0"/>
              </a:spcBef>
            </a:pPr>
            <a:r>
              <a:rPr lang="en-US" sz="1557">
                <a:solidFill>
                  <a:srgbClr val="232B43"/>
                </a:solidFill>
                <a:latin typeface="Gotham"/>
                <a:ea typeface="Gotham"/>
                <a:cs typeface="Gotham"/>
                <a:sym typeface="Gotham"/>
              </a:rPr>
              <a:t>Addressing these contemporary challenges requires OD professionals to develop contextually relevant approaches that honor Filipino cultural strengths while facilitating necessary organizational evolution. </a:t>
            </a:r>
          </a:p>
        </p:txBody>
      </p:sp>
      <p:sp>
        <p:nvSpPr>
          <p:cNvPr id="4" name="Freeform 4"/>
          <p:cNvSpPr/>
          <p:nvPr/>
        </p:nvSpPr>
        <p:spPr>
          <a:xfrm>
            <a:off x="14869320" y="816727"/>
            <a:ext cx="2389980" cy="810027"/>
          </a:xfrm>
          <a:custGeom>
            <a:avLst/>
            <a:gdLst/>
            <a:ahLst/>
            <a:cxnLst/>
            <a:rect l="l" t="t" r="r" b="b"/>
            <a:pathLst>
              <a:path w="2389980" h="810027">
                <a:moveTo>
                  <a:pt x="0" y="0"/>
                </a:moveTo>
                <a:lnTo>
                  <a:pt x="2389980" y="0"/>
                </a:lnTo>
                <a:lnTo>
                  <a:pt x="2389980" y="810026"/>
                </a:lnTo>
                <a:lnTo>
                  <a:pt x="0" y="810026"/>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802969" y="1881452"/>
            <a:ext cx="15586653" cy="3627444"/>
          </a:xfrm>
          <a:prstGeom prst="rect">
            <a:avLst/>
          </a:prstGeom>
        </p:spPr>
        <p:txBody>
          <a:bodyPr lIns="0" tIns="0" rIns="0" bIns="0" rtlCol="0" anchor="t">
            <a:spAutoFit/>
          </a:bodyPr>
          <a:lstStyle/>
          <a:p>
            <a:pPr algn="l">
              <a:lnSpc>
                <a:spcPts val="3622"/>
              </a:lnSpc>
              <a:spcBef>
                <a:spcPct val="0"/>
              </a:spcBef>
            </a:pPr>
            <a:r>
              <a:rPr lang="en-US" sz="2587" b="1">
                <a:solidFill>
                  <a:srgbClr val="232B43"/>
                </a:solidFill>
                <a:latin typeface="Gotham Bold"/>
                <a:ea typeface="Gotham Bold"/>
                <a:cs typeface="Gotham Bold"/>
                <a:sym typeface="Gotham Bold"/>
              </a:rPr>
              <a:t>Adapting OD Approaches for Philippine Organizations</a:t>
            </a:r>
          </a:p>
          <a:p>
            <a:pPr algn="l">
              <a:lnSpc>
                <a:spcPts val="1802"/>
              </a:lnSpc>
              <a:spcBef>
                <a:spcPct val="0"/>
              </a:spcBef>
            </a:pPr>
            <a:endParaRPr lang="en-US" sz="2587" b="1">
              <a:solidFill>
                <a:srgbClr val="232B43"/>
              </a:solidFill>
              <a:latin typeface="Gotham Bold"/>
              <a:ea typeface="Gotham Bold"/>
              <a:cs typeface="Gotham Bold"/>
              <a:sym typeface="Gotham Bold"/>
            </a:endParaRPr>
          </a:p>
          <a:p>
            <a:pPr algn="l">
              <a:lnSpc>
                <a:spcPts val="1933"/>
              </a:lnSpc>
              <a:spcBef>
                <a:spcPct val="0"/>
              </a:spcBef>
            </a:pPr>
            <a:r>
              <a:rPr lang="en-US" sz="1380">
                <a:solidFill>
                  <a:srgbClr val="232B43"/>
                </a:solidFill>
                <a:latin typeface="Gotham"/>
                <a:ea typeface="Gotham"/>
                <a:cs typeface="Gotham"/>
                <a:sym typeface="Gotham"/>
              </a:rPr>
              <a:t>Organizational Development approaches require thoughtful adaptation to align with the distinct cultural dynamics present in Philippine organizations, where relationship orientation, hierarchical structures, and a blend of Eastern and Western influences shape workplace interactions. Successful OD practitioners recognize that effective transformation must honor the value placed on personal relationships, face-preservation, and community harmony characteristic of Filipino work environments.</a:t>
            </a:r>
          </a:p>
          <a:p>
            <a:pPr algn="l">
              <a:lnSpc>
                <a:spcPts val="1933"/>
              </a:lnSpc>
              <a:spcBef>
                <a:spcPct val="0"/>
              </a:spcBef>
            </a:pPr>
            <a:endParaRPr lang="en-US" sz="1380">
              <a:solidFill>
                <a:srgbClr val="232B43"/>
              </a:solidFill>
              <a:latin typeface="Gotham"/>
              <a:ea typeface="Gotham"/>
              <a:cs typeface="Gotham"/>
              <a:sym typeface="Gotham"/>
            </a:endParaRPr>
          </a:p>
          <a:p>
            <a:pPr algn="l">
              <a:lnSpc>
                <a:spcPts val="1933"/>
              </a:lnSpc>
              <a:spcBef>
                <a:spcPct val="0"/>
              </a:spcBef>
            </a:pPr>
            <a:r>
              <a:rPr lang="en-US" sz="1380">
                <a:solidFill>
                  <a:srgbClr val="232B43"/>
                </a:solidFill>
                <a:latin typeface="Gotham"/>
                <a:ea typeface="Gotham"/>
                <a:cs typeface="Gotham"/>
                <a:sym typeface="Gotham"/>
              </a:rPr>
              <a:t>Successful OD practitioners in the Philippines adapt global best practices to local realities:</a:t>
            </a:r>
          </a:p>
          <a:p>
            <a:pPr algn="l">
              <a:lnSpc>
                <a:spcPts val="1933"/>
              </a:lnSpc>
              <a:spcBef>
                <a:spcPct val="0"/>
              </a:spcBef>
            </a:pPr>
            <a:endParaRPr lang="en-US" sz="1380">
              <a:solidFill>
                <a:srgbClr val="232B43"/>
              </a:solidFill>
              <a:latin typeface="Gotham"/>
              <a:ea typeface="Gotham"/>
              <a:cs typeface="Gotham"/>
              <a:sym typeface="Gotham"/>
            </a:endParaRPr>
          </a:p>
          <a:p>
            <a:pPr marL="298144" lvl="1" indent="-149072" algn="l">
              <a:lnSpc>
                <a:spcPts val="1684"/>
              </a:lnSpc>
              <a:buFont typeface="Arial"/>
              <a:buChar char="•"/>
            </a:pPr>
            <a:r>
              <a:rPr lang="en-US" sz="1380" b="1">
                <a:solidFill>
                  <a:srgbClr val="232B43"/>
                </a:solidFill>
                <a:latin typeface="Gotham Bold"/>
                <a:ea typeface="Gotham Bold"/>
                <a:cs typeface="Gotham Bold"/>
                <a:sym typeface="Gotham Bold"/>
              </a:rPr>
              <a:t>Communication Approaches</a:t>
            </a:r>
          </a:p>
          <a:p>
            <a:pPr marL="298144" lvl="1" indent="-149072" algn="l">
              <a:lnSpc>
                <a:spcPts val="1684"/>
              </a:lnSpc>
              <a:buFont typeface="Arial"/>
              <a:buChar char="•"/>
            </a:pPr>
            <a:r>
              <a:rPr lang="en-US" sz="1380" b="1">
                <a:solidFill>
                  <a:srgbClr val="232B43"/>
                </a:solidFill>
                <a:latin typeface="Gotham Bold"/>
                <a:ea typeface="Gotham Bold"/>
                <a:cs typeface="Gotham Bold"/>
                <a:sym typeface="Gotham Bold"/>
              </a:rPr>
              <a:t>Leadership Development</a:t>
            </a:r>
          </a:p>
          <a:p>
            <a:pPr marL="298144" lvl="1" indent="-149072" algn="l">
              <a:lnSpc>
                <a:spcPts val="1684"/>
              </a:lnSpc>
              <a:buFont typeface="Arial"/>
              <a:buChar char="•"/>
            </a:pPr>
            <a:r>
              <a:rPr lang="en-US" sz="1380" b="1">
                <a:solidFill>
                  <a:srgbClr val="232B43"/>
                </a:solidFill>
                <a:latin typeface="Gotham Bold"/>
                <a:ea typeface="Gotham Bold"/>
                <a:cs typeface="Gotham Bold"/>
                <a:sym typeface="Gotham Bold"/>
              </a:rPr>
              <a:t>Change Management</a:t>
            </a:r>
          </a:p>
          <a:p>
            <a:pPr marL="298144" lvl="1" indent="-149072" algn="l">
              <a:lnSpc>
                <a:spcPts val="1684"/>
              </a:lnSpc>
              <a:buFont typeface="Arial"/>
              <a:buChar char="•"/>
            </a:pPr>
            <a:r>
              <a:rPr lang="en-US" sz="1380" b="1">
                <a:solidFill>
                  <a:srgbClr val="232B43"/>
                </a:solidFill>
                <a:latin typeface="Gotham Bold"/>
                <a:ea typeface="Gotham Bold"/>
                <a:cs typeface="Gotham Bold"/>
                <a:sym typeface="Gotham Bold"/>
              </a:rPr>
              <a:t>Work Design</a:t>
            </a:r>
          </a:p>
          <a:p>
            <a:pPr algn="l">
              <a:lnSpc>
                <a:spcPts val="1684"/>
              </a:lnSpc>
            </a:pPr>
            <a:endParaRPr lang="en-US" sz="1380" b="1">
              <a:solidFill>
                <a:srgbClr val="232B43"/>
              </a:solidFill>
              <a:latin typeface="Gotham Bold"/>
              <a:ea typeface="Gotham Bold"/>
              <a:cs typeface="Gotham Bold"/>
              <a:sym typeface="Gotham Bold"/>
            </a:endParaRPr>
          </a:p>
          <a:p>
            <a:pPr algn="l">
              <a:lnSpc>
                <a:spcPts val="1802"/>
              </a:lnSpc>
              <a:spcBef>
                <a:spcPct val="0"/>
              </a:spcBef>
            </a:pPr>
            <a:endParaRPr lang="en-US" sz="1380" b="1">
              <a:solidFill>
                <a:srgbClr val="232B43"/>
              </a:solidFill>
              <a:latin typeface="Gotham Bold"/>
              <a:ea typeface="Gotham Bold"/>
              <a:cs typeface="Gotham Bold"/>
              <a:sym typeface="Gotham Bold"/>
            </a:endParaRPr>
          </a:p>
          <a:p>
            <a:pPr algn="l">
              <a:lnSpc>
                <a:spcPts val="1802"/>
              </a:lnSpc>
              <a:spcBef>
                <a:spcPct val="0"/>
              </a:spcBef>
            </a:pPr>
            <a:endParaRPr lang="en-US" sz="1380" b="1">
              <a:solidFill>
                <a:srgbClr val="232B43"/>
              </a:solidFill>
              <a:latin typeface="Gotham Bold"/>
              <a:ea typeface="Gotham Bold"/>
              <a:cs typeface="Gotham Bold"/>
              <a:sym typeface="Gotham Bold"/>
            </a:endParaRPr>
          </a:p>
        </p:txBody>
      </p:sp>
      <p:sp>
        <p:nvSpPr>
          <p:cNvPr id="6" name="TextBox 6"/>
          <p:cNvSpPr txBox="1"/>
          <p:nvPr/>
        </p:nvSpPr>
        <p:spPr>
          <a:xfrm>
            <a:off x="-222182" y="711952"/>
            <a:ext cx="10143935" cy="936625"/>
          </a:xfrm>
          <a:prstGeom prst="rect">
            <a:avLst/>
          </a:prstGeom>
        </p:spPr>
        <p:txBody>
          <a:bodyPr lIns="0" tIns="0" rIns="0" bIns="0" rtlCol="0" anchor="t">
            <a:spAutoFit/>
          </a:bodyPr>
          <a:lstStyle/>
          <a:p>
            <a:pPr marL="0" lvl="0" indent="0" algn="ctr">
              <a:lnSpc>
                <a:spcPts val="7699"/>
              </a:lnSpc>
              <a:spcBef>
                <a:spcPct val="0"/>
              </a:spcBef>
            </a:pPr>
            <a:r>
              <a:rPr lang="en-US" sz="5499" b="1">
                <a:solidFill>
                  <a:srgbClr val="232B43"/>
                </a:solidFill>
                <a:latin typeface="Gotham Bold"/>
                <a:ea typeface="Gotham Bold"/>
                <a:cs typeface="Gotham Bold"/>
                <a:sym typeface="Gotham Bold"/>
              </a:rPr>
              <a:t>OD in Philippine Context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232B43"/>
        </a:solidFill>
        <a:effectLst/>
      </p:bgPr>
    </p:bg>
    <p:spTree>
      <p:nvGrpSpPr>
        <p:cNvPr id="1" name=""/>
        <p:cNvGrpSpPr/>
        <p:nvPr/>
      </p:nvGrpSpPr>
      <p:grpSpPr>
        <a:xfrm>
          <a:off x="0" y="0"/>
          <a:ext cx="0" cy="0"/>
          <a:chOff x="0" y="0"/>
          <a:chExt cx="0" cy="0"/>
        </a:xfrm>
      </p:grpSpPr>
      <p:grpSp>
        <p:nvGrpSpPr>
          <p:cNvPr id="2" name="Group 2"/>
          <p:cNvGrpSpPr/>
          <p:nvPr/>
        </p:nvGrpSpPr>
        <p:grpSpPr>
          <a:xfrm>
            <a:off x="13074349" y="-2252195"/>
            <a:ext cx="4184951" cy="4789086"/>
            <a:chOff x="0" y="0"/>
            <a:chExt cx="776102" cy="888140"/>
          </a:xfrm>
        </p:grpSpPr>
        <p:sp>
          <p:nvSpPr>
            <p:cNvPr id="3" name="Freeform 3"/>
            <p:cNvSpPr/>
            <p:nvPr/>
          </p:nvSpPr>
          <p:spPr>
            <a:xfrm>
              <a:off x="0" y="0"/>
              <a:ext cx="776102" cy="888140"/>
            </a:xfrm>
            <a:custGeom>
              <a:avLst/>
              <a:gdLst/>
              <a:ahLst/>
              <a:cxnLst/>
              <a:rect l="l" t="t" r="r" b="b"/>
              <a:pathLst>
                <a:path w="776102" h="888140">
                  <a:moveTo>
                    <a:pt x="65855" y="0"/>
                  </a:moveTo>
                  <a:lnTo>
                    <a:pt x="710247" y="0"/>
                  </a:lnTo>
                  <a:cubicBezTo>
                    <a:pt x="727713" y="0"/>
                    <a:pt x="744464" y="6938"/>
                    <a:pt x="756814" y="19289"/>
                  </a:cubicBezTo>
                  <a:cubicBezTo>
                    <a:pt x="769164" y="31639"/>
                    <a:pt x="776102" y="48389"/>
                    <a:pt x="776102" y="65855"/>
                  </a:cubicBezTo>
                  <a:lnTo>
                    <a:pt x="776102" y="822285"/>
                  </a:lnTo>
                  <a:cubicBezTo>
                    <a:pt x="776102" y="839750"/>
                    <a:pt x="769164" y="856501"/>
                    <a:pt x="756814" y="868851"/>
                  </a:cubicBezTo>
                  <a:cubicBezTo>
                    <a:pt x="744464" y="881201"/>
                    <a:pt x="727713" y="888140"/>
                    <a:pt x="710247" y="888140"/>
                  </a:cubicBezTo>
                  <a:lnTo>
                    <a:pt x="65855" y="888140"/>
                  </a:lnTo>
                  <a:cubicBezTo>
                    <a:pt x="48389" y="888140"/>
                    <a:pt x="31639" y="881201"/>
                    <a:pt x="19289" y="868851"/>
                  </a:cubicBezTo>
                  <a:cubicBezTo>
                    <a:pt x="6938" y="856501"/>
                    <a:pt x="0" y="839750"/>
                    <a:pt x="0" y="822285"/>
                  </a:cubicBezTo>
                  <a:lnTo>
                    <a:pt x="0" y="65855"/>
                  </a:lnTo>
                  <a:cubicBezTo>
                    <a:pt x="0" y="48389"/>
                    <a:pt x="6938" y="31639"/>
                    <a:pt x="19289" y="19289"/>
                  </a:cubicBezTo>
                  <a:cubicBezTo>
                    <a:pt x="31639" y="6938"/>
                    <a:pt x="48389" y="0"/>
                    <a:pt x="65855" y="0"/>
                  </a:cubicBezTo>
                  <a:close/>
                </a:path>
              </a:pathLst>
            </a:custGeom>
            <a:solidFill>
              <a:srgbClr val="FFFFFF"/>
            </a:solidFill>
          </p:spPr>
          <p:txBody>
            <a:bodyPr/>
            <a:lstStyle/>
            <a:p>
              <a:endParaRPr lang="en-US"/>
            </a:p>
          </p:txBody>
        </p:sp>
        <p:sp>
          <p:nvSpPr>
            <p:cNvPr id="4" name="TextBox 4"/>
            <p:cNvSpPr txBox="1"/>
            <p:nvPr/>
          </p:nvSpPr>
          <p:spPr>
            <a:xfrm>
              <a:off x="0" y="-28575"/>
              <a:ext cx="776102" cy="916715"/>
            </a:xfrm>
            <a:prstGeom prst="rect">
              <a:avLst/>
            </a:prstGeom>
          </p:spPr>
          <p:txBody>
            <a:bodyPr lIns="48876" tIns="48876" rIns="48876" bIns="48876" rtlCol="0" anchor="ctr"/>
            <a:lstStyle/>
            <a:p>
              <a:pPr algn="ctr">
                <a:lnSpc>
                  <a:spcPts val="1885"/>
                </a:lnSpc>
              </a:pPr>
              <a:endParaRPr/>
            </a:p>
          </p:txBody>
        </p:sp>
      </p:grpSp>
      <p:sp>
        <p:nvSpPr>
          <p:cNvPr id="5" name="Freeform 5"/>
          <p:cNvSpPr/>
          <p:nvPr/>
        </p:nvSpPr>
        <p:spPr>
          <a:xfrm>
            <a:off x="13252171" y="533173"/>
            <a:ext cx="3829307" cy="1297852"/>
          </a:xfrm>
          <a:custGeom>
            <a:avLst/>
            <a:gdLst/>
            <a:ahLst/>
            <a:cxnLst/>
            <a:rect l="l" t="t" r="r" b="b"/>
            <a:pathLst>
              <a:path w="3829307" h="1297852">
                <a:moveTo>
                  <a:pt x="0" y="0"/>
                </a:moveTo>
                <a:lnTo>
                  <a:pt x="3829307" y="0"/>
                </a:lnTo>
                <a:lnTo>
                  <a:pt x="3829307" y="1297852"/>
                </a:lnTo>
                <a:lnTo>
                  <a:pt x="0" y="1297852"/>
                </a:lnTo>
                <a:lnTo>
                  <a:pt x="0" y="0"/>
                </a:lnTo>
                <a:close/>
              </a:path>
            </a:pathLst>
          </a:custGeom>
          <a:blipFill>
            <a:blip r:embed="rId2"/>
            <a:stretch>
              <a:fillRect/>
            </a:stretch>
          </a:blipFill>
        </p:spPr>
        <p:txBody>
          <a:bodyPr/>
          <a:lstStyle/>
          <a:p>
            <a:endParaRPr lang="en-US"/>
          </a:p>
        </p:txBody>
      </p:sp>
      <p:grpSp>
        <p:nvGrpSpPr>
          <p:cNvPr id="6" name="Group 6"/>
          <p:cNvGrpSpPr/>
          <p:nvPr/>
        </p:nvGrpSpPr>
        <p:grpSpPr>
          <a:xfrm>
            <a:off x="991140" y="3360556"/>
            <a:ext cx="9033264" cy="4906083"/>
            <a:chOff x="0" y="0"/>
            <a:chExt cx="2553710" cy="1386953"/>
          </a:xfrm>
        </p:grpSpPr>
        <p:sp>
          <p:nvSpPr>
            <p:cNvPr id="7" name="Freeform 7"/>
            <p:cNvSpPr/>
            <p:nvPr/>
          </p:nvSpPr>
          <p:spPr>
            <a:xfrm>
              <a:off x="0" y="0"/>
              <a:ext cx="2553710" cy="1386953"/>
            </a:xfrm>
            <a:custGeom>
              <a:avLst/>
              <a:gdLst/>
              <a:ahLst/>
              <a:cxnLst/>
              <a:rect l="l" t="t" r="r" b="b"/>
              <a:pathLst>
                <a:path w="2553710" h="1386953">
                  <a:moveTo>
                    <a:pt x="30510" y="0"/>
                  </a:moveTo>
                  <a:lnTo>
                    <a:pt x="2523200" y="0"/>
                  </a:lnTo>
                  <a:cubicBezTo>
                    <a:pt x="2540050" y="0"/>
                    <a:pt x="2553710" y="13660"/>
                    <a:pt x="2553710" y="30510"/>
                  </a:cubicBezTo>
                  <a:lnTo>
                    <a:pt x="2553710" y="1356443"/>
                  </a:lnTo>
                  <a:cubicBezTo>
                    <a:pt x="2553710" y="1373293"/>
                    <a:pt x="2540050" y="1386953"/>
                    <a:pt x="2523200" y="1386953"/>
                  </a:cubicBezTo>
                  <a:lnTo>
                    <a:pt x="30510" y="1386953"/>
                  </a:lnTo>
                  <a:cubicBezTo>
                    <a:pt x="22418" y="1386953"/>
                    <a:pt x="14658" y="1383739"/>
                    <a:pt x="8936" y="1378017"/>
                  </a:cubicBezTo>
                  <a:cubicBezTo>
                    <a:pt x="3214" y="1372295"/>
                    <a:pt x="0" y="1364535"/>
                    <a:pt x="0" y="1356443"/>
                  </a:cubicBezTo>
                  <a:lnTo>
                    <a:pt x="0" y="30510"/>
                  </a:lnTo>
                  <a:cubicBezTo>
                    <a:pt x="0" y="13660"/>
                    <a:pt x="13660" y="0"/>
                    <a:pt x="30510" y="0"/>
                  </a:cubicBezTo>
                  <a:close/>
                </a:path>
              </a:pathLst>
            </a:custGeom>
            <a:solidFill>
              <a:srgbClr val="FFFFFF"/>
            </a:solidFill>
          </p:spPr>
          <p:txBody>
            <a:bodyPr/>
            <a:lstStyle/>
            <a:p>
              <a:endParaRPr lang="en-US"/>
            </a:p>
          </p:txBody>
        </p:sp>
        <p:sp>
          <p:nvSpPr>
            <p:cNvPr id="8" name="TextBox 8"/>
            <p:cNvSpPr txBox="1"/>
            <p:nvPr/>
          </p:nvSpPr>
          <p:spPr>
            <a:xfrm>
              <a:off x="0" y="-28575"/>
              <a:ext cx="2553710" cy="1415528"/>
            </a:xfrm>
            <a:prstGeom prst="rect">
              <a:avLst/>
            </a:prstGeom>
          </p:spPr>
          <p:txBody>
            <a:bodyPr lIns="64399" tIns="64399" rIns="64399" bIns="64399" rtlCol="0" anchor="ctr"/>
            <a:lstStyle/>
            <a:p>
              <a:pPr algn="ctr">
                <a:lnSpc>
                  <a:spcPts val="1885"/>
                </a:lnSpc>
              </a:pPr>
              <a:endParaRPr/>
            </a:p>
          </p:txBody>
        </p:sp>
      </p:grpSp>
      <p:grpSp>
        <p:nvGrpSpPr>
          <p:cNvPr id="9" name="Group 9"/>
          <p:cNvGrpSpPr/>
          <p:nvPr/>
        </p:nvGrpSpPr>
        <p:grpSpPr>
          <a:xfrm>
            <a:off x="1431768" y="5216644"/>
            <a:ext cx="6807112" cy="568379"/>
            <a:chOff x="0" y="0"/>
            <a:chExt cx="9076150" cy="757838"/>
          </a:xfrm>
        </p:grpSpPr>
        <p:sp>
          <p:nvSpPr>
            <p:cNvPr id="10" name="Freeform 10"/>
            <p:cNvSpPr/>
            <p:nvPr/>
          </p:nvSpPr>
          <p:spPr>
            <a:xfrm>
              <a:off x="0" y="12700"/>
              <a:ext cx="687832" cy="687832"/>
            </a:xfrm>
            <a:custGeom>
              <a:avLst/>
              <a:gdLst/>
              <a:ahLst/>
              <a:cxnLst/>
              <a:rect l="l" t="t" r="r" b="b"/>
              <a:pathLst>
                <a:path w="687832" h="687832">
                  <a:moveTo>
                    <a:pt x="0" y="0"/>
                  </a:moveTo>
                  <a:lnTo>
                    <a:pt x="687832" y="0"/>
                  </a:lnTo>
                  <a:lnTo>
                    <a:pt x="687832" y="687832"/>
                  </a:lnTo>
                  <a:lnTo>
                    <a:pt x="0" y="6878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TextBox 11"/>
            <p:cNvSpPr txBox="1"/>
            <p:nvPr/>
          </p:nvSpPr>
          <p:spPr>
            <a:xfrm>
              <a:off x="892950" y="407797"/>
              <a:ext cx="8183200" cy="350041"/>
            </a:xfrm>
            <a:prstGeom prst="rect">
              <a:avLst/>
            </a:prstGeom>
          </p:spPr>
          <p:txBody>
            <a:bodyPr lIns="0" tIns="0" rIns="0" bIns="0" rtlCol="0" anchor="t">
              <a:spAutoFit/>
            </a:bodyPr>
            <a:lstStyle/>
            <a:p>
              <a:pPr algn="l">
                <a:lnSpc>
                  <a:spcPts val="2103"/>
                </a:lnSpc>
              </a:pPr>
              <a:r>
                <a:rPr lang="en-US" sz="1738" b="1" spc="-26">
                  <a:solidFill>
                    <a:srgbClr val="232B43"/>
                  </a:solidFill>
                  <a:latin typeface="Gotham Bold"/>
                  <a:ea typeface="Gotham Bold"/>
                  <a:cs typeface="Gotham Bold"/>
                  <a:sym typeface="Gotham Bold"/>
                </a:rPr>
                <a:t>Mobile:</a:t>
              </a:r>
              <a:r>
                <a:rPr lang="en-US" sz="1738" spc="-26">
                  <a:solidFill>
                    <a:srgbClr val="232B43"/>
                  </a:solidFill>
                  <a:latin typeface="Gotham"/>
                  <a:ea typeface="Gotham"/>
                  <a:cs typeface="Gotham"/>
                  <a:sym typeface="Gotham"/>
                </a:rPr>
                <a:t> +63 992 6241983 | </a:t>
              </a:r>
              <a:r>
                <a:rPr lang="en-US" sz="1738" b="1" spc="-26">
                  <a:solidFill>
                    <a:srgbClr val="232B43"/>
                  </a:solidFill>
                  <a:latin typeface="Gotham Bold"/>
                  <a:ea typeface="Gotham Bold"/>
                  <a:cs typeface="Gotham Bold"/>
                  <a:sym typeface="Gotham Bold"/>
                </a:rPr>
                <a:t>Landline:</a:t>
              </a:r>
              <a:r>
                <a:rPr lang="en-US" sz="1738" spc="-26">
                  <a:solidFill>
                    <a:srgbClr val="232B43"/>
                  </a:solidFill>
                  <a:latin typeface="Gotham"/>
                  <a:ea typeface="Gotham"/>
                  <a:cs typeface="Gotham"/>
                  <a:sym typeface="Gotham"/>
                </a:rPr>
                <a:t> (02) 8596-3726</a:t>
              </a:r>
            </a:p>
          </p:txBody>
        </p:sp>
        <p:sp>
          <p:nvSpPr>
            <p:cNvPr id="12" name="TextBox 12"/>
            <p:cNvSpPr txBox="1"/>
            <p:nvPr/>
          </p:nvSpPr>
          <p:spPr>
            <a:xfrm>
              <a:off x="892950" y="-9525"/>
              <a:ext cx="1047244" cy="350030"/>
            </a:xfrm>
            <a:prstGeom prst="rect">
              <a:avLst/>
            </a:prstGeom>
          </p:spPr>
          <p:txBody>
            <a:bodyPr lIns="0" tIns="0" rIns="0" bIns="0" rtlCol="0" anchor="t">
              <a:spAutoFit/>
            </a:bodyPr>
            <a:lstStyle/>
            <a:p>
              <a:pPr algn="l">
                <a:lnSpc>
                  <a:spcPts val="2103"/>
                </a:lnSpc>
              </a:pPr>
              <a:r>
                <a:rPr lang="en-US" sz="1738" b="1" spc="-26">
                  <a:solidFill>
                    <a:srgbClr val="232B43"/>
                  </a:solidFill>
                  <a:latin typeface="Gotham Bold"/>
                  <a:ea typeface="Gotham Bold"/>
                  <a:cs typeface="Gotham Bold"/>
                  <a:sym typeface="Gotham Bold"/>
                </a:rPr>
                <a:t>Phone</a:t>
              </a:r>
            </a:p>
          </p:txBody>
        </p:sp>
      </p:grpSp>
      <p:grpSp>
        <p:nvGrpSpPr>
          <p:cNvPr id="13" name="Group 13"/>
          <p:cNvGrpSpPr/>
          <p:nvPr/>
        </p:nvGrpSpPr>
        <p:grpSpPr>
          <a:xfrm>
            <a:off x="1431768" y="7351312"/>
            <a:ext cx="3293078" cy="516026"/>
            <a:chOff x="0" y="0"/>
            <a:chExt cx="4390770" cy="688035"/>
          </a:xfrm>
        </p:grpSpPr>
        <p:sp>
          <p:nvSpPr>
            <p:cNvPr id="14" name="Freeform 14"/>
            <p:cNvSpPr/>
            <p:nvPr/>
          </p:nvSpPr>
          <p:spPr>
            <a:xfrm>
              <a:off x="0" y="0"/>
              <a:ext cx="687832" cy="687832"/>
            </a:xfrm>
            <a:custGeom>
              <a:avLst/>
              <a:gdLst/>
              <a:ahLst/>
              <a:cxnLst/>
              <a:rect l="l" t="t" r="r" b="b"/>
              <a:pathLst>
                <a:path w="687832" h="687832">
                  <a:moveTo>
                    <a:pt x="0" y="0"/>
                  </a:moveTo>
                  <a:lnTo>
                    <a:pt x="687832" y="0"/>
                  </a:lnTo>
                  <a:lnTo>
                    <a:pt x="687832" y="687832"/>
                  </a:lnTo>
                  <a:lnTo>
                    <a:pt x="0" y="68783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5" name="TextBox 15"/>
            <p:cNvSpPr txBox="1"/>
            <p:nvPr/>
          </p:nvSpPr>
          <p:spPr>
            <a:xfrm>
              <a:off x="892950" y="338004"/>
              <a:ext cx="3497821" cy="350030"/>
            </a:xfrm>
            <a:prstGeom prst="rect">
              <a:avLst/>
            </a:prstGeom>
          </p:spPr>
          <p:txBody>
            <a:bodyPr lIns="0" tIns="0" rIns="0" bIns="0" rtlCol="0" anchor="t">
              <a:spAutoFit/>
            </a:bodyPr>
            <a:lstStyle/>
            <a:p>
              <a:pPr algn="l">
                <a:lnSpc>
                  <a:spcPts val="2103"/>
                </a:lnSpc>
              </a:pPr>
              <a:r>
                <a:rPr lang="en-US" sz="1738" spc="-26">
                  <a:solidFill>
                    <a:srgbClr val="232B43"/>
                  </a:solidFill>
                  <a:latin typeface="Gotham"/>
                  <a:ea typeface="Gotham"/>
                  <a:cs typeface="Gotham"/>
                  <a:sym typeface="Gotham"/>
                </a:rPr>
                <a:t>www.phri.com.ph</a:t>
              </a:r>
            </a:p>
          </p:txBody>
        </p:sp>
        <p:sp>
          <p:nvSpPr>
            <p:cNvPr id="16" name="TextBox 16"/>
            <p:cNvSpPr txBox="1"/>
            <p:nvPr/>
          </p:nvSpPr>
          <p:spPr>
            <a:xfrm>
              <a:off x="892950" y="4627"/>
              <a:ext cx="2094487" cy="350030"/>
            </a:xfrm>
            <a:prstGeom prst="rect">
              <a:avLst/>
            </a:prstGeom>
          </p:spPr>
          <p:txBody>
            <a:bodyPr lIns="0" tIns="0" rIns="0" bIns="0" rtlCol="0" anchor="t">
              <a:spAutoFit/>
            </a:bodyPr>
            <a:lstStyle/>
            <a:p>
              <a:pPr algn="l">
                <a:lnSpc>
                  <a:spcPts val="2103"/>
                </a:lnSpc>
              </a:pPr>
              <a:r>
                <a:rPr lang="en-US" sz="1738" b="1" spc="-26">
                  <a:solidFill>
                    <a:srgbClr val="232B43"/>
                  </a:solidFill>
                  <a:latin typeface="Gotham Bold"/>
                  <a:ea typeface="Gotham Bold"/>
                  <a:cs typeface="Gotham Bold"/>
                  <a:sym typeface="Gotham Bold"/>
                </a:rPr>
                <a:t>Website</a:t>
              </a:r>
            </a:p>
          </p:txBody>
        </p:sp>
      </p:grpSp>
      <p:grpSp>
        <p:nvGrpSpPr>
          <p:cNvPr id="17" name="Group 17"/>
          <p:cNvGrpSpPr/>
          <p:nvPr/>
        </p:nvGrpSpPr>
        <p:grpSpPr>
          <a:xfrm>
            <a:off x="1431768" y="6282631"/>
            <a:ext cx="3499199" cy="525755"/>
            <a:chOff x="0" y="0"/>
            <a:chExt cx="4665599" cy="701007"/>
          </a:xfrm>
        </p:grpSpPr>
        <p:sp>
          <p:nvSpPr>
            <p:cNvPr id="18" name="Freeform 18"/>
            <p:cNvSpPr/>
            <p:nvPr/>
          </p:nvSpPr>
          <p:spPr>
            <a:xfrm>
              <a:off x="0" y="0"/>
              <a:ext cx="687832" cy="687832"/>
            </a:xfrm>
            <a:custGeom>
              <a:avLst/>
              <a:gdLst/>
              <a:ahLst/>
              <a:cxnLst/>
              <a:rect l="l" t="t" r="r" b="b"/>
              <a:pathLst>
                <a:path w="687832" h="687832">
                  <a:moveTo>
                    <a:pt x="0" y="0"/>
                  </a:moveTo>
                  <a:lnTo>
                    <a:pt x="687832" y="0"/>
                  </a:lnTo>
                  <a:lnTo>
                    <a:pt x="687832" y="687832"/>
                  </a:lnTo>
                  <a:lnTo>
                    <a:pt x="0" y="6878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9" name="TextBox 19"/>
            <p:cNvSpPr txBox="1"/>
            <p:nvPr/>
          </p:nvSpPr>
          <p:spPr>
            <a:xfrm>
              <a:off x="892950" y="350977"/>
              <a:ext cx="3772649" cy="350030"/>
            </a:xfrm>
            <a:prstGeom prst="rect">
              <a:avLst/>
            </a:prstGeom>
          </p:spPr>
          <p:txBody>
            <a:bodyPr lIns="0" tIns="0" rIns="0" bIns="0" rtlCol="0" anchor="t">
              <a:spAutoFit/>
            </a:bodyPr>
            <a:lstStyle/>
            <a:p>
              <a:pPr algn="l">
                <a:lnSpc>
                  <a:spcPts val="2103"/>
                </a:lnSpc>
              </a:pPr>
              <a:r>
                <a:rPr lang="en-US" sz="1738" u="sng" spc="-26">
                  <a:solidFill>
                    <a:srgbClr val="232B43"/>
                  </a:solidFill>
                  <a:latin typeface="Gotham"/>
                  <a:ea typeface="Gotham"/>
                  <a:cs typeface="Gotham"/>
                  <a:sym typeface="Gotham"/>
                  <a:hlinkClick r:id="rId9" tooltip="mailto:secretariat@phri.com.ph"/>
                </a:rPr>
                <a:t>secretariat@phri.com.ph</a:t>
              </a:r>
            </a:p>
          </p:txBody>
        </p:sp>
        <p:sp>
          <p:nvSpPr>
            <p:cNvPr id="20" name="TextBox 20"/>
            <p:cNvSpPr txBox="1"/>
            <p:nvPr/>
          </p:nvSpPr>
          <p:spPr>
            <a:xfrm>
              <a:off x="892950" y="17599"/>
              <a:ext cx="2094487" cy="350030"/>
            </a:xfrm>
            <a:prstGeom prst="rect">
              <a:avLst/>
            </a:prstGeom>
          </p:spPr>
          <p:txBody>
            <a:bodyPr lIns="0" tIns="0" rIns="0" bIns="0" rtlCol="0" anchor="t">
              <a:spAutoFit/>
            </a:bodyPr>
            <a:lstStyle/>
            <a:p>
              <a:pPr algn="l">
                <a:lnSpc>
                  <a:spcPts val="2103"/>
                </a:lnSpc>
              </a:pPr>
              <a:r>
                <a:rPr lang="en-US" sz="1738" b="1" spc="-26">
                  <a:solidFill>
                    <a:srgbClr val="232B43"/>
                  </a:solidFill>
                  <a:latin typeface="Gotham Bold"/>
                  <a:ea typeface="Gotham Bold"/>
                  <a:cs typeface="Gotham Bold"/>
                  <a:sym typeface="Gotham Bold"/>
                </a:rPr>
                <a:t>Email</a:t>
              </a:r>
            </a:p>
          </p:txBody>
        </p:sp>
      </p:grpSp>
      <p:grpSp>
        <p:nvGrpSpPr>
          <p:cNvPr id="21" name="Group 21"/>
          <p:cNvGrpSpPr/>
          <p:nvPr/>
        </p:nvGrpSpPr>
        <p:grpSpPr>
          <a:xfrm>
            <a:off x="1431768" y="3815177"/>
            <a:ext cx="7525849" cy="1186178"/>
            <a:chOff x="0" y="0"/>
            <a:chExt cx="10034466" cy="1581571"/>
          </a:xfrm>
        </p:grpSpPr>
        <p:sp>
          <p:nvSpPr>
            <p:cNvPr id="22" name="Freeform 22"/>
            <p:cNvSpPr/>
            <p:nvPr/>
          </p:nvSpPr>
          <p:spPr>
            <a:xfrm>
              <a:off x="0" y="44467"/>
              <a:ext cx="690019" cy="690019"/>
            </a:xfrm>
            <a:custGeom>
              <a:avLst/>
              <a:gdLst/>
              <a:ahLst/>
              <a:cxnLst/>
              <a:rect l="l" t="t" r="r" b="b"/>
              <a:pathLst>
                <a:path w="690019" h="690019">
                  <a:moveTo>
                    <a:pt x="0" y="0"/>
                  </a:moveTo>
                  <a:lnTo>
                    <a:pt x="690019" y="0"/>
                  </a:lnTo>
                  <a:lnTo>
                    <a:pt x="690019" y="690019"/>
                  </a:lnTo>
                  <a:lnTo>
                    <a:pt x="0" y="69001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3" name="TextBox 23"/>
            <p:cNvSpPr txBox="1"/>
            <p:nvPr/>
          </p:nvSpPr>
          <p:spPr>
            <a:xfrm>
              <a:off x="892950" y="323853"/>
              <a:ext cx="9141516" cy="1257718"/>
            </a:xfrm>
            <a:prstGeom prst="rect">
              <a:avLst/>
            </a:prstGeom>
          </p:spPr>
          <p:txBody>
            <a:bodyPr lIns="0" tIns="0" rIns="0" bIns="0" rtlCol="0" anchor="t">
              <a:spAutoFit/>
            </a:bodyPr>
            <a:lstStyle/>
            <a:p>
              <a:pPr algn="l">
                <a:lnSpc>
                  <a:spcPts val="2103"/>
                </a:lnSpc>
              </a:pPr>
              <a:r>
                <a:rPr lang="en-US" sz="1738" spc="-26">
                  <a:solidFill>
                    <a:srgbClr val="232B43"/>
                  </a:solidFill>
                  <a:latin typeface="Gotham"/>
                  <a:ea typeface="Gotham"/>
                  <a:cs typeface="Gotham"/>
                  <a:sym typeface="Gotham"/>
                </a:rPr>
                <a:t>Level 24 Philippine Stock Exchange Tower, 5th Avenue Corner 28th Street, Bonifacio Global City - Taguig City 1634 Metro Manila</a:t>
              </a:r>
            </a:p>
          </p:txBody>
        </p:sp>
        <p:sp>
          <p:nvSpPr>
            <p:cNvPr id="24" name="TextBox 24"/>
            <p:cNvSpPr txBox="1"/>
            <p:nvPr/>
          </p:nvSpPr>
          <p:spPr>
            <a:xfrm>
              <a:off x="892950" y="-9525"/>
              <a:ext cx="1814282" cy="350030"/>
            </a:xfrm>
            <a:prstGeom prst="rect">
              <a:avLst/>
            </a:prstGeom>
          </p:spPr>
          <p:txBody>
            <a:bodyPr lIns="0" tIns="0" rIns="0" bIns="0" rtlCol="0" anchor="t">
              <a:spAutoFit/>
            </a:bodyPr>
            <a:lstStyle/>
            <a:p>
              <a:pPr algn="l">
                <a:lnSpc>
                  <a:spcPts val="2103"/>
                </a:lnSpc>
              </a:pPr>
              <a:r>
                <a:rPr lang="en-US" sz="1738" b="1" spc="-26">
                  <a:solidFill>
                    <a:srgbClr val="232B43"/>
                  </a:solidFill>
                  <a:latin typeface="Gotham Bold"/>
                  <a:ea typeface="Gotham Bold"/>
                  <a:cs typeface="Gotham Bold"/>
                  <a:sym typeface="Gotham Bold"/>
                </a:rPr>
                <a:t>Address</a:t>
              </a:r>
            </a:p>
          </p:txBody>
        </p:sp>
      </p:grpSp>
      <p:grpSp>
        <p:nvGrpSpPr>
          <p:cNvPr id="25" name="Group 25"/>
          <p:cNvGrpSpPr/>
          <p:nvPr/>
        </p:nvGrpSpPr>
        <p:grpSpPr>
          <a:xfrm>
            <a:off x="991140" y="1028700"/>
            <a:ext cx="5891785" cy="1606676"/>
            <a:chOff x="0" y="0"/>
            <a:chExt cx="7855714" cy="2142235"/>
          </a:xfrm>
        </p:grpSpPr>
        <p:sp>
          <p:nvSpPr>
            <p:cNvPr id="26" name="TextBox 26"/>
            <p:cNvSpPr txBox="1"/>
            <p:nvPr/>
          </p:nvSpPr>
          <p:spPr>
            <a:xfrm>
              <a:off x="15810" y="-95250"/>
              <a:ext cx="5432202" cy="1121585"/>
            </a:xfrm>
            <a:prstGeom prst="rect">
              <a:avLst/>
            </a:prstGeom>
          </p:spPr>
          <p:txBody>
            <a:bodyPr lIns="0" tIns="0" rIns="0" bIns="0" rtlCol="0" anchor="t">
              <a:spAutoFit/>
            </a:bodyPr>
            <a:lstStyle/>
            <a:p>
              <a:pPr algn="l">
                <a:lnSpc>
                  <a:spcPts val="7156"/>
                </a:lnSpc>
              </a:pPr>
              <a:r>
                <a:rPr lang="en-US" sz="5111">
                  <a:solidFill>
                    <a:srgbClr val="FFFFFF"/>
                  </a:solidFill>
                  <a:latin typeface="Gotham"/>
                  <a:ea typeface="Gotham"/>
                  <a:cs typeface="Gotham"/>
                  <a:sym typeface="Gotham"/>
                </a:rPr>
                <a:t>Contact</a:t>
              </a:r>
            </a:p>
          </p:txBody>
        </p:sp>
        <p:sp>
          <p:nvSpPr>
            <p:cNvPr id="27" name="TextBox 27"/>
            <p:cNvSpPr txBox="1"/>
            <p:nvPr/>
          </p:nvSpPr>
          <p:spPr>
            <a:xfrm>
              <a:off x="0" y="921989"/>
              <a:ext cx="7855714" cy="1220246"/>
            </a:xfrm>
            <a:prstGeom prst="rect">
              <a:avLst/>
            </a:prstGeom>
          </p:spPr>
          <p:txBody>
            <a:bodyPr lIns="0" tIns="0" rIns="0" bIns="0" rtlCol="0" anchor="t">
              <a:spAutoFit/>
            </a:bodyPr>
            <a:lstStyle/>
            <a:p>
              <a:pPr algn="l">
                <a:lnSpc>
                  <a:spcPts val="7711"/>
                </a:lnSpc>
              </a:pPr>
              <a:r>
                <a:rPr lang="en-US" sz="5508" b="1">
                  <a:solidFill>
                    <a:srgbClr val="FFFFFF"/>
                  </a:solidFill>
                  <a:latin typeface="Gotham Bold"/>
                  <a:ea typeface="Gotham Bold"/>
                  <a:cs typeface="Gotham Bold"/>
                  <a:sym typeface="Gotham Bold"/>
                </a:rPr>
                <a:t>Information</a:t>
              </a:r>
            </a:p>
          </p:txBody>
        </p:sp>
      </p:grpSp>
      <p:grpSp>
        <p:nvGrpSpPr>
          <p:cNvPr id="28" name="Group 28"/>
          <p:cNvGrpSpPr/>
          <p:nvPr/>
        </p:nvGrpSpPr>
        <p:grpSpPr>
          <a:xfrm>
            <a:off x="10412989" y="3360556"/>
            <a:ext cx="6846311" cy="4906083"/>
            <a:chOff x="0" y="0"/>
            <a:chExt cx="9128415" cy="6541444"/>
          </a:xfrm>
        </p:grpSpPr>
        <p:sp>
          <p:nvSpPr>
            <p:cNvPr id="29" name="TextBox 29"/>
            <p:cNvSpPr txBox="1"/>
            <p:nvPr/>
          </p:nvSpPr>
          <p:spPr>
            <a:xfrm>
              <a:off x="0" y="626842"/>
              <a:ext cx="9128415" cy="5914602"/>
            </a:xfrm>
            <a:prstGeom prst="rect">
              <a:avLst/>
            </a:prstGeom>
          </p:spPr>
          <p:txBody>
            <a:bodyPr lIns="0" tIns="0" rIns="0" bIns="0" rtlCol="0" anchor="t">
              <a:spAutoFit/>
            </a:bodyPr>
            <a:lstStyle/>
            <a:p>
              <a:pPr algn="just">
                <a:lnSpc>
                  <a:spcPts val="2380"/>
                </a:lnSpc>
              </a:pPr>
              <a:r>
                <a:rPr lang="en-US" sz="1700">
                  <a:solidFill>
                    <a:srgbClr val="FFFFFF"/>
                  </a:solidFill>
                  <a:latin typeface="Gotham"/>
                  <a:ea typeface="Gotham"/>
                  <a:cs typeface="Gotham"/>
                  <a:sym typeface="Gotham"/>
                </a:rPr>
                <a:t>The Philippine Human Resource Institute (PHRI) is the premier professional organization dedicated to advancing HR excellence in the Philippines. Composed by seasoned HR Professionals, PHRI provides world-class training programs, certifications, and networking opportunities that help individuals and organizations thrive in today's dynamic business environment.</a:t>
              </a:r>
            </a:p>
            <a:p>
              <a:pPr algn="just">
                <a:lnSpc>
                  <a:spcPts val="2380"/>
                </a:lnSpc>
              </a:pPr>
              <a:endParaRPr lang="en-US" sz="1700">
                <a:solidFill>
                  <a:srgbClr val="FFFFFF"/>
                </a:solidFill>
                <a:latin typeface="Gotham"/>
                <a:ea typeface="Gotham"/>
                <a:cs typeface="Gotham"/>
                <a:sym typeface="Gotham"/>
              </a:endParaRPr>
            </a:p>
            <a:p>
              <a:pPr algn="l">
                <a:lnSpc>
                  <a:spcPts val="2380"/>
                </a:lnSpc>
              </a:pPr>
              <a:r>
                <a:rPr lang="en-US" sz="1700" b="1" i="1" spc="25">
                  <a:solidFill>
                    <a:srgbClr val="FFFFFF"/>
                  </a:solidFill>
                  <a:latin typeface="Gotham Bold Italics"/>
                  <a:ea typeface="Gotham Bold Italics"/>
                  <a:cs typeface="Gotham Bold Italics"/>
                  <a:sym typeface="Gotham Bold Italics"/>
                </a:rPr>
                <a:t>PHRI: Empowering HR Professionals, Driving Workforce Innovation</a:t>
              </a:r>
            </a:p>
            <a:p>
              <a:pPr algn="just">
                <a:lnSpc>
                  <a:spcPts val="2380"/>
                </a:lnSpc>
              </a:pPr>
              <a:endParaRPr lang="en-US" sz="1700" b="1" i="1" spc="25">
                <a:solidFill>
                  <a:srgbClr val="FFFFFF"/>
                </a:solidFill>
                <a:latin typeface="Gotham Bold Italics"/>
                <a:ea typeface="Gotham Bold Italics"/>
                <a:cs typeface="Gotham Bold Italics"/>
                <a:sym typeface="Gotham Bold Italics"/>
              </a:endParaRPr>
            </a:p>
            <a:p>
              <a:pPr algn="just">
                <a:lnSpc>
                  <a:spcPts val="2380"/>
                </a:lnSpc>
                <a:spcBef>
                  <a:spcPct val="0"/>
                </a:spcBef>
              </a:pPr>
              <a:endParaRPr lang="en-US" sz="1700" b="1" i="1" spc="25">
                <a:solidFill>
                  <a:srgbClr val="FFFFFF"/>
                </a:solidFill>
                <a:latin typeface="Gotham Bold Italics"/>
                <a:ea typeface="Gotham Bold Italics"/>
                <a:cs typeface="Gotham Bold Italics"/>
                <a:sym typeface="Gotham Bold Italics"/>
              </a:endParaRPr>
            </a:p>
          </p:txBody>
        </p:sp>
        <p:sp>
          <p:nvSpPr>
            <p:cNvPr id="30" name="TextBox 30"/>
            <p:cNvSpPr txBox="1"/>
            <p:nvPr/>
          </p:nvSpPr>
          <p:spPr>
            <a:xfrm>
              <a:off x="0" y="9525"/>
              <a:ext cx="6077309" cy="465147"/>
            </a:xfrm>
            <a:prstGeom prst="rect">
              <a:avLst/>
            </a:prstGeom>
          </p:spPr>
          <p:txBody>
            <a:bodyPr lIns="0" tIns="0" rIns="0" bIns="0" rtlCol="0" anchor="t">
              <a:spAutoFit/>
            </a:bodyPr>
            <a:lstStyle/>
            <a:p>
              <a:pPr algn="l">
                <a:lnSpc>
                  <a:spcPts val="2234"/>
                </a:lnSpc>
              </a:pPr>
              <a:r>
                <a:rPr lang="en-US" sz="2031" b="1" spc="-22">
                  <a:solidFill>
                    <a:srgbClr val="FFFFFF"/>
                  </a:solidFill>
                  <a:latin typeface="Gotham Bold"/>
                  <a:ea typeface="Gotham Bold"/>
                  <a:cs typeface="Gotham Bold"/>
                  <a:sym typeface="Gotham Bold"/>
                </a:rPr>
                <a:t>About PHRI</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1985</Words>
  <Application>Microsoft Macintosh PowerPoint</Application>
  <PresentationFormat>Custom</PresentationFormat>
  <Paragraphs>335</Paragraphs>
  <Slides>27</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Gotham Bold</vt:lpstr>
      <vt:lpstr>Calibri</vt:lpstr>
      <vt:lpstr>Gotham Bold Italics</vt:lpstr>
      <vt:lpstr>Gotham</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Slides - FCHRM Learning and OD Presentation</dc:title>
  <cp:lastModifiedBy>PO180</cp:lastModifiedBy>
  <cp:revision>2</cp:revision>
  <dcterms:created xsi:type="dcterms:W3CDTF">2006-08-16T00:00:00Z</dcterms:created>
  <dcterms:modified xsi:type="dcterms:W3CDTF">2025-04-01T12:50:12Z</dcterms:modified>
  <dc:identifier>DAGjY2HYzUY</dc:identifier>
</cp:coreProperties>
</file>